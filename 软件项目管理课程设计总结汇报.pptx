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notesSlides/notesSlide1.xml" Type="http://schemas.openxmlformats.org/officeDocument/2006/relationships/notesSlide"/><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presProps.xml" Type="http://schemas.openxmlformats.org/officeDocument/2006/relationships/pres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slideMasters/slideMaster1.xml" Type="http://schemas.openxmlformats.org/officeDocument/2006/relationships/slideMaster"/><Relationship Id="rId40" Target="notesSlides/notesSlide15.xml" Type="http://schemas.openxmlformats.org/officeDocument/2006/relationships/notesSlide"/><Relationship Id="rId41" Target="notesSlides/notesSlide16.xml" Type="http://schemas.openxmlformats.org/officeDocument/2006/relationships/notesSlide"/><Relationship Id="rId42" Target="notesSlides/notesSlide17.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等线"/>
                <a:ea typeface="等线"/>
                <a:cs typeface="等线"/>
                <a:sym typeface="等线"/>
              </a:rPr>
              <a:t>尊敬的各位老师，下午好。我们是软件工程专业2023级15班的项目小组。今天，我们将向大家汇报《软件项目管理课程设计》的总结报告，主题是“校园互助服务站平台的设计与实现”。本次课程设计是一次宝贵的综合性实践，接下来我们将从五个方面展开详细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围绕五个核心部分展开。首先，我们将阐述课程设计的目的与意义。其次，介绍项目的核心内容与开发环境。第三部分是本次汇报的重点，将详细展示项目的完整实施过程。第四部分会介绍我们团队的分工与项目完成情况。最后，我们将分享在这次课程设计中的体会与收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首先，我们进入第一部分：课程设计的目的与意义。在这一部分，我们将阐述本次实践旨在实现的综合性目标，以及它对于我们能力培养的重要价值。</a:t>
            </a:r>
          </a:p>
          <a:p>
            <a:pPr algn="l" indent="0">
              <a:lnSpc>
                <a:spcPct val="100000"/>
              </a:lnSpc>
            </a:pPr>
            <a:r>
              <a:rPr lang="en-US" b="false" i="false" strike="noStrike" u="none" sz="1400">
                <a:solidFill>
                  <a:srgbClr val="000000"/>
                </a:solidFill>
              </a:rPr>
              <a:t>第一，知识整合与融会贯通。大学期间我们学习了多门课程，内容往往是分散的。课程设计是一个极佳的机会，将这些碎片化的知识串联起来，构建成一个完整的知识网络，打通不同学科之间的壁垒。</a:t>
            </a:r>
          </a:p>
          <a:p>
            <a:pPr algn="l" indent="0">
              <a:lnSpc>
                <a:spcPct val="100000"/>
              </a:lnSpc>
            </a:pPr>
            <a:r>
              <a:rPr lang="en-US" b="false" i="false" strike="noStrike" u="none" sz="1400">
                <a:solidFill>
                  <a:srgbClr val="000000"/>
                </a:solidFill>
              </a:rPr>
              <a:t>第二，实践能力与工程素养。我们不仅要“懂理论”，更要“会应用”。本环节通过具体的课题，锻炼大家的实操能力、文档撰写能力和标准化作业习惯，培养作为一名准工程师应有的专业素养。</a:t>
            </a:r>
          </a:p>
          <a:p>
            <a:pPr algn="l" indent="0">
              <a:lnSpc>
                <a:spcPct val="100000"/>
              </a:lnSpc>
            </a:pPr>
            <a:r>
              <a:rPr lang="en-US" b="false" i="false" strike="noStrike" u="none" sz="1400">
                <a:solidFill>
                  <a:srgbClr val="000000"/>
                </a:solidFill>
              </a:rPr>
              <a:t>第三，创新思维与综合应用。这是课程设计的更高阶目标。希望大家在遵循规范的基础上，敢于尝试新方法，突破思维定势。同时，在解决问题的过程中，学会独立思考，并在团队协作中提升沟通与互助能力。</a:t>
            </a:r>
          </a:p>
          <a:p>
            <a:pPr algn="l" indent="0">
              <a:lnSpc>
                <a:spcPct val="100000"/>
              </a:lnSpc>
            </a:pPr>
            <a:r>
              <a:rPr lang="en-US" b="false" i="false" strike="noStrike" u="none" sz="1400">
                <a:solidFill>
                  <a:srgbClr val="000000"/>
                </a:solidFill>
              </a:rPr>
              <a:t>总的来说，这次课程设计既是对过去所学的总结，也是未来职业发展的重要基石。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课程设计的核心目的在于提供一次综合性实践机会。它不仅要求我们将多门课程的知识融会贯通，更着重于培养我们的项目管理能力、技术实现能力和团队协作精神。通过这次实践，我们将理论知识转化为实际技能，培养了严谨的工程态度和规范的文档意识，这对我们未来的职业发展具有重要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接下来进入第二部分，我们将详细介绍本次课程设计的核心内容以及我们所采用的技术与工具环境。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项目核心是开发一个校园互助服务站平台，旨在解决校园内信息对接效率低下的痛点。平台包含用户管理、互助求助、失物招领等六大核心功能模块。在技术实现上，我们采用了成熟的前端技术栈，结合本地存储方案，实现了一个轻量化、无需服务器的应用。开发过程中，我们使用了VS Code、ProcessOn等一系列高效的工具。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现在，我们进入汇报的核心部分——项目实施过程。在这一部分，我将详细介绍我们如何将一个想法一步步变为现实，涵盖从计划到实现的全过程。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制定了详细的项目计划和时间轴，将整个项目划分为7个阶段。从第一周的项目启动，到第二周的计划制定，再到中间三周的设计与开发，第六周的测试优化，最后在第七周完成所有文档和答辩准备。整个过程环环相扣，确保了项目的有序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需求分析阶段，我们不仅明确了六大功能模块的具体需求，还设计了简洁高效的核心业务流程。同时，我们对系统的非功能特性也提出了明确要求，包括界面美观、响应快速、操作简单、系统稳定等，确保最终产品能够提供良好的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系统设计阶段，我们进行了全面的规划。在功能结构上，我们将系统模块化，保证了其独立性和可维护性。在业务流程上，我们设计了清晰的闭环逻辑。在数据结构上，我们采用了适合本地存储的对象数组方案。在界面布局上，我们采用了经典且友好的设计，并确保了移动端的良好适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一个成功的项目离不开团队成员的紧密协作。接下来第四部分，我将介绍我们团队的分工情况以及项目的整体完成情况。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团队五人进行了明确的角色分工。组长张佳星负责整体统筹和项目管理。副组长张春笋负责需求分析和原型设计。刘昕雨和梁家旺分别负责前端和后端开发。张玉良则负责测试和文档工作。从表格中可以看到，所有成员都100%完成了各自的任务，个人贡献均衡，共同保证了项目的成功交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来看，我们的项目整体完成情况非常理想。所有计划中的功能都已成功实现，系统运行稳定。全套项目文档也已按规范完成并交付。在整个过程中，我们严格控制进度，没有出现延期或重大风险。团队协作顺畅高效，确保了项目目标的圆满达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最后，我们进入第五部分，分享我们在这次课程设计中的体会与收获。</a:t>
            </a:r>
          </a:p>
          <a:p>
            <a:pPr algn="l" indent="0">
              <a:lnSpc>
                <a:spcPct val="100000"/>
              </a:lnSpc>
            </a:pPr>
            <a:r>
              <a:rPr lang="en-US" b="false" i="false" strike="noStrike" u="none" sz="1400">
                <a:solidFill>
                  <a:srgbClr val="000000"/>
                </a:solidFill>
              </a:rPr>
              <a:t>这次课程设计对我们来说是一次全方位的锻炼。首先是专业层面，我们把书本上的理论真正应用到了实践中，不仅巩固了旧知识，还学会了很多解决实际问题的新方法。其次，在团队协作上，我们深刻体会到了沟通与分工的重要性，也学会了如何去包容和配合队友。最后，在心态上，面对困难时，我们学会了冷静分析、主动探索，不再畏惧未知的挑战。</a:t>
            </a:r>
          </a:p>
          <a:p>
            <a:pPr algn="l" indent="0">
              <a:lnSpc>
                <a:spcPct val="100000"/>
              </a:lnSpc>
            </a:pPr>
            <a:r>
              <a:rPr lang="en-US" b="false" i="false" strike="noStrike" u="none" sz="1400">
                <a:solidFill>
                  <a:srgbClr val="000000"/>
                </a:solidFill>
              </a:rPr>
              <a:t>这些收获，无论是知识上的还是能力上的，都将成为我们宝贵的财富，伴随我们未来的学习和工作。谢谢大家。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这次课程设计，我们团队最大的收获是协作与成长。我们建立了高效的沟通机制，通过明确分工和互相帮助，克服了一个又一个困难。我们深刻体会到，团队的力量远大于个人。这次经历不仅提升了我们的技术能力，更重要的是培养了我们的团队意识和职业素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个人层面，每位成员都在不同方面获得了成长。作为组长，我提升了项目管理和统筹能力。负责需求的同学增强了产品思维。开发同学巩固了技术基础。负责测试的同学则深刻理解了质量保障的重要性。这次实践让我们每个人都实现了理论与实践的结合，综合能力得到了全面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我的汇报到此结束。再次感谢各位老师在课程设计期间给予我们的悉心指导和宝贵建议。我们深知项目中还有许多可以改进的地方，也恳请各位老师批评指正。谢谢大家！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7.xml" Type="http://schemas.openxmlformats.org/officeDocument/2006/relationships/notesSlide"/><Relationship Id="rId3"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10049" b="10049"/>
          <a:stretch>
            <a:fillRect/>
          </a:stretch>
        </p:blipFill>
        <p:spPr>
          <a:xfrm rot="0" flipH="false" flipV="false">
            <a:off x="25400" y="0"/>
            <a:ext cx="12192000" cy="6858000"/>
          </a:xfrm>
          <a:prstGeom prst="rect">
            <a:avLst/>
          </a:prstGeom>
          <a:noFill/>
          <a:ln w="25400" cmpd="sng" cap="flat">
            <a:noFill/>
            <a:prstDash val="solid"/>
            <a:round/>
          </a:ln>
        </p:spPr>
      </p:pic>
      <p:sp>
        <p:nvSpPr>
          <p:cNvPr name="AutoShape 5" id="5"/>
          <p:cNvSpPr/>
          <p:nvPr/>
        </p:nvSpPr>
        <p:spPr>
          <a:xfrm rot="0" flipH="false" flipV="false">
            <a:off x="1803400" y="355600"/>
            <a:ext cx="8394700" cy="609600"/>
          </a:xfrm>
          <a:prstGeom prst="roundRect">
            <a:avLst>
              <a:gd name="adj" fmla="val 0"/>
            </a:avLst>
          </a:prstGeom>
          <a:noFill/>
          <a:ln w="25400" cmpd="sng" cap="flat">
            <a:noFill/>
            <a:prstDash val="solid"/>
            <a:round/>
          </a:ln>
        </p:spPr>
        <p:txBody>
          <a:bodyPr anchor="t" rtlCol="false" anchorCtr="false" vert="horz" wrap="square" lIns="88900" rIns="88900" tIns="50800" bIns="50800"/>
          <a:lstStyle/>
          <a:p>
            <a:pPr algn="l" indent="0">
              <a:lnSpc>
                <a:spcPct val="116666"/>
              </a:lnSpc>
              <a:defRPr/>
            </a:pPr>
            <a:r>
              <a:rPr lang="en-US" b="true" i="false" strike="noStrike" u="none" sz="2800">
                <a:solidFill>
                  <a:srgbClr val="C5E672"/>
                </a:solidFill>
                <a:latin typeface="微软雅黑"/>
                <a:ea typeface="微软雅黑"/>
                <a:cs typeface="微软雅黑"/>
                <a:sym typeface="微软雅黑"/>
              </a:rPr>
              <a:t>《软件项目管理课程设计》总结报告</a:t>
            </a:r>
            <a:endParaRPr lang="en-US" sz="1100"/>
          </a:p>
        </p:txBody>
      </p:sp>
      <p:pic>
        <p:nvPicPr>
          <p:cNvPr name="Picture 6" id="6"/>
          <p:cNvPicPr>
            <a:picLocks noChangeAspect="true"/>
          </p:cNvPicPr>
          <p:nvPr/>
        </p:nvPicPr>
        <p:blipFill>
          <a:blip r:embed="rId3"/>
          <a:srcRect l="0" r="0" t="290" b="290"/>
          <a:stretch>
            <a:fillRect/>
          </a:stretch>
        </p:blipFill>
        <p:spPr>
          <a:xfrm rot="0" flipH="false" flipV="false">
            <a:off x="800100" y="215900"/>
            <a:ext cx="1016000" cy="965200"/>
          </a:xfrm>
          <a:prstGeom prst="rect">
            <a:avLst/>
          </a:prstGeom>
          <a:noFill/>
          <a:ln w="25400" cmpd="sng" cap="flat">
            <a:noFill/>
            <a:prstDash val="solid"/>
            <a:round/>
          </a:ln>
        </p:spPr>
      </p:pic>
      <p:sp>
        <p:nvSpPr>
          <p:cNvPr name="AutoShape 7" id="7"/>
          <p:cNvSpPr/>
          <p:nvPr/>
        </p:nvSpPr>
        <p:spPr>
          <a:xfrm rot="0" flipH="false" flipV="false">
            <a:off x="3035300" y="6019800"/>
            <a:ext cx="5943600" cy="520700"/>
          </a:xfrm>
          <a:prstGeom prst="roundRect">
            <a:avLst>
              <a:gd name="adj" fmla="val 0"/>
            </a:avLst>
          </a:prstGeom>
          <a:noFill/>
          <a:ln w="25400" cmpd="sng" cap="flat">
            <a:noFill/>
            <a:prstDash val="solid"/>
            <a:round/>
          </a:ln>
        </p:spPr>
        <p:txBody>
          <a:bodyPr anchor="t" rtlCol="false" anchorCtr="false" vert="horz" wrap="square" lIns="88900" rIns="88900" tIns="50800" bIns="50800"/>
          <a:lstStyle/>
          <a:p>
            <a:pPr algn="ctr" indent="0">
              <a:lnSpc>
                <a:spcPct val="100000"/>
              </a:lnSpc>
              <a:defRPr/>
            </a:pPr>
            <a:r>
              <a:rPr lang="en-US" b="true" i="false" strike="noStrike" u="none" sz="2800">
                <a:solidFill>
                  <a:srgbClr val="FFFFFF"/>
                </a:solidFill>
                <a:latin typeface="微软雅黑"/>
                <a:ea typeface="微软雅黑"/>
                <a:cs typeface="微软雅黑"/>
                <a:sym typeface="微软雅黑"/>
              </a:rPr>
              <a:t>二〇二六年四月二十六日</a:t>
            </a:r>
            <a:endParaRPr lang="en-US" sz="1100"/>
          </a:p>
        </p:txBody>
      </p:sp>
      <p:sp>
        <p:nvSpPr>
          <p:cNvPr name="AutoShape 8" id="8"/>
          <p:cNvSpPr/>
          <p:nvPr/>
        </p:nvSpPr>
        <p:spPr>
          <a:xfrm rot="0" flipH="false" flipV="false">
            <a:off x="1892300" y="1092200"/>
            <a:ext cx="8445500" cy="1016000"/>
          </a:xfrm>
          <a:prstGeom prst="roundRect">
            <a:avLst>
              <a:gd name="adj" fmla="val 0"/>
            </a:avLst>
          </a:prstGeom>
          <a:noFill/>
          <a:ln w="25400" cmpd="sng" cap="flat">
            <a:noFill/>
            <a:prstDash val="solid"/>
            <a:round/>
          </a:ln>
        </p:spPr>
        <p:txBody>
          <a:bodyPr anchor="t" rtlCol="false" anchorCtr="false" vert="horz" wrap="square" lIns="88900" rIns="88900" tIns="50800" bIns="50800"/>
          <a:lstStyle/>
          <a:p>
            <a:pPr algn="ctr" indent="0">
              <a:lnSpc>
                <a:spcPct val="150000"/>
              </a:lnSpc>
              <a:defRPr/>
            </a:pPr>
            <a:r>
              <a:rPr lang="en-US" b="true" i="false" strike="noStrike" u="none" sz="4000">
                <a:solidFill>
                  <a:srgbClr val="FFFFFF"/>
                </a:solidFill>
                <a:latin typeface="微软雅黑"/>
                <a:ea typeface="微软雅黑"/>
                <a:cs typeface="微软雅黑"/>
                <a:sym typeface="微软雅黑"/>
              </a:rPr>
              <a:t>校园互助服务站平台设计与实现</a:t>
            </a:r>
            <a:endParaRPr lang="en-US" sz="1100"/>
          </a:p>
        </p:txBody>
      </p:sp>
      <p:sp>
        <p:nvSpPr>
          <p:cNvPr name="AutoShape 9" id="9"/>
          <p:cNvSpPr/>
          <p:nvPr/>
        </p:nvSpPr>
        <p:spPr>
          <a:xfrm rot="0" flipH="false" flipV="false">
            <a:off x="2057400" y="1905000"/>
            <a:ext cx="8445500" cy="990600"/>
          </a:xfrm>
          <a:prstGeom prst="roundRect">
            <a:avLst>
              <a:gd name="adj" fmla="val 0"/>
            </a:avLst>
          </a:prstGeom>
          <a:noFill/>
          <a:ln w="25400" cmpd="sng" cap="flat">
            <a:noFill/>
            <a:prstDash val="solid"/>
            <a:round/>
          </a:ln>
        </p:spPr>
        <p:txBody>
          <a:bodyPr anchor="ctr" rtlCol="false" vert="horz" wrap="square" lIns="63500" rIns="63500" tIns="63500" bIns="63500"/>
          <a:lstStyle/>
          <a:p>
            <a:pPr algn="ctr">
              <a:defRPr/>
            </a:pPr>
            <a:endParaRPr/>
          </a:p>
        </p:txBody>
      </p:sp>
      <p:graphicFrame>
        <p:nvGraphicFramePr>
          <p:cNvPr name="Table 10" id="10"/>
          <p:cNvGraphicFramePr>
            <a:graphicFrameLocks noGrp="true"/>
          </p:cNvGraphicFramePr>
          <p:nvPr/>
        </p:nvGraphicFramePr>
        <p:xfrm>
          <a:off x="2057400" y="2311400"/>
          <a:ext cx="8280400" cy="3644900"/>
        </p:xfrm>
        <a:graphic>
          <a:graphicData uri="http://schemas.openxmlformats.org/drawingml/2006/table">
            <a:tbl>
              <a:tblPr>
                <a:effectLst/>
              </a:tblPr>
              <a:tblGrid>
                <a:gridCol w="2222500"/>
                <a:gridCol w="2463800"/>
                <a:gridCol w="1206500"/>
                <a:gridCol w="2387600"/>
              </a:tblGrid>
              <a:tr h="444500">
                <a:tc rowSpan="6">
                  <a:txBody>
                    <a:bodyPr anchor="t" rtlCol="false"/>
                    <a:lstStyle/>
                    <a:p>
                      <a:pPr algn="ctr" indent="0">
                        <a:lnSpc>
                          <a:spcPct val="100000"/>
                        </a:lnSpc>
                        <a:defRPr/>
                      </a:pPr>
                      <a:r>
                        <a:rPr lang="en-US" b="true" i="false" strike="noStrike" u="none" sz="2400">
                          <a:solidFill>
                            <a:srgbClr val="FFFFFF"/>
                          </a:solidFill>
                          <a:latin typeface="微软雅黑"/>
                          <a:ea typeface="微软雅黑"/>
                          <a:cs typeface="微软雅黑"/>
                          <a:sym typeface="微软雅黑"/>
                        </a:rPr>
                        <a:t>项目组成员：</a:t>
                      </a:r>
                      <a:endParaRPr lang="en-US" sz="1100"/>
                    </a:p>
                  </a:txBody>
                  <a:tcPr anchor="ctr"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2200">
                          <a:solidFill>
                            <a:srgbClr val="FFFFFF"/>
                          </a:solidFill>
                          <a:latin typeface="微软雅黑"/>
                          <a:ea typeface="微软雅黑"/>
                          <a:cs typeface="微软雅黑"/>
                          <a:sym typeface="微软雅黑"/>
                        </a:rPr>
                        <a:t>学号</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2200">
                          <a:solidFill>
                            <a:srgbClr val="FFFFFF"/>
                          </a:solidFill>
                          <a:latin typeface="微软雅黑"/>
                          <a:ea typeface="微软雅黑"/>
                          <a:cs typeface="微软雅黑"/>
                          <a:sym typeface="微软雅黑"/>
                        </a:rPr>
                        <a:t>姓名</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2200">
                          <a:solidFill>
                            <a:srgbClr val="FFFFFF"/>
                          </a:solidFill>
                          <a:latin typeface="微软雅黑"/>
                          <a:ea typeface="微软雅黑"/>
                          <a:cs typeface="微软雅黑"/>
                          <a:sym typeface="微软雅黑"/>
                        </a:rPr>
                        <a:t>专业班级</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2000">
                          <a:solidFill>
                            <a:srgbClr val="FFFFFF"/>
                          </a:solidFill>
                          <a:latin typeface="微软雅黑"/>
                          <a:ea typeface="微软雅黑"/>
                          <a:cs typeface="微软雅黑"/>
                          <a:sym typeface="微软雅黑"/>
                        </a:rPr>
                        <a:t>张佳星</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2000">
                          <a:solidFill>
                            <a:srgbClr val="FFFFFF"/>
                          </a:solidFill>
                          <a:latin typeface="微软雅黑"/>
                          <a:ea typeface="微软雅黑"/>
                          <a:cs typeface="微软雅黑"/>
                          <a:sym typeface="微软雅黑"/>
                        </a:rPr>
                        <a:t>刘昕雨</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2000">
                          <a:solidFill>
                            <a:srgbClr val="FFFFFF"/>
                          </a:solidFill>
                          <a:latin typeface="微软雅黑"/>
                          <a:ea typeface="微软雅黑"/>
                          <a:cs typeface="微软雅黑"/>
                          <a:sym typeface="微软雅黑"/>
                        </a:rPr>
                        <a:t>梁家旺</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2000">
                          <a:solidFill>
                            <a:srgbClr val="FFFFFF"/>
                          </a:solidFill>
                          <a:latin typeface="微软雅黑"/>
                          <a:ea typeface="微软雅黑"/>
                          <a:cs typeface="微软雅黑"/>
                          <a:sym typeface="微软雅黑"/>
                        </a:rPr>
                        <a:t>张玉良</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482600">
                <a:tc v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2000">
                          <a:solidFill>
                            <a:srgbClr val="FFFFFF"/>
                          </a:solidFill>
                          <a:latin typeface="微软雅黑"/>
                          <a:ea typeface="微软雅黑"/>
                          <a:cs typeface="微软雅黑"/>
                          <a:sym typeface="微软雅黑"/>
                        </a:rPr>
                        <a:t>张春笋</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FFFFFF"/>
                          </a:solidFill>
                          <a:latin typeface="微软雅黑"/>
                          <a:ea typeface="微软雅黑"/>
                          <a:cs typeface="微软雅黑"/>
                          <a:sym typeface="微软雅黑"/>
                        </a:rPr>
                        <a:t>软件工程2023级15班</a:t>
                      </a:r>
                      <a:endParaRPr lang="en-US" sz="1100"/>
                    </a:p>
                  </a:txBody>
                  <a:tcPr anchor="t" anchorCtr="false" marL="88900" marR="88900" marT="50800" marB="508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r h="787400">
                <a:tc>
                  <a:txBody>
                    <a:bodyPr anchor="t" rtlCol="false"/>
                    <a:lstStyle/>
                    <a:p>
                      <a:pPr algn="ctr" indent="0">
                        <a:lnSpc>
                          <a:spcPct val="100000"/>
                        </a:lnSpc>
                        <a:defRPr/>
                      </a:pPr>
                      <a:r>
                        <a:rPr lang="en-US" b="true" i="false" strike="noStrike" u="none" sz="2400" spc="200">
                          <a:solidFill>
                            <a:srgbClr val="FFFFFF"/>
                          </a:solidFill>
                          <a:latin typeface="微软雅黑"/>
                          <a:ea typeface="微软雅黑"/>
                          <a:cs typeface="微软雅黑"/>
                          <a:sym typeface="微软雅黑"/>
                        </a:rPr>
                        <a:t>指导教师：</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gridSpan="3">
                  <a:txBody>
                    <a:bodyPr anchor="t" rtlCol="false"/>
                    <a:lstStyle/>
                    <a:p>
                      <a:pPr algn="ctr" indent="0">
                        <a:lnSpc>
                          <a:spcPct val="100000"/>
                        </a:lnSpc>
                        <a:defRPr/>
                      </a:pPr>
                      <a:r>
                        <a:rPr lang="en-US" b="true" i="false" strike="noStrike" u="none" sz="2400">
                          <a:solidFill>
                            <a:srgbClr val="FFFFFF"/>
                          </a:solidFill>
                          <a:latin typeface="微软雅黑"/>
                          <a:ea typeface="微软雅黑"/>
                          <a:cs typeface="微软雅黑"/>
                          <a:sym typeface="微软雅黑"/>
                        </a:rPr>
                        <a:t>司彦飞</a:t>
                      </a:r>
                      <a:endParaRPr lang="en-US" sz="1100"/>
                    </a:p>
                  </a:txBody>
                  <a:tcPr anchor="t" anchorCtr="false" marL="88900" marR="88900" marT="50800" marB="508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hMerge="true">
                  <a:txBody>
                    <a:bodyPr anchor="t" rtlCol="false"/>
                    <a:lstStyle/>
                    <a:p>
                      <a:pPr algn="ctr">
                        <a:defRPr/>
                      </a:pPr>
                      <a:endParaRPr/>
                    </a:p>
                  </a:txBody>
                  <a:tcPr anchor="ctr" marL="101600" marR="101600" marT="101600" marB="101600">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c hMerge="true">
                  <a:txBody>
                    <a:bodyPr anchor="t" rtlCol="false"/>
                    <a:lstStyle/>
                    <a:p>
                      <a:pPr algn="ctr">
                        <a:defRPr/>
                      </a:pPr>
                      <a:endParaRPr/>
                    </a:p>
                  </a:txBody>
                  <a:tcPr anchor="ctr" marL="101600" marR="101600" marT="101600" marB="101600">
                    <a:lnL>
                      <a:noFill/>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228600"/>
            <a:ext cx="10160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汇报目录</a:t>
            </a:r>
            <a:endParaRPr lang="en-US" sz="1100"/>
          </a:p>
        </p:txBody>
      </p:sp>
      <p:sp>
        <p:nvSpPr>
          <p:cNvPr name="AutoShape 4" id="4"/>
          <p:cNvSpPr/>
          <p:nvPr/>
        </p:nvSpPr>
        <p:spPr>
          <a:xfrm rot="0" flipH="false" flipV="false">
            <a:off x="635000" y="1397000"/>
            <a:ext cx="5207000" cy="1524000"/>
          </a:xfrm>
          <a:prstGeom prst="roundRect">
            <a:avLst>
              <a:gd name="adj" fmla="val 6666"/>
            </a:avLst>
          </a:prstGeom>
          <a:solidFill>
            <a:srgbClr val="F5F7FA">
              <a:alpha val="100000"/>
            </a:srgbClr>
          </a:solidFill>
          <a:ln w="12700" cmpd="sng" cap="flat">
            <a:solidFill>
              <a:srgbClr val="DEE0E3">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587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3366"/>
                </a:solidFill>
                <a:latin typeface="微软雅黑"/>
                <a:ea typeface="微软雅黑"/>
                <a:cs typeface="微软雅黑"/>
                <a:sym typeface="微软雅黑"/>
              </a:rPr>
              <a:t>01 / 课程设计目的与意义</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阐述本次实践的目标、价值与能力培养方向，明确课程设计在专业学习中的定位与作用。</a:t>
            </a:r>
          </a:p>
        </p:txBody>
      </p:sp>
      <p:sp>
        <p:nvSpPr>
          <p:cNvPr name="AutoShape 6" id="6"/>
          <p:cNvSpPr/>
          <p:nvPr/>
        </p:nvSpPr>
        <p:spPr>
          <a:xfrm rot="0" flipH="false" flipV="false">
            <a:off x="6350000" y="1397000"/>
            <a:ext cx="5207000" cy="1524000"/>
          </a:xfrm>
          <a:prstGeom prst="roundRect">
            <a:avLst>
              <a:gd name="adj" fmla="val 6666"/>
            </a:avLst>
          </a:prstGeom>
          <a:solidFill>
            <a:srgbClr val="F5F7FA">
              <a:alpha val="100000"/>
            </a:srgbClr>
          </a:solidFill>
          <a:ln w="12700" cmpd="sng" cap="flat">
            <a:solidFill>
              <a:srgbClr val="DEE0E3">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604000" y="1587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3366"/>
                </a:solidFill>
                <a:latin typeface="微软雅黑"/>
                <a:ea typeface="微软雅黑"/>
                <a:cs typeface="微软雅黑"/>
                <a:sym typeface="微软雅黑"/>
              </a:rPr>
              <a:t>02 / 课程设计内容与环境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介绍项目的核心业务内容、主要功能模块划分，以及项目开发中所使用的软硬件环境与关键技术栈。</a:t>
            </a:r>
          </a:p>
        </p:txBody>
      </p:sp>
      <p:sp>
        <p:nvSpPr>
          <p:cNvPr name="AutoShape 8" id="8"/>
          <p:cNvSpPr/>
          <p:nvPr/>
        </p:nvSpPr>
        <p:spPr>
          <a:xfrm rot="0" flipH="false" flipV="false">
            <a:off x="635000" y="3175000"/>
            <a:ext cx="5207000" cy="1524000"/>
          </a:xfrm>
          <a:prstGeom prst="roundRect">
            <a:avLst>
              <a:gd name="adj" fmla="val 6666"/>
            </a:avLst>
          </a:prstGeom>
          <a:solidFill>
            <a:srgbClr val="F5F7FA">
              <a:alpha val="100000"/>
            </a:srgbClr>
          </a:solidFill>
          <a:ln w="12700" cmpd="sng" cap="flat">
            <a:solidFill>
              <a:srgbClr val="DEE0E3">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3365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3366"/>
                </a:solidFill>
                <a:latin typeface="微软雅黑"/>
                <a:ea typeface="微软雅黑"/>
                <a:cs typeface="微软雅黑"/>
                <a:sym typeface="微软雅黑"/>
              </a:rPr>
              <a:t>03 / 项目实施过程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详细展示从项目计划制定、用户需求分析，到系统概要设计、详细设计及最终功能实现的完整开发流程。</a:t>
            </a:r>
          </a:p>
        </p:txBody>
      </p:sp>
      <p:sp>
        <p:nvSpPr>
          <p:cNvPr name="AutoShape 10" id="10"/>
          <p:cNvSpPr/>
          <p:nvPr/>
        </p:nvSpPr>
        <p:spPr>
          <a:xfrm rot="0" flipH="false" flipV="false">
            <a:off x="6350000" y="3175000"/>
            <a:ext cx="5207000" cy="1524000"/>
          </a:xfrm>
          <a:prstGeom prst="roundRect">
            <a:avLst>
              <a:gd name="adj" fmla="val 6666"/>
            </a:avLst>
          </a:prstGeom>
          <a:solidFill>
            <a:srgbClr val="F5F7FA">
              <a:alpha val="100000"/>
            </a:srgbClr>
          </a:solidFill>
          <a:ln w="12700" cmpd="sng" cap="flat">
            <a:solidFill>
              <a:srgbClr val="DEE0E3">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04000" y="3365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03366"/>
                </a:solidFill>
                <a:latin typeface="微软雅黑"/>
                <a:ea typeface="微软雅黑"/>
                <a:cs typeface="微软雅黑"/>
                <a:sym typeface="微软雅黑"/>
              </a:rPr>
              <a:t>04 / 项目分工与完成情况</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明确每位团队成员的具体分工与核心职责，并汇报项目整体的完成进度与最终交付成果。</a:t>
            </a:r>
          </a:p>
        </p:txBody>
      </p:sp>
      <p:sp>
        <p:nvSpPr>
          <p:cNvPr name="AutoShape 12" id="12"/>
          <p:cNvSpPr/>
          <p:nvPr/>
        </p:nvSpPr>
        <p:spPr>
          <a:xfrm rot="0" flipH="false" flipV="false">
            <a:off x="635000" y="4953000"/>
            <a:ext cx="10922000" cy="1397000"/>
          </a:xfrm>
          <a:prstGeom prst="roundRect">
            <a:avLst>
              <a:gd name="adj" fmla="val 7272"/>
            </a:avLst>
          </a:prstGeom>
          <a:solidFill>
            <a:srgbClr val="EBF2F7">
              <a:alpha val="100000"/>
            </a:srgbClr>
          </a:solidFill>
          <a:ln w="12700" cmpd="sng" cap="flat">
            <a:solidFill>
              <a:srgbClr val="006699">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016000" y="51435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003366"/>
                </a:solidFill>
                <a:latin typeface="微软雅黑"/>
                <a:ea typeface="微软雅黑"/>
                <a:cs typeface="微软雅黑"/>
                <a:sym typeface="微软雅黑"/>
              </a:rPr>
              <a:t>05 / 课程设计体会与收获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总结团队在项目协作与项目管理过程中的经验教训，分享个人在技术能力、沟通能力及解决问题能力等方面的成长与感悟。</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52400"/>
            <a:ext cx="109728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一、课程设计目的与意义</a:t>
            </a:r>
            <a:endParaRPr lang="en-US" sz="1100"/>
          </a:p>
        </p:txBody>
      </p:sp>
      <p:sp>
        <p:nvSpPr>
          <p:cNvPr name="AutoShape 4" id="4"/>
          <p:cNvSpPr/>
          <p:nvPr/>
        </p:nvSpPr>
        <p:spPr>
          <a:xfrm rot="0" flipH="false" flipV="false">
            <a:off x="762000" y="1778000"/>
            <a:ext cx="3302000" cy="4064000"/>
          </a:xfrm>
          <a:prstGeom prst="roundRect">
            <a:avLst>
              <a:gd name="adj" fmla="val 0"/>
            </a:avLst>
          </a:prstGeom>
          <a:solidFill>
            <a:srgbClr val="EBF2FF">
              <a:alpha val="100000"/>
            </a:srgbClr>
          </a:solidFill>
          <a:ln w="12700" cmpd="sng" cap="flat">
            <a:solidFill>
              <a:srgbClr val="C8D7F0">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59000"/>
            <a:ext cx="508000" cy="508000"/>
          </a:xfrm>
          <a:prstGeom prst="rect">
            <a:avLst/>
          </a:prstGeom>
        </p:spPr>
      </p:pic>
      <p:sp>
        <p:nvSpPr>
          <p:cNvPr name="AutoShape 6" id="6"/>
          <p:cNvSpPr/>
          <p:nvPr/>
        </p:nvSpPr>
        <p:spPr>
          <a:xfrm rot="0" flipH="false" flipV="false">
            <a:off x="1651000" y="21336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04A72"/>
                </a:solidFill>
                <a:latin typeface="Noto Sans SC"/>
                <a:ea typeface="Noto Sans SC"/>
                <a:cs typeface="Noto Sans SC"/>
                <a:sym typeface="Noto Sans SC"/>
              </a:rPr>
              <a:t>知识整合与融会贯通</a:t>
            </a:r>
            <a:endParaRPr lang="en-US" sz="1100"/>
          </a:p>
        </p:txBody>
      </p:sp>
      <p:sp>
        <p:nvSpPr>
          <p:cNvPr name="AutoShape 7" id="7"/>
          <p:cNvSpPr/>
          <p:nvPr/>
        </p:nvSpPr>
        <p:spPr>
          <a:xfrm rot="0" flipH="false" flipV="false">
            <a:off x="952500" y="3048000"/>
            <a:ext cx="2921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课程设计是对本专业核心理论知识的系统梳理与综合运用。通过将分散在不同学期的课程知识点串联成完整的知识体系，打破学科壁垒，解决理论与实践脱节问题，帮助大家构建稳固的专业知识框架，加深对专业原理和方法的理解。</a:t>
            </a:r>
            <a:endParaRPr lang="en-US" sz="1100"/>
          </a:p>
        </p:txBody>
      </p:sp>
      <p:sp>
        <p:nvSpPr>
          <p:cNvPr name="AutoShape 8" id="8"/>
          <p:cNvSpPr/>
          <p:nvPr/>
        </p:nvSpPr>
        <p:spPr>
          <a:xfrm rot="0" flipH="false" flipV="false">
            <a:off x="4445000" y="1778000"/>
            <a:ext cx="3302000" cy="4064000"/>
          </a:xfrm>
          <a:prstGeom prst="roundRect">
            <a:avLst>
              <a:gd name="adj" fmla="val 0"/>
            </a:avLst>
          </a:prstGeom>
          <a:solidFill>
            <a:srgbClr val="ECFDF5">
              <a:alpha val="100000"/>
            </a:srgbClr>
          </a:solidFill>
          <a:ln w="12700" cmpd="sng" cap="flat">
            <a:solidFill>
              <a:srgbClr val="BFEFDB">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159000"/>
            <a:ext cx="508000" cy="508000"/>
          </a:xfrm>
          <a:prstGeom prst="rect">
            <a:avLst/>
          </a:prstGeom>
        </p:spPr>
      </p:pic>
      <p:sp>
        <p:nvSpPr>
          <p:cNvPr name="AutoShape 10" id="10"/>
          <p:cNvSpPr/>
          <p:nvPr/>
        </p:nvSpPr>
        <p:spPr>
          <a:xfrm rot="0" flipH="false" flipV="false">
            <a:off x="5334000" y="21336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65F46"/>
                </a:solidFill>
                <a:latin typeface="Noto Sans SC"/>
                <a:ea typeface="Noto Sans SC"/>
                <a:cs typeface="Noto Sans SC"/>
                <a:sym typeface="Noto Sans SC"/>
              </a:rPr>
              <a:t>实践能力与工程素养</a:t>
            </a:r>
            <a:endParaRPr lang="en-US" sz="1100"/>
          </a:p>
        </p:txBody>
      </p:sp>
      <p:sp>
        <p:nvSpPr>
          <p:cNvPr name="AutoShape 11" id="11"/>
          <p:cNvSpPr/>
          <p:nvPr/>
        </p:nvSpPr>
        <p:spPr>
          <a:xfrm rot="0" flipH="false" flipV="false">
            <a:off x="4635500" y="3048000"/>
            <a:ext cx="2921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以实际工程问题或仿真项目为载体，培养大家运用专业工具解决实际问题的能力。在此过程中，强化严谨的逻辑思维、规范化的文档撰写习惯及标准化的工程操作流程，弥补纯理论学习在动手能力培养上的短板，为未来的职业发展夯实基础。</a:t>
            </a:r>
            <a:endParaRPr lang="en-US" sz="1100"/>
          </a:p>
        </p:txBody>
      </p:sp>
      <p:sp>
        <p:nvSpPr>
          <p:cNvPr name="AutoShape 12" id="12"/>
          <p:cNvSpPr/>
          <p:nvPr/>
        </p:nvSpPr>
        <p:spPr>
          <a:xfrm rot="0" flipH="false" flipV="false">
            <a:off x="8128000" y="1778000"/>
            <a:ext cx="3302000" cy="4064000"/>
          </a:xfrm>
          <a:prstGeom prst="roundRect">
            <a:avLst>
              <a:gd name="adj" fmla="val 0"/>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159000"/>
            <a:ext cx="508000" cy="508000"/>
          </a:xfrm>
          <a:prstGeom prst="rect">
            <a:avLst/>
          </a:prstGeom>
        </p:spPr>
      </p:pic>
      <p:sp>
        <p:nvSpPr>
          <p:cNvPr name="AutoShape 14" id="14"/>
          <p:cNvSpPr/>
          <p:nvPr/>
        </p:nvSpPr>
        <p:spPr>
          <a:xfrm rot="0" flipH="false" flipV="false">
            <a:off x="9017000" y="21336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9A3412"/>
                </a:solidFill>
                <a:latin typeface="Noto Sans SC"/>
                <a:ea typeface="Noto Sans SC"/>
                <a:cs typeface="Noto Sans SC"/>
                <a:sym typeface="Noto Sans SC"/>
              </a:rPr>
              <a:t>创新思维与综合应用</a:t>
            </a:r>
            <a:endParaRPr lang="en-US" sz="1100"/>
          </a:p>
        </p:txBody>
      </p:sp>
      <p:sp>
        <p:nvSpPr>
          <p:cNvPr name="AutoShape 15" id="15"/>
          <p:cNvSpPr/>
          <p:nvPr/>
        </p:nvSpPr>
        <p:spPr>
          <a:xfrm rot="0" flipH="false" flipV="false">
            <a:off x="8318500" y="3048000"/>
            <a:ext cx="2921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鼓励突破固有框架，尝试运用新思路、新方法优化设计方案。通过课程设计的探索过程，激发大家的创新意识与科研兴趣，培养独立思考与团队协作的综合能力，从而实现从“被动接受知识”到“主动探索解决”的思维转变。</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905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一、课程设计目的与意义</a:t>
            </a:r>
            <a:endParaRPr lang="en-US" sz="1100"/>
          </a:p>
        </p:txBody>
      </p:sp>
      <p:sp>
        <p:nvSpPr>
          <p:cNvPr name="AutoShape 4" id="4"/>
          <p:cNvSpPr/>
          <p:nvPr/>
        </p:nvSpPr>
        <p:spPr>
          <a:xfrm rot="0" flipH="false" flipV="false">
            <a:off x="508000" y="1397000"/>
            <a:ext cx="2667000" cy="4953000"/>
          </a:xfrm>
          <a:prstGeom prst="roundRect">
            <a:avLst>
              <a:gd name="adj" fmla="val 0"/>
            </a:avLst>
          </a:prstGeom>
          <a:solidFill>
            <a:srgbClr val="F0F7FB">
              <a:alpha val="10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397000"/>
            <a:ext cx="2667000" cy="889000"/>
          </a:xfrm>
          <a:prstGeom prst="roundRect">
            <a:avLst>
              <a:gd name="adj" fmla="val 0"/>
            </a:avLst>
          </a:prstGeom>
          <a:solidFill>
            <a:srgbClr val="0070C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35000" y="15875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微软雅黑"/>
                <a:ea typeface="微软雅黑"/>
                <a:cs typeface="微软雅黑"/>
                <a:sym typeface="微软雅黑"/>
              </a:rPr>
              <a:t>（一）综合性实践</a:t>
            </a:r>
            <a:endParaRPr lang="en-US" sz="1100"/>
          </a:p>
        </p:txBody>
      </p:sp>
      <p:sp>
        <p:nvSpPr>
          <p:cNvPr name="AutoShape 7" id="7"/>
          <p:cNvSpPr/>
          <p:nvPr/>
        </p:nvSpPr>
        <p:spPr>
          <a:xfrm rot="0" flipH="false" flipV="false">
            <a:off x="698500" y="2540000"/>
            <a:ext cx="2286000" cy="3429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将项目管理、软件开发、需求分析、系统测试、团队协作等多门课程知识融为一体，全面检验理论联系实际的能力，打破单一课程的知识壁垒，实现多领域知识的融会贯通。</a:t>
            </a:r>
            <a:endParaRPr lang="en-US" sz="1100"/>
          </a:p>
        </p:txBody>
      </p:sp>
      <p:sp>
        <p:nvSpPr>
          <p:cNvPr name="AutoShape 8" id="8"/>
          <p:cNvSpPr/>
          <p:nvPr/>
        </p:nvSpPr>
        <p:spPr>
          <a:xfrm rot="0" flipH="false" flipV="false">
            <a:off x="3429000" y="1397000"/>
            <a:ext cx="2667000" cy="4953000"/>
          </a:xfrm>
          <a:prstGeom prst="roundRect">
            <a:avLst>
              <a:gd name="adj" fmla="val 0"/>
            </a:avLst>
          </a:prstGeom>
          <a:solidFill>
            <a:srgbClr val="F0F7FB">
              <a:alpha val="10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429000" y="1397000"/>
            <a:ext cx="2667000" cy="889000"/>
          </a:xfrm>
          <a:prstGeom prst="roundRect">
            <a:avLst>
              <a:gd name="adj" fmla="val 0"/>
            </a:avLst>
          </a:prstGeom>
          <a:solidFill>
            <a:srgbClr val="1774B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56000" y="15875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微软雅黑"/>
                <a:ea typeface="微软雅黑"/>
                <a:cs typeface="微软雅黑"/>
                <a:sym typeface="微软雅黑"/>
              </a:rPr>
              <a:t>（二）能力培养</a:t>
            </a:r>
            <a:endParaRPr lang="en-US" sz="1100"/>
          </a:p>
        </p:txBody>
      </p:sp>
      <p:sp>
        <p:nvSpPr>
          <p:cNvPr name="AutoShape 11" id="11"/>
          <p:cNvSpPr/>
          <p:nvPr/>
        </p:nvSpPr>
        <p:spPr>
          <a:xfrm rot="0" flipH="false" flipV="false">
            <a:off x="3619500" y="2540000"/>
            <a:ext cx="2286000" cy="3429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系统掌握软件项目全生命周期管理（五大过程组）的核心逻辑，熟练运用范围、进度、成本、质量、风险及沟通等关键知识域的管理工具与方法，提升项目把控能力。</a:t>
            </a:r>
            <a:endParaRPr lang="en-US" sz="1100"/>
          </a:p>
        </p:txBody>
      </p:sp>
      <p:sp>
        <p:nvSpPr>
          <p:cNvPr name="AutoShape 12" id="12"/>
          <p:cNvSpPr/>
          <p:nvPr/>
        </p:nvSpPr>
        <p:spPr>
          <a:xfrm rot="0" flipH="false" flipV="false">
            <a:off x="6350000" y="1397000"/>
            <a:ext cx="2667000" cy="4953000"/>
          </a:xfrm>
          <a:prstGeom prst="roundRect">
            <a:avLst>
              <a:gd name="adj" fmla="val 0"/>
            </a:avLst>
          </a:prstGeom>
          <a:solidFill>
            <a:srgbClr val="F0F7FB">
              <a:alpha val="10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0" y="1397000"/>
            <a:ext cx="2667000" cy="889000"/>
          </a:xfrm>
          <a:prstGeom prst="roundRect">
            <a:avLst>
              <a:gd name="adj" fmla="val 0"/>
            </a:avLst>
          </a:prstGeom>
          <a:solidFill>
            <a:srgbClr val="2F82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15875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微软雅黑"/>
                <a:ea typeface="微软雅黑"/>
                <a:cs typeface="微软雅黑"/>
                <a:sym typeface="微软雅黑"/>
              </a:rPr>
              <a:t>（三）实践价值</a:t>
            </a:r>
            <a:endParaRPr lang="en-US" sz="1100"/>
          </a:p>
        </p:txBody>
      </p:sp>
      <p:sp>
        <p:nvSpPr>
          <p:cNvPr name="AutoShape 15" id="15"/>
          <p:cNvSpPr/>
          <p:nvPr/>
        </p:nvSpPr>
        <p:spPr>
          <a:xfrm rot="0" flipH="false" flipV="false">
            <a:off x="6540500" y="2540000"/>
            <a:ext cx="2286000" cy="3429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推动课堂理论向实践技能转化，切实提高工程问题分析、软件系统架构设计、代码编写与实现，以及功能与性能测试验证的综合工程技术能力，积累实战经验。</a:t>
            </a:r>
            <a:endParaRPr lang="en-US" sz="1100"/>
          </a:p>
        </p:txBody>
      </p:sp>
      <p:sp>
        <p:nvSpPr>
          <p:cNvPr name="AutoShape 16" id="16"/>
          <p:cNvSpPr/>
          <p:nvPr/>
        </p:nvSpPr>
        <p:spPr>
          <a:xfrm rot="0" flipH="false" flipV="false">
            <a:off x="9271000" y="1397000"/>
            <a:ext cx="2667000" cy="4953000"/>
          </a:xfrm>
          <a:prstGeom prst="roundRect">
            <a:avLst>
              <a:gd name="adj" fmla="val 0"/>
            </a:avLst>
          </a:prstGeom>
          <a:solidFill>
            <a:srgbClr val="F0F7FB">
              <a:alpha val="10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271000" y="1397000"/>
            <a:ext cx="2667000" cy="889000"/>
          </a:xfrm>
          <a:prstGeom prst="roundRect">
            <a:avLst>
              <a:gd name="adj" fmla="val 0"/>
            </a:avLst>
          </a:prstGeom>
          <a:solidFill>
            <a:srgbClr val="4992C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398000" y="1587500"/>
            <a:ext cx="2413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微软雅黑"/>
                <a:ea typeface="微软雅黑"/>
                <a:cs typeface="微软雅黑"/>
                <a:sym typeface="微软雅黑"/>
              </a:rPr>
              <a:t>（四）职业素养</a:t>
            </a:r>
            <a:endParaRPr lang="en-US" sz="1100"/>
          </a:p>
        </p:txBody>
      </p:sp>
      <p:sp>
        <p:nvSpPr>
          <p:cNvPr name="AutoShape 19" id="19"/>
          <p:cNvSpPr/>
          <p:nvPr/>
        </p:nvSpPr>
        <p:spPr>
          <a:xfrm rot="0" flipH="false" flipV="false">
            <a:off x="9461500" y="2540000"/>
            <a:ext cx="2286000" cy="3429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在项目协作中培养严谨细致的工程态度，强化对需求规格、设计文档、测试报告等规范文档的编写与管理意识，锻炼高效的团队沟通与协作精神，为未来职业发展夯实基础。</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5715000" cy="647700"/>
          </a:xfrm>
          <a:prstGeom prst="rect">
            <a:avLst/>
          </a:prstGeom>
          <a:noFill/>
          <a:ln w="12700" cmpd="sng" cap="flat">
            <a:noFill/>
            <a:prstDash val="solid"/>
            <a:round/>
          </a:ln>
        </p:spPr>
        <p:txBody>
          <a:bodyPr anchor="t" rtlCol="false" anchorCtr="false" vert="horz" wrap="non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二、课程设计内容与环境</a:t>
            </a:r>
            <a:endParaRPr lang="en-US" sz="1100"/>
          </a:p>
        </p:txBody>
      </p:sp>
      <p:sp>
        <p:nvSpPr>
          <p:cNvPr name="AutoShape 5" id="5"/>
          <p:cNvSpPr/>
          <p:nvPr/>
        </p:nvSpPr>
        <p:spPr>
          <a:xfrm rot="0" flipH="false" flipV="false">
            <a:off x="901700" y="1778000"/>
            <a:ext cx="10363200" cy="3810000"/>
          </a:xfrm>
          <a:prstGeom prst="rect">
            <a:avLst/>
          </a:prstGeom>
          <a:noFill/>
          <a:ln w="12700" cmpd="sng" cap="flat">
            <a:noFill/>
            <a:prstDash val="solid"/>
            <a:round/>
          </a:ln>
        </p:spPr>
        <p:txBody>
          <a:bodyPr anchor="t" rtlCol="false" anchorCtr="false" vert="horz" wrap="square" lIns="88900" rIns="88900" tIns="127000" bIns="127000"/>
          <a:lstStyle/>
          <a:p>
            <a:pPr algn="l" indent="0">
              <a:lnSpc>
                <a:spcPct val="150000"/>
              </a:lnSpc>
              <a:defRPr/>
            </a:pPr>
            <a:r>
              <a:rPr lang="en-US" b="true" i="false" strike="noStrike" u="none" sz="2000">
                <a:solidFill>
                  <a:srgbClr val="333333"/>
                </a:solidFill>
                <a:latin typeface="Songti SC"/>
                <a:ea typeface="Songti SC"/>
                <a:cs typeface="Songti SC"/>
                <a:sym typeface="Songti SC"/>
              </a:rPr>
              <a:t>01. 课程设计核心内容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pPr>
            <a:r>
              <a:rPr lang="en-US" b="false" i="false" strike="noStrike" u="none" sz="1600">
                <a:solidFill>
                  <a:srgbClr val="505050"/>
                </a:solidFill>
                <a:latin typeface="Noto Sans SC"/>
                <a:ea typeface="Noto Sans SC"/>
                <a:cs typeface="Noto Sans SC"/>
                <a:sym typeface="Noto Sans SC"/>
              </a:rPr>
              <a:t>涵盖需求分析、系统架构设计、功能模块开发及测试优化四大核心环节，旨在通过全流程的实践操作，帮助大家掌握软件开发与项目管理的完整逻辑，实现理论知识向工程能力的转化。</a:t>
            </a:r>
            <a:r>
              <a:rPr lang="en-US" b="false" i="false" strike="noStrike" u="none" sz="1600">
                <a:solidFill>
                  <a:srgbClr val="1F2329"/>
                </a:solidFill>
                <a:latin typeface="Noto Sans SC"/>
                <a:ea typeface="Noto Sans SC"/>
                <a:cs typeface="Noto Sans SC"/>
                <a:sym typeface="Noto Sans SC"/>
              </a:rPr>
              <a:t/>
            </a:r>
          </a:p>
          <a:p>
            <a:pPr algn="l" indent="0">
              <a:lnSpc>
                <a:spcPct val="150000"/>
              </a:lnSpc>
              <a:spcBef>
                <a:spcPts val="2500"/>
              </a:spcBef>
            </a:pPr>
            <a:r>
              <a:rPr lang="en-US" b="true" i="false" strike="noStrike" u="none" sz="2000">
                <a:solidFill>
                  <a:srgbClr val="333333"/>
                </a:solidFill>
                <a:latin typeface="Songti SC"/>
                <a:ea typeface="Songti SC"/>
                <a:cs typeface="Songti SC"/>
                <a:sym typeface="Songti SC"/>
              </a:rPr>
              <a:t>02. 技术与工具环境</a:t>
            </a:r>
            <a:r>
              <a:rPr lang="en-US" b="false" i="false" strike="noStrike" u="none" sz="1600">
                <a:solidFill>
                  <a:srgbClr val="1F2329"/>
                </a:solidFill>
                <a:latin typeface="Noto Sans SC"/>
                <a:ea typeface="Noto Sans SC"/>
                <a:cs typeface="Noto Sans SC"/>
                <a:sym typeface="Noto Sans SC"/>
              </a:rPr>
              <a:t/>
            </a:r>
          </a:p>
          <a:p>
            <a:pPr algn="l" indent="0">
              <a:lnSpc>
                <a:spcPct val="133333"/>
              </a:lnSpc>
            </a:pPr>
            <a:r>
              <a:rPr lang="en-US" b="false" i="false" strike="noStrike" u="none" sz="1600">
                <a:solidFill>
                  <a:srgbClr val="505050"/>
                </a:solidFill>
                <a:latin typeface="Noto Sans SC"/>
                <a:ea typeface="Noto Sans SC"/>
                <a:cs typeface="Noto Sans SC"/>
                <a:sym typeface="Noto Sans SC"/>
              </a:rPr>
              <a:t>采用主流开发环境搭建课程实践平台，统一配置开发语言、数据库及集成开发工具（IDE）。同时，依托本地服务器与在线协作平台构建协同开发环境，确保大家在标准化的技术底座上，高效完成设计任务并实现团队协作。</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52400"/>
            <a:ext cx="10972800" cy="6477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二、课程设计内容与环境</a:t>
            </a:r>
            <a:endParaRPr lang="en-US" sz="1100"/>
          </a:p>
        </p:txBody>
      </p:sp>
      <p:sp>
        <p:nvSpPr>
          <p:cNvPr name="AutoShape 4" id="4"/>
          <p:cNvSpPr/>
          <p:nvPr/>
        </p:nvSpPr>
        <p:spPr>
          <a:xfrm rot="0" flipH="false" flipV="false">
            <a:off x="609600" y="1397000"/>
            <a:ext cx="5334000" cy="4953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63600" y="1651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E7490"/>
                </a:solidFill>
                <a:latin typeface="微软雅黑"/>
                <a:ea typeface="微软雅黑"/>
                <a:cs typeface="微软雅黑"/>
                <a:sym typeface="微软雅黑"/>
              </a:rPr>
              <a:t>（一）项目核心内容</a:t>
            </a:r>
            <a:endParaRPr lang="en-US" sz="1100"/>
          </a:p>
        </p:txBody>
      </p:sp>
      <p:sp>
        <p:nvSpPr>
          <p:cNvPr name="AutoShape 6" id="6"/>
          <p:cNvSpPr/>
          <p:nvPr/>
        </p:nvSpPr>
        <p:spPr>
          <a:xfrm rot="0" flipH="false" flipV="false">
            <a:off x="863600" y="2413000"/>
            <a:ext cx="4826000" cy="355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0F172A"/>
                </a:solidFill>
                <a:latin typeface="Noto Sans SC"/>
                <a:ea typeface="Noto Sans SC"/>
                <a:cs typeface="Noto Sans SC"/>
                <a:sym typeface="Noto Sans SC"/>
              </a:rPr>
              <a:t>🎯 项目对象：</a:t>
            </a:r>
            <a:r>
              <a:rPr lang="en-US" b="false" i="false" strike="noStrike" u="none" sz="1400">
                <a:solidFill>
                  <a:srgbClr val="334155"/>
                </a:solidFill>
                <a:latin typeface="Noto Sans SC"/>
                <a:ea typeface="Noto Sans SC"/>
                <a:cs typeface="Noto Sans SC"/>
                <a:sym typeface="Noto Sans SC"/>
              </a:rPr>
              <a:t>面向在校大学生的“校园互助服务站”公益信息服务平台，致力于打造便捷的校内生活圈。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true" i="false" strike="noStrike" u="none" sz="1500">
                <a:solidFill>
                  <a:srgbClr val="0F172A"/>
                </a:solidFill>
                <a:latin typeface="Noto Sans SC"/>
                <a:ea typeface="Noto Sans SC"/>
                <a:cs typeface="Noto Sans SC"/>
                <a:sym typeface="Noto Sans SC"/>
              </a:rPr>
              <a:t>🚀 核心目标：</a:t>
            </a:r>
            <a:r>
              <a:rPr lang="en-US" b="false" i="false" strike="noStrike" u="none" sz="1400">
                <a:solidFill>
                  <a:srgbClr val="334155"/>
                </a:solidFill>
                <a:latin typeface="Noto Sans SC"/>
                <a:ea typeface="Noto Sans SC"/>
                <a:cs typeface="Noto Sans SC"/>
                <a:sym typeface="Noto Sans SC"/>
              </a:rPr>
              <a:t>有效解决校园内互助信息分散、供需对接效率低、信息真实性与安全性无法保障等问题。</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1200"/>
              </a:spcBef>
            </a:pPr>
            <a:r>
              <a:rPr lang="en-US" b="true" i="false" strike="noStrike" u="none" sz="1500">
                <a:solidFill>
                  <a:srgbClr val="0F172A"/>
                </a:solidFill>
                <a:latin typeface="Noto Sans SC"/>
                <a:ea typeface="Noto Sans SC"/>
                <a:cs typeface="Noto Sans SC"/>
                <a:sym typeface="Noto Sans SC"/>
              </a:rPr>
              <a:t>🛠️ 六大核心功能模块：</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300">
                <a:solidFill>
                  <a:srgbClr val="475569"/>
                </a:solidFill>
                <a:latin typeface="Noto Sans SC"/>
                <a:ea typeface="Noto Sans SC"/>
                <a:cs typeface="Noto Sans SC"/>
                <a:sym typeface="Noto Sans SC"/>
              </a:rPr>
              <a:t>1. 用户登录注册 | 2. 互助求助发布 | 3. 失物招领找回</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75569"/>
                </a:solidFill>
                <a:latin typeface="Noto Sans SC"/>
                <a:ea typeface="Noto Sans SC"/>
                <a:cs typeface="Noto Sans SC"/>
                <a:sym typeface="Noto Sans SC"/>
              </a:rPr>
              <a:t>4. 闲置物品交换 | 5. 建议与反馈 | 6. 简易后台管理</a:t>
            </a:r>
          </a:p>
        </p:txBody>
      </p:sp>
      <p:sp>
        <p:nvSpPr>
          <p:cNvPr name="AutoShape 7" id="7"/>
          <p:cNvSpPr/>
          <p:nvPr/>
        </p:nvSpPr>
        <p:spPr>
          <a:xfrm rot="0" flipH="false" flipV="false">
            <a:off x="6248400" y="1397000"/>
            <a:ext cx="5334000" cy="4953000"/>
          </a:xfrm>
          <a:prstGeom prst="roundRect">
            <a:avLst>
              <a:gd name="adj" fmla="val 0"/>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502400" y="1651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B45309"/>
                </a:solidFill>
                <a:latin typeface="微软雅黑"/>
                <a:ea typeface="微软雅黑"/>
                <a:cs typeface="微软雅黑"/>
                <a:sym typeface="微软雅黑"/>
              </a:rPr>
              <a:t>（二）技术与工具环境</a:t>
            </a:r>
            <a:endParaRPr lang="en-US" sz="1100"/>
          </a:p>
        </p:txBody>
      </p:sp>
      <p:sp>
        <p:nvSpPr>
          <p:cNvPr name="AutoShape 9" id="9"/>
          <p:cNvSpPr/>
          <p:nvPr/>
        </p:nvSpPr>
        <p:spPr>
          <a:xfrm rot="0" flipH="false" flipV="false">
            <a:off x="6502400" y="2413000"/>
            <a:ext cx="4826000" cy="3556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true" i="false" strike="noStrike" u="none" sz="1500">
                <a:solidFill>
                  <a:srgbClr val="431407"/>
                </a:solidFill>
                <a:latin typeface="Noto Sans SC"/>
                <a:ea typeface="Noto Sans SC"/>
                <a:cs typeface="Noto Sans SC"/>
                <a:sym typeface="Noto Sans SC"/>
              </a:rPr>
              <a:t>💻 前端开发技术栈：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33832"/>
                </a:solidFill>
                <a:latin typeface="Noto Sans SC"/>
                <a:ea typeface="Noto Sans SC"/>
                <a:cs typeface="Noto Sans SC"/>
                <a:sym typeface="Noto Sans SC"/>
              </a:rPr>
              <a:t>HTML (结构) + CSS (样式) + JavaScript (交互逻辑) 组合实现页面功能。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400"/>
              </a:spcBef>
            </a:pPr>
            <a:r>
              <a:rPr lang="en-US" b="true" i="false" strike="noStrike" u="none" sz="1500">
                <a:solidFill>
                  <a:srgbClr val="431407"/>
                </a:solidFill>
                <a:latin typeface="Noto Sans SC"/>
                <a:ea typeface="Noto Sans SC"/>
                <a:cs typeface="Noto Sans SC"/>
                <a:sym typeface="Noto Sans SC"/>
              </a:rPr>
              <a:t>💾 数据存储方案：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33832"/>
                </a:solidFill>
                <a:latin typeface="Noto Sans SC"/>
                <a:ea typeface="Noto Sans SC"/>
                <a:cs typeface="Noto Sans SC"/>
                <a:sym typeface="Noto Sans SC"/>
              </a:rPr>
              <a:t>采用浏览器本地存储（LocalStorage）方案，无需搭建服务器与数据库，实现轻量化部署。</a:t>
            </a:r>
            <a:r>
              <a:rPr lang="en-US" b="false" i="false" strike="noStrike" u="none" sz="1600">
                <a:solidFill>
                  <a:srgbClr val="1F2329"/>
                </a:solidFill>
                <a:latin typeface="Noto Sans SC"/>
                <a:ea typeface="Noto Sans SC"/>
                <a:cs typeface="Noto Sans SC"/>
                <a:sym typeface="Noto Sans SC"/>
              </a:rPr>
              <a:t/>
            </a:r>
          </a:p>
          <a:p>
            <a:pPr algn="l" indent="0">
              <a:lnSpc>
                <a:spcPct val="133333"/>
              </a:lnSpc>
              <a:spcBef>
                <a:spcPts val="1400"/>
              </a:spcBef>
            </a:pPr>
            <a:r>
              <a:rPr lang="en-US" b="true" i="false" strike="noStrike" u="none" sz="1500">
                <a:solidFill>
                  <a:srgbClr val="431407"/>
                </a:solidFill>
                <a:latin typeface="Noto Sans SC"/>
                <a:ea typeface="Noto Sans SC"/>
                <a:cs typeface="Noto Sans SC"/>
                <a:sym typeface="Noto Sans SC"/>
              </a:rPr>
              <a:t>🛠️ 开发与协作工具：</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33832"/>
                </a:solidFill>
                <a:latin typeface="Noto Sans SC"/>
                <a:ea typeface="Noto Sans SC"/>
                <a:cs typeface="Noto Sans SC"/>
                <a:sym typeface="Noto Sans SC"/>
              </a:rPr>
              <a:t>开发工具：VS Code (代码编辑器)、Google Chrome (调试工具)</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33832"/>
                </a:solidFill>
                <a:latin typeface="Noto Sans SC"/>
                <a:ea typeface="Noto Sans SC"/>
                <a:cs typeface="Noto Sans SC"/>
                <a:sym typeface="Noto Sans SC"/>
              </a:rPr>
              <a:t>辅助工具：ProcessOn (流程图设计)、Microsoft Office (Word/Excel/PPT) 用于文档撰写与汇报展示。</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5715000" cy="647700"/>
          </a:xfrm>
          <a:prstGeom prst="rect">
            <a:avLst/>
          </a:prstGeom>
          <a:noFill/>
          <a:ln w="12700" cmpd="sng" cap="flat">
            <a:noFill/>
            <a:prstDash val="solid"/>
            <a:round/>
          </a:ln>
        </p:spPr>
        <p:txBody>
          <a:bodyPr anchor="t" rtlCol="false" anchorCtr="false" vert="horz" wrap="non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三、项目实施过程</a:t>
            </a:r>
            <a:endParaRPr lang="en-US" sz="1100"/>
          </a:p>
        </p:txBody>
      </p:sp>
      <p:sp>
        <p:nvSpPr>
          <p:cNvPr name="AutoShape 5" id="5"/>
          <p:cNvSpPr/>
          <p:nvPr/>
        </p:nvSpPr>
        <p:spPr>
          <a:xfrm rot="0" flipH="false" flipV="false">
            <a:off x="901700" y="1905000"/>
            <a:ext cx="10363200" cy="1524000"/>
          </a:xfrm>
          <a:prstGeom prst="rect">
            <a:avLst/>
          </a:prstGeom>
          <a:noFill/>
          <a:ln w="12700" cmpd="sng" cap="flat">
            <a:noFill/>
            <a:prstDash val="solid"/>
            <a:round/>
          </a:ln>
        </p:spPr>
        <p:txBody>
          <a:bodyPr anchor="t" rtlCol="false" anchorCtr="false" vert="horz" wrap="square" lIns="88900" rIns="88900" tIns="127000" bIns="127000"/>
          <a:lstStyle/>
          <a:p>
            <a:pPr algn="l" indent="0">
              <a:lnSpc>
                <a:spcPct val="133333"/>
              </a:lnSpc>
              <a:defRPr/>
            </a:pPr>
            <a:r>
              <a:rPr lang="en-US" b="false" i="false" strike="noStrike" u="none" sz="2400">
                <a:solidFill>
                  <a:srgbClr val="000000"/>
                </a:solidFill>
                <a:latin typeface="Songti SC"/>
                <a:ea typeface="Songti SC"/>
                <a:cs typeface="Songti SC"/>
                <a:sym typeface="Songti SC"/>
              </a:rPr>
              <a:t>在这一部分，我将详细介绍我们如何将一个想法一步步变为现实，涵盖从计划制定、资源整合到最终实现的全过程，为您完整呈现项目落地的每一个关键环节。</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52400"/>
            <a:ext cx="10668000" cy="711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三、项目实施过程 —— 项目计划与时间轴</a:t>
            </a:r>
            <a:endParaRPr lang="en-US" sz="1100"/>
          </a:p>
        </p:txBody>
      </p:sp>
      <p:sp>
        <p:nvSpPr>
          <p:cNvPr name="AutoShape 4" id="4"/>
          <p:cNvSpPr/>
          <p:nvPr/>
        </p:nvSpPr>
        <p:spPr>
          <a:xfrm rot="0" flipH="false" flipV="false">
            <a:off x="609600" y="1397000"/>
            <a:ext cx="2667000" cy="2032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36600" y="1524000"/>
            <a:ext cx="241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6699"/>
                </a:solidFill>
                <a:latin typeface="微软雅黑"/>
                <a:ea typeface="微软雅黑"/>
                <a:cs typeface="微软雅黑"/>
                <a:sym typeface="微软雅黑"/>
              </a:rPr>
              <a:t>第 1 周：启动与调研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 召开项目启动会议，明确目标与分工</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完成业务与用户需求深度调研</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完成项目立项报告与可行性分析</a:t>
            </a:r>
          </a:p>
        </p:txBody>
      </p:sp>
      <p:sp>
        <p:nvSpPr>
          <p:cNvPr name="AutoShape 6" id="6"/>
          <p:cNvSpPr/>
          <p:nvPr/>
        </p:nvSpPr>
        <p:spPr>
          <a:xfrm rot="0" flipH="false" flipV="false">
            <a:off x="3429000" y="1397000"/>
            <a:ext cx="2667000" cy="2032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3556000" y="1524000"/>
            <a:ext cx="241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6699"/>
                </a:solidFill>
                <a:latin typeface="微软雅黑"/>
                <a:ea typeface="微软雅黑"/>
                <a:cs typeface="微软雅黑"/>
                <a:sym typeface="微软雅黑"/>
              </a:rPr>
              <a:t>第 2 周：计划与分析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 制定详细的项目执行计划</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完成WBS任务分解与甘特图制作</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输出系统详细需求规格说明书</a:t>
            </a:r>
          </a:p>
        </p:txBody>
      </p:sp>
      <p:sp>
        <p:nvSpPr>
          <p:cNvPr name="AutoShape 8" id="8"/>
          <p:cNvSpPr/>
          <p:nvPr/>
        </p:nvSpPr>
        <p:spPr>
          <a:xfrm rot="0" flipH="false" flipV="false">
            <a:off x="6248400" y="1397000"/>
            <a:ext cx="2667000" cy="2032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75400" y="1524000"/>
            <a:ext cx="241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6699"/>
                </a:solidFill>
                <a:latin typeface="微软雅黑"/>
                <a:ea typeface="微软雅黑"/>
                <a:cs typeface="微软雅黑"/>
                <a:sym typeface="微软雅黑"/>
              </a:rPr>
              <a:t>第 3 周：原型与设计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 完成系统功能架构与逻辑设计</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制作系统交互原型 (Mockups)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完成前端界面视觉与UI设计</a:t>
            </a:r>
          </a:p>
        </p:txBody>
      </p:sp>
      <p:sp>
        <p:nvSpPr>
          <p:cNvPr name="AutoShape 10" id="10"/>
          <p:cNvSpPr/>
          <p:nvPr/>
        </p:nvSpPr>
        <p:spPr>
          <a:xfrm rot="0" flipH="false" flipV="false">
            <a:off x="9067800" y="1397000"/>
            <a:ext cx="2667000" cy="2032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194800" y="1524000"/>
            <a:ext cx="2413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6699"/>
                </a:solidFill>
                <a:latin typeface="微软雅黑"/>
                <a:ea typeface="微软雅黑"/>
                <a:cs typeface="微软雅黑"/>
                <a:sym typeface="微软雅黑"/>
              </a:rPr>
              <a:t>第 4 周：前端开发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 页面布局与样式的代码实现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前端交互逻辑与事件绑定开发</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静态页面与资源整合与调试</a:t>
            </a:r>
          </a:p>
        </p:txBody>
      </p:sp>
      <p:sp>
        <p:nvSpPr>
          <p:cNvPr name="AutoShape 12" id="12"/>
          <p:cNvSpPr/>
          <p:nvPr/>
        </p:nvSpPr>
        <p:spPr>
          <a:xfrm rot="0" flipH="false" flipV="false">
            <a:off x="1143000" y="3810000"/>
            <a:ext cx="3175000" cy="2032000"/>
          </a:xfrm>
          <a:prstGeom prst="roundRect">
            <a:avLst>
              <a:gd name="adj" fmla="val 0"/>
            </a:avLst>
          </a:prstGeom>
          <a:solidFill>
            <a:srgbClr val="F0FDF4">
              <a:alpha val="100000"/>
            </a:srgbClr>
          </a:solidFill>
          <a:ln w="12700" cmpd="sng" cap="flat">
            <a:solidFill>
              <a:srgbClr val="BBF7D0">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270000" y="3937000"/>
            <a:ext cx="2921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5803D"/>
                </a:solidFill>
                <a:latin typeface="微软雅黑"/>
                <a:ea typeface="微软雅黑"/>
                <a:cs typeface="微软雅黑"/>
                <a:sym typeface="微软雅黑"/>
              </a:rPr>
              <a:t>第 5 周：后端与联调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 核心功能逻辑与业务代码实现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数据库结构搭建与数据处理</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前后端接口对接与全流程联调</a:t>
            </a:r>
          </a:p>
        </p:txBody>
      </p:sp>
      <p:sp>
        <p:nvSpPr>
          <p:cNvPr name="AutoShape 14" id="14"/>
          <p:cNvSpPr/>
          <p:nvPr/>
        </p:nvSpPr>
        <p:spPr>
          <a:xfrm rot="0" flipH="false" flipV="false">
            <a:off x="4572000" y="3810000"/>
            <a:ext cx="3175000" cy="2032000"/>
          </a:xfrm>
          <a:prstGeom prst="roundRect">
            <a:avLst>
              <a:gd name="adj" fmla="val 0"/>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699000" y="3937000"/>
            <a:ext cx="2921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2410C"/>
                </a:solidFill>
                <a:latin typeface="微软雅黑"/>
                <a:ea typeface="微软雅黑"/>
                <a:cs typeface="微软雅黑"/>
                <a:sym typeface="微软雅黑"/>
              </a:rPr>
              <a:t>第 6 周：测试与优化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 执行单元、集成与系统全流程测试</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修复系统Bug与缺陷，优化性能</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界面细节优化与用户体验提升</a:t>
            </a:r>
          </a:p>
        </p:txBody>
      </p:sp>
      <p:sp>
        <p:nvSpPr>
          <p:cNvPr name="AutoShape 16" id="16"/>
          <p:cNvSpPr/>
          <p:nvPr/>
        </p:nvSpPr>
        <p:spPr>
          <a:xfrm rot="0" flipH="false" flipV="false">
            <a:off x="8001000" y="3810000"/>
            <a:ext cx="3175000" cy="2032000"/>
          </a:xfrm>
          <a:prstGeom prst="roundRect">
            <a:avLst>
              <a:gd name="adj" fmla="val 0"/>
            </a:avLst>
          </a:prstGeom>
          <a:solidFill>
            <a:srgbClr val="FAF5FF">
              <a:alpha val="100000"/>
            </a:srgbClr>
          </a:solidFill>
          <a:ln w="12700" cmpd="sng" cap="flat">
            <a:solidFill>
              <a:srgbClr val="E9D5FF">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3937000"/>
            <a:ext cx="2921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7E22CE"/>
                </a:solidFill>
                <a:latin typeface="微软雅黑"/>
                <a:ea typeface="微软雅黑"/>
                <a:cs typeface="微软雅黑"/>
                <a:sym typeface="微软雅黑"/>
              </a:rPr>
              <a:t>第 7 周：交付与答辩</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34155"/>
                </a:solidFill>
                <a:latin typeface="Noto Sans SC"/>
                <a:ea typeface="Noto Sans SC"/>
                <a:cs typeface="Noto Sans SC"/>
                <a:sym typeface="Noto Sans SC"/>
              </a:rPr>
              <a:t>• 完善技术文档与用户使用手册</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准备最终汇报PPT并进行演练</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34155"/>
                </a:solidFill>
                <a:latin typeface="Noto Sans SC"/>
                <a:ea typeface="Noto Sans SC"/>
                <a:cs typeface="Noto Sans SC"/>
                <a:sym typeface="Noto Sans SC"/>
              </a:rPr>
              <a:t>• 项目验收提交与成果答辩</a:t>
            </a:r>
          </a:p>
        </p:txBody>
      </p:sp>
      <p:sp>
        <p:nvSpPr>
          <p:cNvPr name="AutoShape 18" id="18"/>
          <p:cNvSpPr/>
          <p:nvPr/>
        </p:nvSpPr>
        <p:spPr>
          <a:xfrm rot="0" flipH="false" flipV="false">
            <a:off x="0" y="60325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64748B"/>
                </a:solidFill>
                <a:latin typeface="微软雅黑"/>
                <a:ea typeface="微软雅黑"/>
                <a:cs typeface="微软雅黑"/>
                <a:sym typeface="微软雅黑"/>
              </a:rPr>
              <a:t>“周密的计划是项目成功的基石，每一步稳扎稳打，确保高质量交付”</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27000"/>
            <a:ext cx="10414000" cy="660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三、项目实施过程 / （二）需求分析</a:t>
            </a:r>
            <a:endParaRPr lang="en-US" sz="1100"/>
          </a:p>
        </p:txBody>
      </p:sp>
      <p:sp>
        <p:nvSpPr>
          <p:cNvPr name="AutoShape 4" id="4"/>
          <p:cNvSpPr/>
          <p:nvPr/>
        </p:nvSpPr>
        <p:spPr>
          <a:xfrm rot="0" flipH="false" flipV="false">
            <a:off x="901700" y="1397000"/>
            <a:ext cx="3302000" cy="4699000"/>
          </a:xfrm>
          <a:prstGeom prst="roundRect">
            <a:avLst>
              <a:gd name="adj" fmla="val 3076"/>
            </a:avLst>
          </a:prstGeom>
          <a:solidFill>
            <a:srgbClr val="F0F7FB">
              <a:alpha val="100000"/>
            </a:srgbClr>
          </a:solidFill>
          <a:ln w="12700" cmpd="sng" cap="flat">
            <a:solidFill>
              <a:srgbClr val="006699">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55700" y="1778000"/>
            <a:ext cx="609600" cy="609600"/>
          </a:xfrm>
          <a:prstGeom prst="rect">
            <a:avLst/>
          </a:prstGeom>
        </p:spPr>
      </p:pic>
      <p:sp>
        <p:nvSpPr>
          <p:cNvPr name="AutoShape 6" id="6"/>
          <p:cNvSpPr/>
          <p:nvPr/>
        </p:nvSpPr>
        <p:spPr>
          <a:xfrm rot="0" flipH="false" flipV="false">
            <a:off x="1905000" y="17780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2060"/>
                </a:solidFill>
                <a:latin typeface="微软雅黑"/>
                <a:ea typeface="微软雅黑"/>
                <a:cs typeface="微软雅黑"/>
                <a:sym typeface="微软雅黑"/>
              </a:rPr>
              <a:t>功能需求</a:t>
            </a:r>
            <a:endParaRPr lang="en-US" sz="1100"/>
          </a:p>
        </p:txBody>
      </p:sp>
      <p:sp>
        <p:nvSpPr>
          <p:cNvPr name="AutoShape 7" id="7"/>
          <p:cNvSpPr/>
          <p:nvPr/>
        </p:nvSpPr>
        <p:spPr>
          <a:xfrm rot="0" flipH="false" flipV="false">
            <a:off x="1155700" y="2794000"/>
            <a:ext cx="2794000" cy="279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明确了系统的六大核心功能模块及具体的功能点，涵盖用户全生命周期及社区互动场景：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000"/>
              </a:spcBef>
            </a:pPr>
            <a:r>
              <a:rPr lang="en-US" b="false" i="false" strike="noStrike" u="none" sz="1300">
                <a:solidFill>
                  <a:srgbClr val="4B5563"/>
                </a:solidFill>
                <a:latin typeface="Noto Sans SC"/>
                <a:ea typeface="Noto Sans SC"/>
                <a:cs typeface="Noto Sans SC"/>
                <a:sym typeface="Noto Sans SC"/>
              </a:rPr>
              <a:t>• 用户管理 • 互助求助</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失物招领 • 闲置交换</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建议反馈 • 后台管理</a:t>
            </a:r>
          </a:p>
        </p:txBody>
      </p:sp>
      <p:sp>
        <p:nvSpPr>
          <p:cNvPr name="AutoShape 8" id="8"/>
          <p:cNvSpPr/>
          <p:nvPr/>
        </p:nvSpPr>
        <p:spPr>
          <a:xfrm rot="0" flipH="false" flipV="false">
            <a:off x="4445000" y="1397000"/>
            <a:ext cx="3302000" cy="4699000"/>
          </a:xfrm>
          <a:prstGeom prst="roundRect">
            <a:avLst>
              <a:gd name="adj" fmla="val 3076"/>
            </a:avLst>
          </a:prstGeom>
          <a:solidFill>
            <a:srgbClr val="F0F7FB">
              <a:alpha val="100000"/>
            </a:srgbClr>
          </a:solidFill>
          <a:ln w="12700" cmpd="sng" cap="flat">
            <a:solidFill>
              <a:srgbClr val="006699">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1778000"/>
            <a:ext cx="609600" cy="609600"/>
          </a:xfrm>
          <a:prstGeom prst="rect">
            <a:avLst/>
          </a:prstGeom>
        </p:spPr>
      </p:pic>
      <p:sp>
        <p:nvSpPr>
          <p:cNvPr name="AutoShape 10" id="10"/>
          <p:cNvSpPr/>
          <p:nvPr/>
        </p:nvSpPr>
        <p:spPr>
          <a:xfrm rot="0" flipH="false" flipV="false">
            <a:off x="5461000" y="17780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2060"/>
                </a:solidFill>
                <a:latin typeface="微软雅黑"/>
                <a:ea typeface="微软雅黑"/>
                <a:cs typeface="微软雅黑"/>
                <a:sym typeface="微软雅黑"/>
              </a:rPr>
              <a:t>核心业务流程</a:t>
            </a:r>
            <a:endParaRPr lang="en-US" sz="1100"/>
          </a:p>
        </p:txBody>
      </p:sp>
      <p:sp>
        <p:nvSpPr>
          <p:cNvPr name="AutoShape 11" id="11"/>
          <p:cNvSpPr/>
          <p:nvPr/>
        </p:nvSpPr>
        <p:spPr>
          <a:xfrm rot="0" flipH="false" flipV="false">
            <a:off x="4699000" y="2794000"/>
            <a:ext cx="2794000" cy="279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以用户体验为中心，梳理并设计了从“登录系统”到“完成互动”的全链路闭环业务流程。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500"/>
              </a:spcBef>
            </a:pPr>
            <a:r>
              <a:rPr lang="en-US" b="false" i="false" strike="noStrike" u="none" sz="1300">
                <a:solidFill>
                  <a:srgbClr val="4B5563"/>
                </a:solidFill>
                <a:latin typeface="Noto Sans SC"/>
                <a:ea typeface="Noto Sans SC"/>
                <a:cs typeface="Noto Sans SC"/>
                <a:sym typeface="Noto Sans SC"/>
              </a:rPr>
              <a:t>设计原则：</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确保所有高频核心操作逻辑简洁、路径清晰，实现</a:t>
            </a:r>
            <a:r>
              <a:rPr lang="en-US" b="true" i="false" strike="noStrike" u="none" sz="1300">
                <a:solidFill>
                  <a:srgbClr val="4B5563"/>
                </a:solidFill>
                <a:latin typeface="Noto Sans SC"/>
                <a:ea typeface="Noto Sans SC"/>
                <a:cs typeface="Noto Sans SC"/>
                <a:sym typeface="Noto Sans SC"/>
              </a:rPr>
              <a:t>“三步内”完成关键交互</a:t>
            </a:r>
            <a:r>
              <a:rPr lang="en-US" b="false" i="false" strike="noStrike" u="none" sz="1300">
                <a:solidFill>
                  <a:srgbClr val="4B5563"/>
                </a:solidFill>
                <a:latin typeface="Noto Sans SC"/>
                <a:ea typeface="Noto Sans SC"/>
                <a:cs typeface="Noto Sans SC"/>
                <a:sym typeface="Noto Sans SC"/>
              </a:rPr>
              <a:t>，降低用户使用门槛。</a:t>
            </a:r>
          </a:p>
        </p:txBody>
      </p:sp>
      <p:sp>
        <p:nvSpPr>
          <p:cNvPr name="AutoShape 12" id="12"/>
          <p:cNvSpPr/>
          <p:nvPr/>
        </p:nvSpPr>
        <p:spPr>
          <a:xfrm rot="0" flipH="false" flipV="false">
            <a:off x="7988300" y="1397000"/>
            <a:ext cx="3302000" cy="4699000"/>
          </a:xfrm>
          <a:prstGeom prst="roundRect">
            <a:avLst>
              <a:gd name="adj" fmla="val 3076"/>
            </a:avLst>
          </a:prstGeom>
          <a:solidFill>
            <a:srgbClr val="F0F7FB">
              <a:alpha val="100000"/>
            </a:srgbClr>
          </a:solidFill>
          <a:ln w="12700" cmpd="sng" cap="flat">
            <a:solidFill>
              <a:srgbClr val="006699">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42300" y="1778000"/>
            <a:ext cx="609600" cy="609600"/>
          </a:xfrm>
          <a:prstGeom prst="rect">
            <a:avLst/>
          </a:prstGeom>
        </p:spPr>
      </p:pic>
      <p:sp>
        <p:nvSpPr>
          <p:cNvPr name="AutoShape 14" id="14"/>
          <p:cNvSpPr/>
          <p:nvPr/>
        </p:nvSpPr>
        <p:spPr>
          <a:xfrm rot="0" flipH="false" flipV="false">
            <a:off x="9017000" y="17780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02060"/>
                </a:solidFill>
                <a:latin typeface="微软雅黑"/>
                <a:ea typeface="微软雅黑"/>
                <a:cs typeface="微软雅黑"/>
                <a:sym typeface="微软雅黑"/>
              </a:rPr>
              <a:t>非功能需求</a:t>
            </a:r>
            <a:endParaRPr lang="en-US" sz="1100"/>
          </a:p>
        </p:txBody>
      </p:sp>
      <p:sp>
        <p:nvSpPr>
          <p:cNvPr name="AutoShape 15" id="15"/>
          <p:cNvSpPr/>
          <p:nvPr/>
        </p:nvSpPr>
        <p:spPr>
          <a:xfrm rot="0" flipH="false" flipV="false">
            <a:off x="8242300" y="2794000"/>
            <a:ext cx="2794000" cy="279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对系统性能、用户体验及安全稳定运行提出明确量化指标，保障系统质量。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500"/>
              </a:spcBef>
            </a:pPr>
            <a:r>
              <a:rPr lang="en-US" b="false" i="false" strike="noStrike" u="none" sz="1300">
                <a:solidFill>
                  <a:srgbClr val="4B5563"/>
                </a:solidFill>
                <a:latin typeface="Noto Sans SC"/>
                <a:ea typeface="Noto Sans SC"/>
                <a:cs typeface="Noto Sans SC"/>
                <a:sym typeface="Noto Sans SC"/>
              </a:rPr>
              <a:t>关键指标要求：</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页面加载响应时间 &lt; 3秒</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界面美观友好，操作逻辑符合直觉</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保障数据传输与存储的安全性与稳定性</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905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（三）系统设计</a:t>
            </a:r>
            <a:endParaRPr lang="en-US" sz="1100"/>
          </a:p>
        </p:txBody>
      </p:sp>
      <p:sp>
        <p:nvSpPr>
          <p:cNvPr name="AutoShape 4" id="4"/>
          <p:cNvSpPr/>
          <p:nvPr/>
        </p:nvSpPr>
        <p:spPr>
          <a:xfrm rot="0" flipH="false" flipV="false">
            <a:off x="901700" y="1397000"/>
            <a:ext cx="5143500" cy="2413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55700" y="1651000"/>
            <a:ext cx="4635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01 / 功能结构设计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将系统划分为六大独立模块，确保各模块功能内聚、数据互通，既保证功能独立性，也兼顾整体数据流转的一致性与高效性。</a:t>
            </a:r>
          </a:p>
        </p:txBody>
      </p:sp>
      <p:sp>
        <p:nvSpPr>
          <p:cNvPr name="AutoShape 6" id="6"/>
          <p:cNvSpPr/>
          <p:nvPr/>
        </p:nvSpPr>
        <p:spPr>
          <a:xfrm rot="0" flipH="false" flipV="false">
            <a:off x="6223000" y="1397000"/>
            <a:ext cx="5143500" cy="2413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77000" y="1651000"/>
            <a:ext cx="4635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02 / 业务流程设计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重点梳理并设计了“互助”、“失物招领”、“闲置流转”三大核心业务流程，确保每个流程逻辑闭环、操作清晰且风险可控，提升用户使用体验。</a:t>
            </a:r>
          </a:p>
        </p:txBody>
      </p:sp>
      <p:sp>
        <p:nvSpPr>
          <p:cNvPr name="AutoShape 8" id="8"/>
          <p:cNvSpPr/>
          <p:nvPr/>
        </p:nvSpPr>
        <p:spPr>
          <a:xfrm rot="0" flipH="false" flipV="false">
            <a:off x="901700" y="4064000"/>
            <a:ext cx="5143500" cy="2413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55700" y="4318000"/>
            <a:ext cx="4635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03 / 数据结构设计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针对应用特性，采用本地对象数组来存储用户信息、求助记录及失物信息等核心数据，结构清晰易维护，能高效支撑前端页面渲染与数据调用。</a:t>
            </a:r>
          </a:p>
        </p:txBody>
      </p:sp>
      <p:sp>
        <p:nvSpPr>
          <p:cNvPr name="AutoShape 10" id="10"/>
          <p:cNvSpPr/>
          <p:nvPr/>
        </p:nvSpPr>
        <p:spPr>
          <a:xfrm rot="0" flipH="false" flipV="false">
            <a:off x="6223000" y="4064000"/>
            <a:ext cx="5143500" cy="2413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4318000"/>
            <a:ext cx="4635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000">
                <a:solidFill>
                  <a:srgbClr val="002060"/>
                </a:solidFill>
                <a:latin typeface="微软雅黑"/>
                <a:ea typeface="微软雅黑"/>
                <a:cs typeface="微软雅黑"/>
                <a:sym typeface="微软雅黑"/>
              </a:rPr>
              <a:t>04 / 界面布局设计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400">
                <a:solidFill>
                  <a:srgbClr val="374151"/>
                </a:solidFill>
                <a:latin typeface="Noto Sans SC"/>
                <a:ea typeface="Noto Sans SC"/>
                <a:cs typeface="Noto Sans SC"/>
                <a:sym typeface="Noto Sans SC"/>
              </a:rPr>
              <a:t>采用经典的“顶部导航栏 + 中部内容区”的布局结构，符合用户的使用习惯。同时，界面适配了多端显示场景，保证在不同设备上都有一致的视觉体验。</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6350000" cy="647700"/>
          </a:xfrm>
          <a:prstGeom prst="rect">
            <a:avLst/>
          </a:prstGeom>
          <a:noFill/>
          <a:ln w="12700" cmpd="sng" cap="flat">
            <a:noFill/>
            <a:prstDash val="solid"/>
            <a:round/>
          </a:ln>
        </p:spPr>
        <p:txBody>
          <a:bodyPr anchor="ctr" rtlCol="false" anchorCtr="false" vert="horz" wrap="squar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四、项目分工与完成情况</a:t>
            </a:r>
            <a:endParaRPr lang="en-US" sz="1100"/>
          </a:p>
        </p:txBody>
      </p:sp>
      <p:sp>
        <p:nvSpPr>
          <p:cNvPr name="AutoShape 5" id="5"/>
          <p:cNvSpPr/>
          <p:nvPr/>
        </p:nvSpPr>
        <p:spPr>
          <a:xfrm rot="0" flipH="false" flipV="false">
            <a:off x="901700" y="1524000"/>
            <a:ext cx="10388600" cy="1016000"/>
          </a:xfrm>
          <a:prstGeom prst="rect">
            <a:avLst/>
          </a:prstGeom>
          <a:noFill/>
          <a:ln w="12700" cmpd="sng" cap="flat">
            <a:noFill/>
            <a:prstDash val="solid"/>
            <a:round/>
          </a:ln>
        </p:spPr>
        <p:txBody>
          <a:bodyPr anchor="t" rtlCol="false" anchorCtr="false" vert="horz" wrap="square" lIns="88900" rIns="88900" tIns="127000" bIns="127000"/>
          <a:lstStyle/>
          <a:p>
            <a:pPr algn="l" indent="0">
              <a:lnSpc>
                <a:spcPct val="125000"/>
              </a:lnSpc>
              <a:defRPr/>
            </a:pPr>
            <a:r>
              <a:rPr lang="en-US" b="false" i="false" strike="noStrike" u="none" sz="2200">
                <a:solidFill>
                  <a:srgbClr val="333333"/>
                </a:solidFill>
                <a:latin typeface="Songti SC"/>
                <a:ea typeface="Songti SC"/>
                <a:cs typeface="Songti SC"/>
                <a:sym typeface="Songti SC"/>
              </a:rPr>
              <a:t>本部分将详细阐述团队成员在项目各阶段的职责分配与协作模式，并展示项目核心任务的完成进度、关键成果及验收情况，体现高效协作带来的价值。</a:t>
            </a:r>
            <a:endParaRPr lang="en-US" sz="1100"/>
          </a:p>
        </p:txBody>
      </p:sp>
      <p:sp>
        <p:nvSpPr>
          <p:cNvPr name="AutoShape 6" id="6"/>
          <p:cNvSpPr/>
          <p:nvPr/>
        </p:nvSpPr>
        <p:spPr>
          <a:xfrm rot="0" flipH="false" flipV="false">
            <a:off x="914400" y="3048000"/>
            <a:ext cx="5080000" cy="2286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68400" y="3302000"/>
            <a:ext cx="609600" cy="609600"/>
          </a:xfrm>
          <a:prstGeom prst="rect">
            <a:avLst/>
          </a:prstGeom>
        </p:spPr>
      </p:pic>
      <p:sp>
        <p:nvSpPr>
          <p:cNvPr name="AutoShape 8" id="8"/>
          <p:cNvSpPr/>
          <p:nvPr/>
        </p:nvSpPr>
        <p:spPr>
          <a:xfrm rot="0" flipH="false" flipV="false">
            <a:off x="2032000" y="3302000"/>
            <a:ext cx="3683000" cy="1778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800">
                <a:solidFill>
                  <a:srgbClr val="00528A"/>
                </a:solidFill>
                <a:latin typeface="Noto Sans SC"/>
                <a:ea typeface="Noto Sans SC"/>
                <a:cs typeface="Noto Sans SC"/>
                <a:sym typeface="Noto Sans SC"/>
              </a:rPr>
              <a:t>精细分工，高效协作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依据成员专业特长与项目需求，将团队划分为策划组、执行组与保障组。明确各小组核心职责边界与协作流程，确保任务执行有序衔接，形成了“1+1+1&gt;3”的团队合力。</a:t>
            </a:r>
          </a:p>
        </p:txBody>
      </p:sp>
      <p:sp>
        <p:nvSpPr>
          <p:cNvPr name="AutoShape 9" id="9"/>
          <p:cNvSpPr/>
          <p:nvPr/>
        </p:nvSpPr>
        <p:spPr>
          <a:xfrm rot="0" flipH="false" flipV="false">
            <a:off x="6197600" y="3048000"/>
            <a:ext cx="5080000" cy="2286000"/>
          </a:xfrm>
          <a:prstGeom prst="roundRect">
            <a:avLst>
              <a:gd name="adj" fmla="val 0"/>
            </a:avLst>
          </a:prstGeom>
          <a:solidFill>
            <a:srgbClr val="FFF7ED">
              <a:alpha val="100000"/>
            </a:srgbClr>
          </a:solidFill>
          <a:ln w="12700" cmpd="sng" cap="flat">
            <a:solidFill>
              <a:srgbClr val="FED7AA">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51600" y="3302000"/>
            <a:ext cx="609600" cy="609600"/>
          </a:xfrm>
          <a:prstGeom prst="rect">
            <a:avLst/>
          </a:prstGeom>
        </p:spPr>
      </p:pic>
      <p:sp>
        <p:nvSpPr>
          <p:cNvPr name="AutoShape 11" id="11"/>
          <p:cNvSpPr/>
          <p:nvPr/>
        </p:nvSpPr>
        <p:spPr>
          <a:xfrm rot="0" flipH="false" flipV="false">
            <a:off x="7315200" y="3302000"/>
            <a:ext cx="3683000" cy="1778000"/>
          </a:xfrm>
          <a:prstGeom prst="rect">
            <a:avLst/>
          </a:prstGeom>
          <a:noFill/>
          <a:ln w="127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800">
                <a:solidFill>
                  <a:srgbClr val="C2410C"/>
                </a:solidFill>
                <a:latin typeface="Noto Sans SC"/>
                <a:ea typeface="Noto Sans SC"/>
                <a:cs typeface="Noto Sans SC"/>
                <a:sym typeface="Noto Sans SC"/>
              </a:rPr>
              <a:t>目标导向，全面达成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505050"/>
                </a:solidFill>
                <a:latin typeface="Noto Sans SC"/>
                <a:ea typeface="Noto Sans SC"/>
                <a:cs typeface="Noto Sans SC"/>
                <a:sym typeface="Noto Sans SC"/>
              </a:rPr>
              <a:t>严格按照既定的里程碑节点推进工作，克服了多项技术与协调难题。最终，项目所有预定功能模块均已100%开发并通过测试，交付成果完全符合预期标准，实现了零延期、零返工的高质量交付。</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09600" y="152400"/>
            <a:ext cx="7620000" cy="647700"/>
          </a:xfrm>
          <a:prstGeom prst="rect">
            <a:avLst/>
          </a:prstGeom>
          <a:noFill/>
          <a:ln w="12700" cmpd="sng" cap="flat">
            <a:noFill/>
            <a:prstDash val="solid"/>
            <a:round/>
          </a:ln>
        </p:spPr>
        <p:txBody>
          <a:bodyPr anchor="ctr" rtlCol="false" anchorCtr="false" vert="horz" wrap="square" lIns="88900" rIns="88900" tIns="50800" bIns="50800"/>
          <a:lstStyle/>
          <a:p>
            <a:pPr algn="l" indent="0">
              <a:lnSpc>
                <a:spcPct val="100000"/>
              </a:lnSpc>
              <a:defRPr/>
            </a:pPr>
            <a:r>
              <a:rPr lang="en-US" b="true" i="false" strike="noStrike" u="none" sz="3200">
                <a:solidFill>
                  <a:srgbClr val="FFFFFF"/>
                </a:solidFill>
                <a:latin typeface="微软雅黑"/>
                <a:ea typeface="微软雅黑"/>
                <a:cs typeface="微软雅黑"/>
                <a:sym typeface="微软雅黑"/>
              </a:rPr>
              <a:t>四、项目分工与完成情况</a:t>
            </a:r>
            <a:endParaRPr lang="en-US" sz="1100"/>
          </a:p>
        </p:txBody>
      </p:sp>
      <p:graphicFrame>
        <p:nvGraphicFramePr>
          <p:cNvPr name="Table 4" id="4"/>
          <p:cNvGraphicFramePr>
            <a:graphicFrameLocks noGrp="true"/>
          </p:cNvGraphicFramePr>
          <p:nvPr/>
        </p:nvGraphicFramePr>
        <p:xfrm>
          <a:off x="520700" y="1206500"/>
          <a:ext cx="10985500" cy="5588000"/>
        </p:xfrm>
        <a:graphic>
          <a:graphicData uri="http://schemas.openxmlformats.org/drawingml/2006/table">
            <a:tbl>
              <a:tblPr>
                <a:effectLst/>
              </a:tblPr>
              <a:tblGrid>
                <a:gridCol w="571500"/>
                <a:gridCol w="825500"/>
                <a:gridCol w="889000"/>
                <a:gridCol w="1206500"/>
                <a:gridCol w="1143000"/>
                <a:gridCol w="2286000"/>
                <a:gridCol w="2159000"/>
                <a:gridCol w="952500"/>
                <a:gridCol w="952500"/>
              </a:tblGrid>
              <a:tr h="825500">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组号</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角色</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姓名</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学号</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班级</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任务分工</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完成任务指标</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完成度(%)</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c>
                  <a:txBody>
                    <a:bodyPr anchor="t" rtlCol="false"/>
                    <a:lstStyle/>
                    <a:p>
                      <a:pPr algn="ctr" indent="0">
                        <a:lnSpc>
                          <a:spcPct val="100000"/>
                        </a:lnSpc>
                        <a:defRPr/>
                      </a:pPr>
                      <a:r>
                        <a:rPr lang="en-US" b="true" i="false" strike="noStrike" u="none" sz="1400">
                          <a:solidFill>
                            <a:srgbClr val="1F2329"/>
                          </a:solidFill>
                          <a:latin typeface="Noto Sans SC"/>
                          <a:ea typeface="Noto Sans SC"/>
                          <a:cs typeface="Noto Sans SC"/>
                          <a:sym typeface="Noto Sans SC"/>
                        </a:rPr>
                        <a:t>贡献(%)</a:t>
                      </a:r>
                      <a:endParaRPr lang="en-US" sz="1100"/>
                    </a:p>
                  </a:txBody>
                  <a:tcPr anchor="ctr" anchorCtr="false" marL="101600" marR="101600" marT="101600" marB="101600">
                    <a:lnL>
                      <a:noFill/>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solidFill>
                      <a:srgbClr val="EBF5FF">
                        <a:alpha val="100000"/>
                      </a:srgbClr>
                    </a:solidFill>
                  </a:tcPr>
                </a:tc>
              </a:tr>
              <a:tr h="952500">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200">
                          <a:solidFill>
                            <a:srgbClr val="1F2329"/>
                          </a:solidFill>
                          <a:latin typeface="Noto Sans SC"/>
                          <a:ea typeface="Noto Sans SC"/>
                          <a:cs typeface="Noto Sans SC"/>
                          <a:sym typeface="Noto Sans SC"/>
                        </a:rPr>
                        <a:t>组长</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张佳星</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20230001</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软件工程15班</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100">
                          <a:solidFill>
                            <a:srgbClr val="1F2329"/>
                          </a:solidFill>
                          <a:latin typeface="Noto Sans SC"/>
                          <a:ea typeface="Noto Sans SC"/>
                          <a:cs typeface="Noto Sans SC"/>
                          <a:sym typeface="Noto Sans SC"/>
                        </a:rPr>
                        <a:t>项目统筹、计划制定、进度控制、风险管理、总结报告、答辩组织</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制定完整计划，确保进度，风险归零</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100%</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a:t>
                      </a:r>
                      <a:endParaRPr lang="en-US" sz="1100"/>
                    </a:p>
                  </a:txBody>
                  <a:tcPr anchor="ctr" anchorCtr="false" marL="101600" marR="101600" marT="101600" marB="101600">
                    <a:lnL>
                      <a:noFill/>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r>
              <a:tr h="952500">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200">
                          <a:solidFill>
                            <a:srgbClr val="1F2329"/>
                          </a:solidFill>
                          <a:latin typeface="Noto Sans SC"/>
                          <a:ea typeface="Noto Sans SC"/>
                          <a:cs typeface="Noto Sans SC"/>
                          <a:sym typeface="Noto Sans SC"/>
                        </a:rPr>
                        <a:t>副组长</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张春笋</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20230005</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软件工程15班</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100">
                          <a:solidFill>
                            <a:srgbClr val="1F2329"/>
                          </a:solidFill>
                          <a:latin typeface="Noto Sans SC"/>
                          <a:ea typeface="Noto Sans SC"/>
                          <a:cs typeface="Noto Sans SC"/>
                          <a:sym typeface="Noto Sans SC"/>
                        </a:rPr>
                        <a:t>需求调研、需求说明书、原型设计、范围管理、验收标准制定</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输出需求规格说明书，完成完整原型设计与确认</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100%</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a:t>
                      </a:r>
                      <a:endParaRPr lang="en-US" sz="1100"/>
                    </a:p>
                  </a:txBody>
                  <a:tcPr anchor="ctr" anchorCtr="false" marL="101600" marR="101600" marT="101600" marB="101600">
                    <a:lnL>
                      <a:noFill/>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r>
              <a:tr h="952500">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成员</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刘昕雨</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20230002</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软件工程15班</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100">
                          <a:solidFill>
                            <a:srgbClr val="1F2329"/>
                          </a:solidFill>
                          <a:latin typeface="Noto Sans SC"/>
                          <a:ea typeface="Noto Sans SC"/>
                          <a:cs typeface="Noto Sans SC"/>
                          <a:sym typeface="Noto Sans SC"/>
                        </a:rPr>
                        <a:t>前端页面开发、UI样式设计、交互逻辑实现、移动端多端适配</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完成所有页面开发，实现流畅交互，适配主流移动端设备</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100%</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a:t>
                      </a:r>
                      <a:endParaRPr lang="en-US" sz="1100"/>
                    </a:p>
                  </a:txBody>
                  <a:tcPr anchor="ctr" anchorCtr="false" marL="101600" marR="101600" marT="101600" marB="101600">
                    <a:lnL>
                      <a:noFill/>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r>
              <a:tr h="952500">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成员</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梁家旺</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20230003</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软件工程15班</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100">
                          <a:solidFill>
                            <a:srgbClr val="1F2329"/>
                          </a:solidFill>
                          <a:latin typeface="Noto Sans SC"/>
                          <a:ea typeface="Noto Sans SC"/>
                          <a:cs typeface="Noto Sans SC"/>
                          <a:sym typeface="Noto Sans SC"/>
                        </a:rPr>
                        <a:t>后端功能逻辑编写、核心数据处理、业务流程闭环、前后端接口联调</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完成所有功能逻辑开发，确保数据流转正确，接口无异常</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100%</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a:t>
                      </a:r>
                      <a:endParaRPr lang="en-US" sz="1100"/>
                    </a:p>
                  </a:txBody>
                  <a:tcPr anchor="ctr" anchorCtr="false" marL="101600" marR="101600" marT="101600" marB="101600">
                    <a:lnL>
                      <a:noFill/>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r>
              <a:tr h="952500">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成员</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张玉良</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20230004</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软件工程15班</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100">
                          <a:solidFill>
                            <a:srgbClr val="1F2329"/>
                          </a:solidFill>
                          <a:latin typeface="Noto Sans SC"/>
                          <a:ea typeface="Noto Sans SC"/>
                          <a:cs typeface="Noto Sans SC"/>
                          <a:sym typeface="Noto Sans SC"/>
                        </a:rPr>
                        <a:t>测试用例编写、系统功能测试、缺陷跟踪与管理、项目文档整理、汇报PPT制作</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输出详细测试报告，完成全套项目文档归档，PPT汇报材料</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100%</a:t>
                      </a:r>
                      <a:endParaRPr lang="en-US" sz="1100"/>
                    </a:p>
                  </a:txBody>
                  <a:tcPr anchor="ctr" anchorCtr="false" marL="101600" marR="101600" marT="101600" marB="101600">
                    <a:lnL cmpd="sng" algn="ctr" cap="flat" w="12700">
                      <a:solidFill>
                        <a:srgbClr val="B4B4B4"/>
                      </a:solidFill>
                      <a:prstDash val="solid"/>
                      <a:round/>
                      <a:headEnd type="none" w="med" len="med"/>
                      <a:tailEnd type="none" w="med" len="med"/>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20%</a:t>
                      </a:r>
                      <a:endParaRPr lang="en-US" sz="1100"/>
                    </a:p>
                  </a:txBody>
                  <a:tcPr anchor="ctr" anchorCtr="false" marL="101600" marR="101600" marT="101600" marB="101600">
                    <a:lnL>
                      <a:noFill/>
                    </a:lnL>
                    <a:lnR cmpd="sng" algn="ctr" cap="flat" w="12700">
                      <a:solidFill>
                        <a:srgbClr val="B4B4B4"/>
                      </a:solidFill>
                      <a:prstDash val="solid"/>
                      <a:round/>
                      <a:headEnd type="none" w="med" len="med"/>
                      <a:tailEnd type="none" w="med" len="med"/>
                    </a:lnR>
                    <a:lnT cmpd="sng" algn="ctr" cap="flat" w="12700">
                      <a:solidFill>
                        <a:srgbClr val="B4B4B4"/>
                      </a:solidFill>
                      <a:prstDash val="solid"/>
                      <a:round/>
                      <a:headEnd type="none" w="med" len="med"/>
                      <a:tailEnd type="none" w="med" len="med"/>
                    </a:lnT>
                    <a:lnB cmpd="sng" algn="ctr" cap="flat" w="12700">
                      <a:solidFill>
                        <a:srgbClr val="B4B4B4"/>
                      </a:solidFill>
                      <a:prstDash val="solid"/>
                      <a:round/>
                      <a:headEnd type="none" w="med" len="med"/>
                      <a:tailEnd type="none" w="med" len="med"/>
                    </a:lnB>
                    <a:noFill/>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65100"/>
            <a:ext cx="1079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微软雅黑"/>
                <a:ea typeface="微软雅黑"/>
                <a:cs typeface="微软雅黑"/>
                <a:sym typeface="微软雅黑"/>
              </a:rPr>
              <a:t>四、项目分工与完成情况</a:t>
            </a:r>
            <a:endParaRPr lang="en-US" sz="1100"/>
          </a:p>
        </p:txBody>
      </p:sp>
      <p:sp>
        <p:nvSpPr>
          <p:cNvPr name="AutoShape 4" id="4"/>
          <p:cNvSpPr/>
          <p:nvPr/>
        </p:nvSpPr>
        <p:spPr>
          <a:xfrm rot="0" flipH="false" flipV="false">
            <a:off x="901700" y="1270000"/>
            <a:ext cx="103886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2060"/>
                </a:solidFill>
                <a:latin typeface="微软雅黑"/>
                <a:ea typeface="微软雅黑"/>
                <a:cs typeface="微软雅黑"/>
                <a:sym typeface="微软雅黑"/>
              </a:rPr>
              <a:t>（一）项目整体完成情况</a:t>
            </a:r>
            <a:endParaRPr lang="en-US" sz="1100"/>
          </a:p>
        </p:txBody>
      </p:sp>
      <p:sp>
        <p:nvSpPr>
          <p:cNvPr name="AutoShape 5" id="5"/>
          <p:cNvSpPr/>
          <p:nvPr/>
        </p:nvSpPr>
        <p:spPr>
          <a:xfrm rot="0" flipH="false" flipV="false">
            <a:off x="901700" y="2159000"/>
            <a:ext cx="5194300" cy="1905000"/>
          </a:xfrm>
          <a:prstGeom prst="roundRect">
            <a:avLst>
              <a:gd name="adj" fmla="val 0"/>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155700" y="2349500"/>
            <a:ext cx="46863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E7490"/>
                </a:solidFill>
                <a:latin typeface="Noto Sans SC"/>
                <a:ea typeface="Noto Sans SC"/>
                <a:cs typeface="Noto Sans SC"/>
                <a:sym typeface="Noto Sans SC"/>
              </a:rPr>
              <a:t>▍ 功能实现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334155"/>
                </a:solidFill>
                <a:latin typeface="Noto Sans SC"/>
                <a:ea typeface="Noto Sans SC"/>
                <a:cs typeface="Noto Sans SC"/>
                <a:sym typeface="Noto Sans SC"/>
              </a:rPr>
              <a:t>所有六大功能模块均按计划顺利实现，系统各项功能运行稳定，可完整流畅地进行全流程演示。</a:t>
            </a:r>
          </a:p>
        </p:txBody>
      </p:sp>
      <p:sp>
        <p:nvSpPr>
          <p:cNvPr name="AutoShape 7" id="7"/>
          <p:cNvSpPr/>
          <p:nvPr/>
        </p:nvSpPr>
        <p:spPr>
          <a:xfrm rot="0" flipH="false" flipV="false">
            <a:off x="6223000" y="2159000"/>
            <a:ext cx="5194300" cy="1905000"/>
          </a:xfrm>
          <a:prstGeom prst="roundRect">
            <a:avLst>
              <a:gd name="adj" fmla="val 0"/>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77000" y="2349500"/>
            <a:ext cx="46863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065F46"/>
                </a:solidFill>
                <a:latin typeface="Noto Sans SC"/>
                <a:ea typeface="Noto Sans SC"/>
                <a:cs typeface="Noto Sans SC"/>
                <a:sym typeface="Noto Sans SC"/>
              </a:rPr>
              <a:t>▍ 文档交付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334155"/>
                </a:solidFill>
                <a:latin typeface="Noto Sans SC"/>
                <a:ea typeface="Noto Sans SC"/>
                <a:cs typeface="Noto Sans SC"/>
                <a:sym typeface="Noto Sans SC"/>
              </a:rPr>
              <a:t>全部项目文档均严格按照公司规范与行业标准撰写，内容详实完整，格式规范统一，已按期完成交付归档。</a:t>
            </a:r>
          </a:p>
        </p:txBody>
      </p:sp>
      <p:sp>
        <p:nvSpPr>
          <p:cNvPr name="AutoShape 9" id="9"/>
          <p:cNvSpPr/>
          <p:nvPr/>
        </p:nvSpPr>
        <p:spPr>
          <a:xfrm rot="0" flipH="false" flipV="false">
            <a:off x="901700" y="4318000"/>
            <a:ext cx="5194300" cy="1905000"/>
          </a:xfrm>
          <a:prstGeom prst="roundRect">
            <a:avLst>
              <a:gd name="adj" fmla="val 0"/>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155700" y="4508500"/>
            <a:ext cx="46863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B45309"/>
                </a:solidFill>
                <a:latin typeface="Noto Sans SC"/>
                <a:ea typeface="Noto Sans SC"/>
                <a:cs typeface="Noto Sans SC"/>
                <a:sym typeface="Noto Sans SC"/>
              </a:rPr>
              <a:t>▍ 进度控制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334155"/>
                </a:solidFill>
                <a:latin typeface="Noto Sans SC"/>
                <a:ea typeface="Noto Sans SC"/>
                <a:cs typeface="Noto Sans SC"/>
                <a:sym typeface="Noto Sans SC"/>
              </a:rPr>
              <a:t>全周期项目进度管控良好，关键里程碑均按期达成，无延期交付情况发生，且规避了所有潜在的重大风险点。</a:t>
            </a:r>
          </a:p>
        </p:txBody>
      </p:sp>
      <p:sp>
        <p:nvSpPr>
          <p:cNvPr name="AutoShape 11" id="11"/>
          <p:cNvSpPr/>
          <p:nvPr/>
        </p:nvSpPr>
        <p:spPr>
          <a:xfrm rot="0" flipH="false" flipV="false">
            <a:off x="6223000" y="4318000"/>
            <a:ext cx="5194300" cy="1905000"/>
          </a:xfrm>
          <a:prstGeom prst="roundRect">
            <a:avLst>
              <a:gd name="adj" fmla="val 0"/>
            </a:avLst>
          </a:prstGeom>
          <a:solidFill>
            <a:srgbClr val="F5F3FF">
              <a:alpha val="100000"/>
            </a:srgbClr>
          </a:solidFill>
          <a:ln w="12700" cmpd="sng" cap="flat">
            <a:solidFill>
              <a:srgbClr val="DDD6FE">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77000" y="4508500"/>
            <a:ext cx="46863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800">
                <a:solidFill>
                  <a:srgbClr val="6D28D9"/>
                </a:solidFill>
                <a:latin typeface="Noto Sans SC"/>
                <a:ea typeface="Noto Sans SC"/>
                <a:cs typeface="Noto Sans SC"/>
                <a:sym typeface="Noto Sans SC"/>
              </a:rPr>
              <a:t>▍ 团队协作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400">
                <a:solidFill>
                  <a:srgbClr val="334155"/>
                </a:solidFill>
                <a:latin typeface="Noto Sans SC"/>
                <a:ea typeface="Noto Sans SC"/>
                <a:cs typeface="Noto Sans SC"/>
                <a:sym typeface="Noto Sans SC"/>
              </a:rPr>
              <a:t>项目组内部协作机制顺畅高效，各成员职责分工明确，沟通及时，确保所有分配任务高质量完成。</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52400"/>
            <a:ext cx="6350000" cy="647700"/>
          </a:xfrm>
          <a:prstGeom prst="rect">
            <a:avLst/>
          </a:prstGeom>
          <a:noFill/>
          <a:ln w="12700" cmpd="sng" cap="flat">
            <a:noFill/>
            <a:prstDash val="solid"/>
            <a:round/>
          </a:ln>
        </p:spPr>
        <p:txBody>
          <a:bodyPr anchor="t" rtlCol="false" anchorCtr="false" vert="horz" wrap="squar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五、课程设计体会与收获</a:t>
            </a:r>
            <a:endParaRPr lang="en-US" sz="1100"/>
          </a:p>
        </p:txBody>
      </p:sp>
      <p:sp>
        <p:nvSpPr>
          <p:cNvPr name="AutoShape 5" id="5"/>
          <p:cNvSpPr/>
          <p:nvPr/>
        </p:nvSpPr>
        <p:spPr>
          <a:xfrm rot="0" flipH="false" flipV="false">
            <a:off x="901700" y="1778000"/>
            <a:ext cx="10363200" cy="3810000"/>
          </a:xfrm>
          <a:prstGeom prst="rect">
            <a:avLst/>
          </a:prstGeom>
          <a:noFill/>
          <a:ln w="12700" cmpd="sng" cap="flat">
            <a:noFill/>
            <a:prstDash val="solid"/>
            <a:round/>
          </a:ln>
        </p:spPr>
        <p:txBody>
          <a:bodyPr anchor="t" rtlCol="false" anchorCtr="false" vert="horz" wrap="square" lIns="127000" rIns="127000" tIns="254000" bIns="254000"/>
          <a:lstStyle/>
          <a:p>
            <a:pPr algn="l" indent="0">
              <a:lnSpc>
                <a:spcPct val="133333"/>
              </a:lnSpc>
              <a:defRPr/>
            </a:pPr>
            <a:r>
              <a:rPr lang="en-US" b="false" i="false" strike="noStrike" u="none" sz="1800">
                <a:solidFill>
                  <a:srgbClr val="333333"/>
                </a:solidFill>
                <a:latin typeface="Songti SC"/>
                <a:ea typeface="Songti SC"/>
                <a:cs typeface="Songti SC"/>
                <a:sym typeface="Songti SC"/>
              </a:rPr>
              <a:t>经过本次课程设计，我们不仅在专业知识层面有了显著提升，更在综合能力和团队协作方面收获了宝贵经验。</a:t>
            </a:r>
            <a:r>
              <a:rPr lang="en-US" b="false" i="false" strike="noStrike" u="none" sz="1800">
                <a:solidFill>
                  <a:srgbClr val="1F2329"/>
                </a:solidFill>
                <a:latin typeface="Songti SC"/>
                <a:ea typeface="Songti SC"/>
                <a:cs typeface="Songti SC"/>
                <a:sym typeface="Songti SC"/>
              </a:rPr>
              <a:t/>
            </a:r>
            <a:endParaRPr lang="en-US" sz="1100"/>
          </a:p>
          <a:p>
            <a:pPr algn="l" indent="0">
              <a:lnSpc>
                <a:spcPct val="133333"/>
              </a:lnSpc>
              <a:spcBef>
                <a:spcPts val="2000"/>
              </a:spcBef>
            </a:pPr>
            <a:r>
              <a:rPr lang="en-US" b="true" i="false" strike="noStrike" u="none" sz="1800">
                <a:solidFill>
                  <a:srgbClr val="006699"/>
                </a:solidFill>
                <a:latin typeface="Songti SC"/>
                <a:ea typeface="Songti SC"/>
                <a:cs typeface="Songti SC"/>
                <a:sym typeface="Songti SC"/>
              </a:rPr>
              <a:t>1. 专业能力的深化：</a:t>
            </a:r>
            <a:r>
              <a:rPr lang="en-US" b="false" i="false" strike="noStrike" u="none" sz="1800">
                <a:solidFill>
                  <a:srgbClr val="333333"/>
                </a:solidFill>
                <a:latin typeface="Songti SC"/>
                <a:ea typeface="Songti SC"/>
                <a:cs typeface="Songti SC"/>
                <a:sym typeface="Songti SC"/>
              </a:rPr>
              <a:t>将课堂上抽象的理论知识成功转化为了可落地的实践方案，真正做到了学以致用。在解决复杂问题的过程中，我们对专业知识的理解更加透彻，动手能力和逻辑思维能力也得到了切实锻炼。</a:t>
            </a:r>
            <a:r>
              <a:rPr lang="en-US" b="false" i="false" strike="noStrike" u="none" sz="1800">
                <a:solidFill>
                  <a:srgbClr val="1F2329"/>
                </a:solidFill>
                <a:latin typeface="Songti SC"/>
                <a:ea typeface="Songti SC"/>
                <a:cs typeface="Songti SC"/>
                <a:sym typeface="Songti SC"/>
              </a:rPr>
              <a:t/>
            </a:r>
          </a:p>
          <a:p>
            <a:pPr algn="l" indent="0">
              <a:lnSpc>
                <a:spcPct val="133333"/>
              </a:lnSpc>
              <a:spcBef>
                <a:spcPts val="2000"/>
              </a:spcBef>
            </a:pPr>
            <a:r>
              <a:rPr lang="en-US" b="true" i="false" strike="noStrike" u="none" sz="1800">
                <a:solidFill>
                  <a:srgbClr val="006699"/>
                </a:solidFill>
                <a:latin typeface="Songti SC"/>
                <a:ea typeface="Songti SC"/>
                <a:cs typeface="Songti SC"/>
                <a:sym typeface="Songti SC"/>
              </a:rPr>
              <a:t>2. 协作与沟通的成长：</a:t>
            </a:r>
            <a:r>
              <a:rPr lang="en-US" b="false" i="false" strike="noStrike" u="none" sz="1800">
                <a:solidFill>
                  <a:srgbClr val="333333"/>
                </a:solidFill>
                <a:latin typeface="Songti SC"/>
                <a:ea typeface="Songti SC"/>
                <a:cs typeface="Songti SC"/>
                <a:sym typeface="Songti SC"/>
              </a:rPr>
              <a:t>在团队项目推进中，我们学会了如何高效分工、有效沟通，以及如何求同存异、协同攻坚。这让我们深刻体会到，一个人的力量是有限的，团队合作才能发挥出最大效能。</a:t>
            </a:r>
            <a:r>
              <a:rPr lang="en-US" b="false" i="false" strike="noStrike" u="none" sz="1800">
                <a:solidFill>
                  <a:srgbClr val="1F2329"/>
                </a:solidFill>
                <a:latin typeface="Songti SC"/>
                <a:ea typeface="Songti SC"/>
                <a:cs typeface="Songti SC"/>
                <a:sym typeface="Songti SC"/>
              </a:rPr>
              <a:t/>
            </a:r>
          </a:p>
          <a:p>
            <a:pPr algn="l" indent="0">
              <a:lnSpc>
                <a:spcPct val="133333"/>
              </a:lnSpc>
              <a:spcBef>
                <a:spcPts val="2000"/>
              </a:spcBef>
            </a:pPr>
            <a:r>
              <a:rPr lang="en-US" b="true" i="false" strike="noStrike" u="none" sz="1800">
                <a:solidFill>
                  <a:srgbClr val="006699"/>
                </a:solidFill>
                <a:latin typeface="Songti SC"/>
                <a:ea typeface="Songti SC"/>
                <a:cs typeface="Songti SC"/>
                <a:sym typeface="Songti SC"/>
              </a:rPr>
              <a:t>3. 抗压与解决问题的心态：</a:t>
            </a:r>
            <a:r>
              <a:rPr lang="en-US" b="false" i="false" strike="noStrike" u="none" sz="1800">
                <a:solidFill>
                  <a:srgbClr val="333333"/>
                </a:solidFill>
                <a:latin typeface="Songti SC"/>
                <a:ea typeface="Songti SC"/>
                <a:cs typeface="Songti SC"/>
                <a:sym typeface="Songti SC"/>
              </a:rPr>
              <a:t>面对技术难题和时间压力，我们没有选择退缩，而是积极查阅资料、请教老师和同学，在不断试错和改进中找到了解决办法，这培养了我们从容面对挑战、坚持不懈的良好心态。</a:t>
            </a:r>
            <a:r>
              <a:rPr lang="en-US" b="false" i="false" strike="noStrike" u="none" sz="1800">
                <a:solidFill>
                  <a:srgbClr val="1F2329"/>
                </a:solidFill>
                <a:latin typeface="Songti SC"/>
                <a:ea typeface="Songti SC"/>
                <a:cs typeface="Songti SC"/>
                <a:sym typeface="Songti SC"/>
              </a:rPr>
              <a:t/>
            </a:r>
          </a:p>
          <a:p>
            <a:pPr algn="l" indent="0">
              <a:lnSpc>
                <a:spcPct val="133333"/>
              </a:lnSpc>
              <a:spcBef>
                <a:spcPts val="2000"/>
              </a:spcBef>
            </a:pPr>
            <a:r>
              <a:rPr lang="en-US" b="false" i="false" strike="noStrike" u="none" sz="1800">
                <a:solidFill>
                  <a:srgbClr val="333333"/>
                </a:solidFill>
                <a:latin typeface="Songti SC"/>
                <a:ea typeface="Songti SC"/>
                <a:cs typeface="Songti SC"/>
                <a:sym typeface="Songti SC"/>
              </a:rPr>
              <a:t>总而言之，这次课程设计是一次非常宝贵的学习经历，它不仅为我们的课程学习画上了句号，更为我们未来的职业发展打下了坚实基础。</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01700" y="1651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微软雅黑"/>
                <a:ea typeface="微软雅黑"/>
                <a:cs typeface="微软雅黑"/>
                <a:sym typeface="微软雅黑"/>
              </a:rPr>
              <a:t>五、课程设计体会与收获</a:t>
            </a:r>
            <a:endParaRPr lang="en-US" sz="1100"/>
          </a:p>
        </p:txBody>
      </p:sp>
      <p:sp>
        <p:nvSpPr>
          <p:cNvPr name="AutoShape 4" id="4"/>
          <p:cNvSpPr/>
          <p:nvPr/>
        </p:nvSpPr>
        <p:spPr>
          <a:xfrm rot="0" flipH="false" flipV="false">
            <a:off x="901700" y="1397000"/>
            <a:ext cx="103886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002060"/>
                </a:solidFill>
                <a:latin typeface="微软雅黑"/>
                <a:ea typeface="微软雅黑"/>
                <a:cs typeface="微软雅黑"/>
                <a:sym typeface="微软雅黑"/>
              </a:rPr>
              <a:t>（一）团队收获：协作与成长</a:t>
            </a:r>
            <a:endParaRPr lang="en-US" sz="1100"/>
          </a:p>
        </p:txBody>
      </p:sp>
      <p:sp>
        <p:nvSpPr>
          <p:cNvPr name="AutoShape 5" id="5"/>
          <p:cNvSpPr/>
          <p:nvPr/>
        </p:nvSpPr>
        <p:spPr>
          <a:xfrm rot="0" flipH="false" flipV="false">
            <a:off x="901700" y="2413000"/>
            <a:ext cx="3302000" cy="1778000"/>
          </a:xfrm>
          <a:prstGeom prst="roundRect">
            <a:avLst>
              <a:gd name="adj" fmla="val 7142"/>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92200" y="2603500"/>
            <a:ext cx="2921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C4A6E"/>
                </a:solidFill>
                <a:latin typeface="微软雅黑"/>
                <a:ea typeface="微软雅黑"/>
                <a:cs typeface="微软雅黑"/>
                <a:sym typeface="微软雅黑"/>
              </a:rPr>
              <a:t>✨ 高效沟通</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通过每日站会及时同步进度、暴露问题，打破信息壁垒，保证了团队内部信息畅通无阻。</a:t>
            </a:r>
          </a:p>
        </p:txBody>
      </p:sp>
      <p:sp>
        <p:nvSpPr>
          <p:cNvPr name="AutoShape 7" id="7"/>
          <p:cNvSpPr/>
          <p:nvPr/>
        </p:nvSpPr>
        <p:spPr>
          <a:xfrm rot="0" flipH="false" flipV="false">
            <a:off x="4445000" y="2413000"/>
            <a:ext cx="3302000" cy="1778000"/>
          </a:xfrm>
          <a:prstGeom prst="roundRect">
            <a:avLst>
              <a:gd name="adj" fmla="val 7142"/>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635500" y="2603500"/>
            <a:ext cx="2921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C4A6E"/>
                </a:solidFill>
                <a:latin typeface="微软雅黑"/>
                <a:ea typeface="微软雅黑"/>
                <a:cs typeface="微软雅黑"/>
                <a:sym typeface="微软雅黑"/>
              </a:rPr>
              <a:t>🎯 明确分工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根据成员优势合理分配任务，做到责任清晰，人尽其才，显著提高了整体工作效率与产出质量。</a:t>
            </a:r>
          </a:p>
        </p:txBody>
      </p:sp>
      <p:sp>
        <p:nvSpPr>
          <p:cNvPr name="AutoShape 9" id="9"/>
          <p:cNvSpPr/>
          <p:nvPr/>
        </p:nvSpPr>
        <p:spPr>
          <a:xfrm rot="0" flipH="false" flipV="false">
            <a:off x="8001000" y="2413000"/>
            <a:ext cx="3302000" cy="1778000"/>
          </a:xfrm>
          <a:prstGeom prst="roundRect">
            <a:avLst>
              <a:gd name="adj" fmla="val 7142"/>
            </a:avLst>
          </a:prstGeom>
          <a:solidFill>
            <a:srgbClr val="F0F9FF">
              <a:alpha val="100000"/>
            </a:srgbClr>
          </a:solidFill>
          <a:ln w="12700" cmpd="sng" cap="flat">
            <a:solidFill>
              <a:srgbClr val="BAE6FD">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191500" y="2603500"/>
            <a:ext cx="2921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C4A6E"/>
                </a:solidFill>
                <a:latin typeface="微软雅黑"/>
                <a:ea typeface="微软雅黑"/>
                <a:cs typeface="微软雅黑"/>
                <a:sym typeface="微软雅黑"/>
              </a:rPr>
              <a:t>🤝 互相帮助</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在遇到技术难题或进度瓶颈时，团队成员能够主动伸出援手，相互支持，快速攻克难关。</a:t>
            </a:r>
          </a:p>
        </p:txBody>
      </p:sp>
      <p:sp>
        <p:nvSpPr>
          <p:cNvPr name="AutoShape 11" id="11"/>
          <p:cNvSpPr/>
          <p:nvPr/>
        </p:nvSpPr>
        <p:spPr>
          <a:xfrm rot="0" flipH="false" flipV="false">
            <a:off x="901700" y="4445000"/>
            <a:ext cx="5207000" cy="1778000"/>
          </a:xfrm>
          <a:prstGeom prst="roundRect">
            <a:avLst>
              <a:gd name="adj" fmla="val 7142"/>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155700" y="46355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92400E"/>
                </a:solidFill>
                <a:latin typeface="微软雅黑"/>
                <a:ea typeface="微软雅黑"/>
                <a:cs typeface="微软雅黑"/>
                <a:sym typeface="微软雅黑"/>
              </a:rPr>
              <a:t>🔥 团队精神：1+1 &gt; 2</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在协作中学会了倾听不同意见、协商解决方案、高效配合与包容差异。深刻体会到团队凝聚力带来的力量远大于单打独斗，真正实现了能力的聚合效应。</a:t>
            </a:r>
          </a:p>
        </p:txBody>
      </p:sp>
      <p:sp>
        <p:nvSpPr>
          <p:cNvPr name="AutoShape 13" id="13"/>
          <p:cNvSpPr/>
          <p:nvPr/>
        </p:nvSpPr>
        <p:spPr>
          <a:xfrm rot="0" flipH="false" flipV="false">
            <a:off x="6223000" y="4445000"/>
            <a:ext cx="5207000" cy="1778000"/>
          </a:xfrm>
          <a:prstGeom prst="roundRect">
            <a:avLst>
              <a:gd name="adj" fmla="val 7142"/>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46355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65F46"/>
                </a:solidFill>
                <a:latin typeface="微软雅黑"/>
                <a:ea typeface="微软雅黑"/>
                <a:cs typeface="微软雅黑"/>
                <a:sym typeface="微软雅黑"/>
              </a:rPr>
              <a:t>🚀 综合能力提升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本次实践不仅在代码编写、项目调试等硬技能上实现了提升，更在团队协作意识、软件工程素养和规范化的职业习惯等软实力上得到了全方位的锻炼。</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9144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Freeform 3" id="3"/>
          <p:cNvSpPr/>
          <p:nvPr/>
        </p:nvSpPr>
        <p:spPr>
          <a:xfrm rot="0" flipH="false" flipV="false">
            <a:off x="-12700" y="342900"/>
            <a:ext cx="8034867" cy="679450"/>
          </a:xfrm>
          <a:custGeom>
            <a:avLst/>
            <a:gdLst/>
            <a:ahLst/>
            <a:cxnLst/>
            <a:rect r="r" b="b" t="t" l="l"/>
            <a:pathLst>
              <a:path h="679450" w="8034867">
                <a:moveTo>
                  <a:pt x="0" y="0"/>
                </a:moveTo>
                <a:lnTo>
                  <a:pt x="8034867" y="0"/>
                </a:lnTo>
                <a:lnTo>
                  <a:pt x="7307500" y="679450"/>
                </a:lnTo>
              </a:path>
            </a:pathLst>
          </a:custGeom>
          <a:no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901700" y="165100"/>
            <a:ext cx="7620000" cy="647700"/>
          </a:xfrm>
          <a:prstGeom prst="roundRect">
            <a:avLst>
              <a:gd name="adj" fmla="val 0"/>
            </a:avLst>
          </a:prstGeom>
          <a:noFill/>
          <a:ln w="25400" cmpd="sng" cap="flat">
            <a:noFill/>
            <a:prstDash val="solid"/>
            <a:round/>
          </a:ln>
        </p:spPr>
        <p:txBody>
          <a:bodyPr anchor="ctr" rtlCol="false" anchorCtr="false" vert="horz" wrap="square" lIns="88900" rIns="88900" tIns="50800" bIns="50800"/>
          <a:lstStyle/>
          <a:p>
            <a:pPr algn="l" indent="0">
              <a:lnSpc>
                <a:spcPct val="100000"/>
              </a:lnSpc>
              <a:defRPr/>
            </a:pPr>
            <a:r>
              <a:rPr lang="en-US" b="true" i="false" strike="noStrike" u="none" sz="3600">
                <a:solidFill>
                  <a:srgbClr val="FFFFFF"/>
                </a:solidFill>
                <a:latin typeface="微软雅黑"/>
                <a:ea typeface="微软雅黑"/>
                <a:cs typeface="微软雅黑"/>
                <a:sym typeface="微软雅黑"/>
              </a:rPr>
              <a:t>五、课程设计体会与收获</a:t>
            </a:r>
            <a:endParaRPr lang="en-US" sz="1100"/>
          </a:p>
        </p:txBody>
      </p:sp>
      <p:sp>
        <p:nvSpPr>
          <p:cNvPr name="AutoShape 5" id="5"/>
          <p:cNvSpPr/>
          <p:nvPr/>
        </p:nvSpPr>
        <p:spPr>
          <a:xfrm rot="0" flipH="false" flipV="false">
            <a:off x="901700" y="1397000"/>
            <a:ext cx="10363200" cy="4826000"/>
          </a:xfrm>
          <a:prstGeom prst="rect">
            <a:avLst/>
          </a:prstGeom>
          <a:noFill/>
          <a:ln w="12700" cmpd="sng" cap="flat">
            <a:noFill/>
            <a:prstDash val="solid"/>
            <a:round/>
          </a:ln>
        </p:spPr>
        <p:txBody>
          <a:bodyPr anchor="t" rtlCol="false" anchorCtr="false" vert="horz" wrap="square" lIns="88900" rIns="88900" tIns="127000" bIns="127000"/>
          <a:lstStyle/>
          <a:p>
            <a:pPr algn="l" indent="0">
              <a:lnSpc>
                <a:spcPct val="125000"/>
              </a:lnSpc>
              <a:spcAft>
                <a:spcPct val="120000"/>
              </a:spcAft>
              <a:defRPr/>
            </a:pPr>
            <a:r>
              <a:rPr lang="en-US" b="true" i="false" strike="noStrike" u="none" sz="2400">
                <a:solidFill>
                  <a:srgbClr val="002060"/>
                </a:solidFill>
                <a:latin typeface="微软雅黑"/>
                <a:ea typeface="微软雅黑"/>
                <a:cs typeface="微软雅黑"/>
                <a:sym typeface="微软雅黑"/>
              </a:rPr>
              <a:t>（二）个人收获：全面成长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ct val="100000"/>
              </a:spcBef>
            </a:pPr>
            <a:r>
              <a:rPr lang="en-US" b="true" i="false" strike="noStrike" u="none" sz="1800">
                <a:solidFill>
                  <a:srgbClr val="006699"/>
                </a:solidFill>
                <a:latin typeface="Noto Sans SC"/>
                <a:ea typeface="Noto Sans SC"/>
                <a:cs typeface="Noto Sans SC"/>
                <a:sym typeface="Noto Sans SC"/>
              </a:rPr>
              <a:t>▌ 项目管理能力：</a:t>
            </a:r>
            <a:r>
              <a:rPr lang="en-US" b="false" i="false" strike="noStrike" u="none" sz="1600">
                <a:solidFill>
                  <a:srgbClr val="374151"/>
                </a:solidFill>
                <a:latin typeface="Noto Sans SC"/>
                <a:ea typeface="Noto Sans SC"/>
                <a:cs typeface="Noto Sans SC"/>
                <a:sym typeface="Noto Sans SC"/>
              </a:rPr>
              <a:t>学会使用WBS、甘特图等专业工具拆解任务与制定计划，显著提升了项目整体规划、进度把控与团队协调能力。</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ct val="120000"/>
              </a:spcBef>
            </a:pPr>
            <a:r>
              <a:rPr lang="en-US" b="true" i="false" strike="noStrike" u="none" sz="1800">
                <a:solidFill>
                  <a:srgbClr val="006699"/>
                </a:solidFill>
                <a:latin typeface="Noto Sans SC"/>
                <a:ea typeface="Noto Sans SC"/>
                <a:cs typeface="Noto Sans SC"/>
                <a:sym typeface="Noto Sans SC"/>
              </a:rPr>
              <a:t>▌ 产品思维培养：</a:t>
            </a:r>
            <a:r>
              <a:rPr lang="en-US" b="false" i="false" strike="noStrike" u="none" sz="1600">
                <a:solidFill>
                  <a:srgbClr val="374151"/>
                </a:solidFill>
                <a:latin typeface="Noto Sans SC"/>
                <a:ea typeface="Noto Sans SC"/>
                <a:cs typeface="Noto Sans SC"/>
                <a:sym typeface="Noto Sans SC"/>
              </a:rPr>
              <a:t>深入掌握用户需求分析与场景定义的方法，从“开发者视角”转向“用户视角”思考，学会平衡功能实现与用户体验。</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ct val="120000"/>
              </a:spcBef>
            </a:pPr>
            <a:r>
              <a:rPr lang="en-US" b="true" i="false" strike="noStrike" u="none" sz="1800">
                <a:solidFill>
                  <a:srgbClr val="006699"/>
                </a:solidFill>
                <a:latin typeface="Noto Sans SC"/>
                <a:ea typeface="Noto Sans SC"/>
                <a:cs typeface="Noto Sans SC"/>
                <a:sym typeface="Noto Sans SC"/>
              </a:rPr>
              <a:t>▌ 技术实践提升：</a:t>
            </a:r>
            <a:r>
              <a:rPr lang="en-US" b="false" i="false" strike="noStrike" u="none" sz="1600">
                <a:solidFill>
                  <a:srgbClr val="374151"/>
                </a:solidFill>
                <a:latin typeface="Noto Sans SC"/>
                <a:ea typeface="Noto Sans SC"/>
                <a:cs typeface="Noto Sans SC"/>
                <a:sym typeface="Noto Sans SC"/>
              </a:rPr>
              <a:t>在真实项目环境中巩固了前端交互与后端逻辑的核心技术栈，实战经验让代码编写效率与解决复杂Bug的能力大幅提升。</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ct val="120000"/>
              </a:spcBef>
            </a:pPr>
            <a:r>
              <a:rPr lang="en-US" b="true" i="false" strike="noStrike" u="none" sz="1800">
                <a:solidFill>
                  <a:srgbClr val="006699"/>
                </a:solidFill>
                <a:latin typeface="Noto Sans SC"/>
                <a:ea typeface="Noto Sans SC"/>
                <a:cs typeface="Noto Sans SC"/>
                <a:sym typeface="Noto Sans SC"/>
              </a:rPr>
              <a:t>▌ 工程素养塑造：</a:t>
            </a:r>
            <a:r>
              <a:rPr lang="en-US" b="false" i="false" strike="noStrike" u="none" sz="1600">
                <a:solidFill>
                  <a:srgbClr val="374151"/>
                </a:solidFill>
                <a:latin typeface="Noto Sans SC"/>
                <a:ea typeface="Noto Sans SC"/>
                <a:cs typeface="Noto Sans SC"/>
                <a:sym typeface="Noto Sans SC"/>
              </a:rPr>
              <a:t>深刻认识到规范化的技术文档撰写与系统性软件测试在开发流程中的基石作用，养成了严谨、细致、注重质量的工程工作态度。</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016000"/>
          </a:xfrm>
          <a:prstGeom prst="roundRect">
            <a:avLst>
              <a:gd name="adj" fmla="val 0"/>
            </a:avLst>
          </a:prstGeom>
          <a:solidFill>
            <a:srgbClr val="006699">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127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微软雅黑"/>
                <a:ea typeface="微软雅黑"/>
                <a:cs typeface="微软雅黑"/>
                <a:sym typeface="微软雅黑"/>
              </a:rPr>
              <a:t>感谢聆听</a:t>
            </a:r>
            <a:endParaRPr lang="en-US" sz="1100"/>
          </a:p>
        </p:txBody>
      </p:sp>
      <p:sp>
        <p:nvSpPr>
          <p:cNvPr name="AutoShape 4" id="4"/>
          <p:cNvSpPr/>
          <p:nvPr/>
        </p:nvSpPr>
        <p:spPr>
          <a:xfrm rot="0" flipH="false" flipV="false">
            <a:off x="0" y="2286000"/>
            <a:ext cx="12192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400">
                <a:solidFill>
                  <a:srgbClr val="006699"/>
                </a:solidFill>
                <a:latin typeface="Noto Sans SC"/>
                <a:ea typeface="Noto Sans SC"/>
                <a:cs typeface="Noto Sans SC"/>
                <a:sym typeface="Noto Sans SC"/>
              </a:rPr>
              <a:t>敬请批评指正</a:t>
            </a:r>
            <a:endParaRPr lang="en-US" sz="1100"/>
          </a:p>
        </p:txBody>
      </p:sp>
      <p:sp>
        <p:nvSpPr>
          <p:cNvPr name="AutoShape 5" id="5"/>
          <p:cNvSpPr/>
          <p:nvPr/>
        </p:nvSpPr>
        <p:spPr>
          <a:xfrm rot="0" flipH="false" flipV="false">
            <a:off x="0" y="4826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646A73"/>
                </a:solidFill>
                <a:latin typeface="Noto Sans SC"/>
                <a:ea typeface="Noto Sans SC"/>
                <a:cs typeface="Noto Sans SC"/>
                <a:sym typeface="Noto Sans SC"/>
              </a:rPr>
              <a:t>汇报人：项目组</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600">
                <a:solidFill>
                  <a:srgbClr val="8F959E"/>
                </a:solidFill>
                <a:latin typeface="Noto Sans SC"/>
                <a:ea typeface="Noto Sans SC"/>
                <a:cs typeface="Noto Sans SC"/>
                <a:sym typeface="Noto Sans SC"/>
              </a:rPr>
              <a:t>2026年</a:t>
            </a:r>
          </a:p>
        </p:txBody>
      </p:sp>
      <p:pic>
        <p:nvPicPr>
          <p:cNvPr name="Picture 6" id="6"/>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