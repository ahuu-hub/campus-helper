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notesSlides/notesSlide1.xml" Type="http://schemas.openxmlformats.org/officeDocument/2006/relationships/notesSlide"/><Relationship Id="rId28" Target="notesSlides/notesSlide2.xml" Type="http://schemas.openxmlformats.org/officeDocument/2006/relationships/notesSlide"/><Relationship Id="rId29" Target="notesSlides/notesSlide3.xml" Type="http://schemas.openxmlformats.org/officeDocument/2006/relationships/notesSlide"/><Relationship Id="rId3" Target="presProps.xml" Type="http://schemas.openxmlformats.org/officeDocument/2006/relationships/presProps"/><Relationship Id="rId30" Target="notesSlides/notesSlide4.xml" Type="http://schemas.openxmlformats.org/officeDocument/2006/relationships/notesSlide"/><Relationship Id="rId31" Target="notesSlides/notesSlide5.xml" Type="http://schemas.openxmlformats.org/officeDocument/2006/relationships/notesSlide"/><Relationship Id="rId32" Target="notesSlides/notesSlide6.xml" Type="http://schemas.openxmlformats.org/officeDocument/2006/relationships/notesSlide"/><Relationship Id="rId33" Target="notesSlides/notesSlide7.xml" Type="http://schemas.openxmlformats.org/officeDocument/2006/relationships/notesSlide"/><Relationship Id="rId34" Target="notesSlides/notesSlide8.xml" Type="http://schemas.openxmlformats.org/officeDocument/2006/relationships/notesSlide"/><Relationship Id="rId35" Target="notesSlides/notesSlide9.xml" Type="http://schemas.openxmlformats.org/officeDocument/2006/relationships/notesSlide"/><Relationship Id="rId36" Target="notesSlides/notesSlide10.xml" Type="http://schemas.openxmlformats.org/officeDocument/2006/relationships/notesSlide"/><Relationship Id="rId37" Target="notesSlides/notesSlide11.xml" Type="http://schemas.openxmlformats.org/officeDocument/2006/relationships/notesSlide"/><Relationship Id="rId38" Target="notesSlides/notesSlide12.xml" Type="http://schemas.openxmlformats.org/officeDocument/2006/relationships/notesSlide"/><Relationship Id="rId39" Target="notesSlides/notesSlide13.xml" Type="http://schemas.openxmlformats.org/officeDocument/2006/relationships/notesSlide"/><Relationship Id="rId4" Target="slideMasters/slideMaster1.xml" Type="http://schemas.openxmlformats.org/officeDocument/2006/relationships/slideMaster"/><Relationship Id="rId40" Target="notesSlides/notesSlide14.xml" Type="http://schemas.openxmlformats.org/officeDocument/2006/relationships/notesSlide"/><Relationship Id="rId41" Target="notesSlides/notesSlide15.xml" Type="http://schemas.openxmlformats.org/officeDocument/2006/relationships/notesSlide"/><Relationship Id="rId42" Target="notesSlides/notesSlide16.xml" Type="http://schemas.openxmlformats.org/officeDocument/2006/relationships/notesSlide"/><Relationship Id="rId43" Target="notesSlides/notesSlide17.xml" Type="http://schemas.openxmlformats.org/officeDocument/2006/relationships/notesSlide"/><Relationship Id="rId44" Target="notesSlides/notesSlide18.xml" Type="http://schemas.openxmlformats.org/officeDocument/2006/relationships/notesSlide"/><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尊敬的各位老师，下午好。我们是软件工程专业2023级15班的项目小组。今天，我们将向大家汇报《软件项目管理课程设计》的总结报告，主题是“校园互助服务站平台的设计与实现”。本次课程设计是一次宝贵的综合性实践，接下来我们将从五个方面展开详细汇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次汇报将围绕五个核心部分展开。首先，我们将阐述项目概述，包括其目的与意义。其次，介绍项目的核心内容与开发环境。第三部分是本次汇报的重点，将详细展示项目的完整实施过程。第四部分会介绍我们团队的分工与项目成果。最后，我们将分享在这次课程设计中的总结与展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首先，我们进入第一部分：项目概述。在这一部分，我们将阐述本次课程设计的目的与意义，明确我们为什么要做这个项目以及它对我们的价值所在。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次课程设计的目的在于实现知识的融合与能力的检验。我们希望通过实践，系统掌握软件项目管理的全流程，并提升规范化开发和文档编写的技能。其意义不仅在于将理论转化为实践，更在于培养我们的综合素养，为未来的职业生涯打下坚实的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接下来进入第二部分，我们将详细介绍本次课程设计的核心内容以及我们所采用的技术与工具环境。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的项目核心是开发一个校园互助服务站平台。为此，我们实践了完整的项目流程，并实现了包括用户管理、互助求助、失物招领在内的六大核心功能模块。同时，我们对系统的非功能特性也提出了明确要求，并最终输出了全套规范的项目文档。</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在开发环境方面，我们使用了标准的PC硬件和Windows操作系统。开发工具上，我们选择了轻量高效的VS Code和功能强大的Chrome浏览器。技术栈采用了经典的HTML、CSS和JavaScript，并通过本地存储方案实现了数据持久化，无需额外的服务器和数据库。文档和设计则借助了Office套件和在线工具。</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现在，我们进入汇报的核心部分——项目实施过程。在这一部分，我将详细介绍我们如何将一个想法一步步变为现实，涵盖从计划到实现的全过程。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制定了详细的项目计划和时间轴，将整个项目划分为7个阶段。从第一周的项目启动，到第二周的计划制定，再到中间三周的设计与开发，第六周的测试优化，最后在第七周完成所有文档和答辩准备。整个过程环环相扣，确保了项目的有序推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需求分析阶段，我们不仅明确了六大功能模块的具体需求，还设计了简洁高效的核心业务流程。同时，我们对系统的非功能特性也提出了明确要求，包括界面美观、响应快速、操作简单、系统稳定等，确保最终产品能够提供良好的用户体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系统设计阶段，我们进行了全面的规划。在功能结构上，我们将系统模块化，保证了其独立性和可维护性。在业务流程上，我们设计了清晰的闭环逻辑，覆盖了互助、失物和闲置三个主要场景。在数据结构上，我们采用了适合本地存储的对象数组方案，既简单又高效。在界面布局上，我们采用了经典且友好的设计，并确保了移动端的良好适配，以适应不同用户的使用习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一个成功的项目离不开团队成员的紧密协作。接下来第四部分，我将介绍我们团队的分工情况以及项目的整体成果。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团队五人进行了明确的角色分工。组长张佳星负责整体统筹和项目管理。副组长张春笋负责功能逻辑实现。刘昕雨负责需求分析和原型设计。梁家旺负责前端开发。张玉良则负责测试和文档工作。从表格中可以看到，所有成员都100%完成了各自的任务，个人贡献均衡，共同保证了项目的成功交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总结来看，我们的项目整体完成情况非常理想。所有计划中的功能都已成功实现，系统运行稳定。全套项目文档也已按规范完成并交付。在整个过程中，我们严格控制进度，没有出现延期或重大风险。团队协作顺畅高效，确保了项目目标的圆满达成。</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最后，我们进入第五部分，分享我们在这次课程设计中的总结与展望。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个人层面，每位成员都在不同方面获得了成长。作为组长，我提升了项目管理和统筹能力。负责开发的同学增强了技术实现能力。负责需求的同学掌握了需求分析方法。负责测试的同学则深刻理解了质量保障的重要性。这次实践让我们每个人都实现了理论与实践的结合，综合能力得到了全面提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通过这次课程设计，我们团队最大的收获是协作与成长。我们建立了高效的沟通机制，通过明确分工和互相帮助，克服了一个又一个困难。我们深刻体会到，团队的力量远大于个人。这次经历不仅提升了我们的技术能力，更重要的是培养了我们的团队意识和职业素养，是一次非常宝贵的实践经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我的汇报到此结束。再次感谢各位老师在课程设计期间给予我们的悉心指导和宝贵建议。我们深知项目中还有许多可以改进的地方，也恳请各位老师批评指正。谢谢大家！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7.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8.xml" Type="http://schemas.openxmlformats.org/officeDocument/2006/relationships/notesSlide"/><Relationship Id="rId3" Target="../media/image9.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914400"/>
          </a:xfrm>
          <a:prstGeom prst="roundRect">
            <a:avLst>
              <a:gd name="adj" fmla="val 0"/>
            </a:avLst>
          </a:prstGeom>
          <a:solidFill>
            <a:srgbClr val="006699">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Freeform 3" id="3"/>
          <p:cNvSpPr/>
          <p:nvPr/>
        </p:nvSpPr>
        <p:spPr>
          <a:xfrm rot="0" flipH="false" flipV="false">
            <a:off x="-12700" y="342900"/>
            <a:ext cx="8034867" cy="679450"/>
          </a:xfrm>
          <a:custGeom>
            <a:avLst/>
            <a:gdLst/>
            <a:ahLst/>
            <a:cxnLst/>
            <a:rect r="r" b="b" t="t" l="l"/>
            <a:pathLst>
              <a:path h="679450" w="8034867">
                <a:moveTo>
                  <a:pt x="0" y="0"/>
                </a:moveTo>
                <a:lnTo>
                  <a:pt x="8034867" y="0"/>
                </a:lnTo>
                <a:lnTo>
                  <a:pt x="7307500" y="679450"/>
                </a:lnTo>
              </a:path>
            </a:pathLst>
          </a:custGeom>
          <a:noFill/>
          <a:ln w="25400" cmpd="sng" cap="flat">
            <a:no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srcRect l="0" r="0" t="10049" b="10049"/>
          <a:stretch>
            <a:fillRect/>
          </a:stretch>
        </p:blipFill>
        <p:spPr>
          <a:xfrm rot="0" flipH="false" flipV="false">
            <a:off x="25400" y="0"/>
            <a:ext cx="12192000" cy="6858000"/>
          </a:xfrm>
          <a:prstGeom prst="rect">
            <a:avLst/>
          </a:prstGeom>
          <a:noFill/>
          <a:ln w="25400" cmpd="sng" cap="flat">
            <a:noFill/>
            <a:prstDash val="solid"/>
            <a:round/>
          </a:ln>
        </p:spPr>
      </p:pic>
      <p:sp>
        <p:nvSpPr>
          <p:cNvPr name="AutoShape 5" id="5"/>
          <p:cNvSpPr/>
          <p:nvPr/>
        </p:nvSpPr>
        <p:spPr>
          <a:xfrm rot="0" flipH="false" flipV="false">
            <a:off x="1803400" y="355600"/>
            <a:ext cx="8394700" cy="609600"/>
          </a:xfrm>
          <a:prstGeom prst="roundRect">
            <a:avLst>
              <a:gd name="adj" fmla="val 0"/>
            </a:avLst>
          </a:prstGeom>
          <a:noFill/>
          <a:ln w="25400" cmpd="sng" cap="flat">
            <a:noFill/>
            <a:prstDash val="solid"/>
            <a:round/>
          </a:ln>
        </p:spPr>
        <p:txBody>
          <a:bodyPr anchor="t" rtlCol="false" anchorCtr="false" vert="horz" wrap="square" lIns="88900" rIns="88900" tIns="50800" bIns="50800"/>
          <a:lstStyle/>
          <a:p>
            <a:pPr algn="l" indent="0">
              <a:lnSpc>
                <a:spcPct val="116666"/>
              </a:lnSpc>
              <a:defRPr/>
            </a:pPr>
            <a:r>
              <a:rPr lang="en-US" b="true" i="false" strike="noStrike" u="none" sz="2800">
                <a:solidFill>
                  <a:srgbClr val="C5E672"/>
                </a:solidFill>
                <a:latin typeface="微软雅黑"/>
                <a:ea typeface="微软雅黑"/>
                <a:cs typeface="微软雅黑"/>
                <a:sym typeface="微软雅黑"/>
              </a:rPr>
              <a:t>《软件项目管理课程设计》总结报告</a:t>
            </a:r>
            <a:endParaRPr lang="en-US" sz="1100"/>
          </a:p>
        </p:txBody>
      </p:sp>
      <p:pic>
        <p:nvPicPr>
          <p:cNvPr name="Picture 6" id="6"/>
          <p:cNvPicPr>
            <a:picLocks noChangeAspect="true"/>
          </p:cNvPicPr>
          <p:nvPr/>
        </p:nvPicPr>
        <p:blipFill>
          <a:blip r:embed="rId3"/>
          <a:srcRect l="0" r="0" t="290" b="290"/>
          <a:stretch>
            <a:fillRect/>
          </a:stretch>
        </p:blipFill>
        <p:spPr>
          <a:xfrm rot="0" flipH="false" flipV="false">
            <a:off x="800100" y="215900"/>
            <a:ext cx="1016000" cy="965200"/>
          </a:xfrm>
          <a:prstGeom prst="rect">
            <a:avLst/>
          </a:prstGeom>
          <a:noFill/>
          <a:ln w="25400" cmpd="sng" cap="flat">
            <a:noFill/>
            <a:prstDash val="solid"/>
            <a:round/>
          </a:ln>
        </p:spPr>
      </p:pic>
      <p:sp>
        <p:nvSpPr>
          <p:cNvPr name="AutoShape 7" id="7"/>
          <p:cNvSpPr/>
          <p:nvPr/>
        </p:nvSpPr>
        <p:spPr>
          <a:xfrm rot="0" flipH="false" flipV="false">
            <a:off x="3035300" y="6019800"/>
            <a:ext cx="5943600" cy="520700"/>
          </a:xfrm>
          <a:prstGeom prst="roundRect">
            <a:avLst>
              <a:gd name="adj" fmla="val 0"/>
            </a:avLst>
          </a:prstGeom>
          <a:noFill/>
          <a:ln w="25400" cmpd="sng" cap="flat">
            <a:noFill/>
            <a:prstDash val="solid"/>
            <a:round/>
          </a:ln>
        </p:spPr>
        <p:txBody>
          <a:bodyPr anchor="t" rtlCol="false" anchorCtr="false" vert="horz" wrap="square" lIns="88900" rIns="88900" tIns="50800" bIns="50800"/>
          <a:lstStyle/>
          <a:p>
            <a:pPr algn="ctr" indent="0">
              <a:lnSpc>
                <a:spcPct val="100000"/>
              </a:lnSpc>
              <a:defRPr/>
            </a:pPr>
            <a:r>
              <a:rPr lang="en-US" b="true" i="false" strike="noStrike" u="none" sz="2800">
                <a:solidFill>
                  <a:srgbClr val="FFFFFF"/>
                </a:solidFill>
                <a:latin typeface="微软雅黑"/>
                <a:ea typeface="微软雅黑"/>
                <a:cs typeface="微软雅黑"/>
                <a:sym typeface="微软雅黑"/>
              </a:rPr>
              <a:t>二〇二六年四月二十六日</a:t>
            </a:r>
            <a:endParaRPr lang="en-US" sz="1100"/>
          </a:p>
        </p:txBody>
      </p:sp>
      <p:sp>
        <p:nvSpPr>
          <p:cNvPr name="AutoShape 8" id="8"/>
          <p:cNvSpPr/>
          <p:nvPr/>
        </p:nvSpPr>
        <p:spPr>
          <a:xfrm rot="0" flipH="false" flipV="false">
            <a:off x="1892300" y="1092200"/>
            <a:ext cx="8445500" cy="1016000"/>
          </a:xfrm>
          <a:prstGeom prst="roundRect">
            <a:avLst>
              <a:gd name="adj" fmla="val 0"/>
            </a:avLst>
          </a:prstGeom>
          <a:noFill/>
          <a:ln w="25400" cmpd="sng" cap="flat">
            <a:noFill/>
            <a:prstDash val="solid"/>
            <a:round/>
          </a:ln>
        </p:spPr>
        <p:txBody>
          <a:bodyPr anchor="t" rtlCol="false" anchorCtr="false" vert="horz" wrap="square" lIns="88900" rIns="88900" tIns="50800" bIns="50800"/>
          <a:lstStyle/>
          <a:p>
            <a:pPr algn="ctr" indent="0">
              <a:lnSpc>
                <a:spcPct val="150000"/>
              </a:lnSpc>
              <a:defRPr/>
            </a:pPr>
            <a:r>
              <a:rPr lang="en-US" b="true" i="false" strike="noStrike" u="none" sz="4000">
                <a:solidFill>
                  <a:srgbClr val="FFFFFF"/>
                </a:solidFill>
                <a:latin typeface="微软雅黑"/>
                <a:ea typeface="微软雅黑"/>
                <a:cs typeface="微软雅黑"/>
                <a:sym typeface="微软雅黑"/>
              </a:rPr>
              <a:t>校园互助服务站平台设计与实现</a:t>
            </a:r>
            <a:endParaRPr lang="en-US" sz="1100"/>
          </a:p>
        </p:txBody>
      </p:sp>
      <p:sp>
        <p:nvSpPr>
          <p:cNvPr name="AutoShape 9" id="9"/>
          <p:cNvSpPr/>
          <p:nvPr/>
        </p:nvSpPr>
        <p:spPr>
          <a:xfrm rot="0" flipH="false" flipV="false">
            <a:off x="2057400" y="1905000"/>
            <a:ext cx="8445500" cy="990600"/>
          </a:xfrm>
          <a:prstGeom prst="roundRect">
            <a:avLst>
              <a:gd name="adj" fmla="val 0"/>
            </a:avLst>
          </a:prstGeom>
          <a:noFill/>
          <a:ln w="25400" cmpd="sng" cap="flat">
            <a:noFill/>
            <a:prstDash val="solid"/>
            <a:round/>
          </a:ln>
        </p:spPr>
        <p:txBody>
          <a:bodyPr anchor="ctr" rtlCol="false" vert="horz" wrap="square" lIns="63500" rIns="63500" tIns="63500" bIns="63500"/>
          <a:lstStyle/>
          <a:p>
            <a:pPr algn="ctr">
              <a:defRPr/>
            </a:pPr>
            <a:endParaRPr/>
          </a:p>
        </p:txBody>
      </p:sp>
      <p:graphicFrame>
        <p:nvGraphicFramePr>
          <p:cNvPr name="Table 10" id="10"/>
          <p:cNvGraphicFramePr>
            <a:graphicFrameLocks noGrp="true"/>
          </p:cNvGraphicFramePr>
          <p:nvPr/>
        </p:nvGraphicFramePr>
        <p:xfrm>
          <a:off x="2057400" y="2311400"/>
          <a:ext cx="8280400" cy="3949700"/>
        </p:xfrm>
        <a:graphic>
          <a:graphicData uri="http://schemas.openxmlformats.org/drawingml/2006/table">
            <a:tbl>
              <a:tblPr>
                <a:effectLst/>
              </a:tblPr>
              <a:tblGrid>
                <a:gridCol w="2222500"/>
                <a:gridCol w="2463800"/>
                <a:gridCol w="1206500"/>
                <a:gridCol w="2387600"/>
              </a:tblGrid>
              <a:tr h="444500">
                <a:tc rowSpan="6">
                  <a:txBody>
                    <a:bodyPr anchor="t" rtlCol="false"/>
                    <a:lstStyle/>
                    <a:p>
                      <a:pPr algn="ctr" indent="0">
                        <a:lnSpc>
                          <a:spcPct val="100000"/>
                        </a:lnSpc>
                        <a:defRPr/>
                      </a:pPr>
                      <a:r>
                        <a:rPr lang="en-US" b="true" i="false" strike="noStrike" u="none" sz="2400">
                          <a:solidFill>
                            <a:srgbClr val="FFFFFF"/>
                          </a:solidFill>
                          <a:latin typeface="微软雅黑"/>
                          <a:ea typeface="微软雅黑"/>
                          <a:cs typeface="微软雅黑"/>
                          <a:sym typeface="微软雅黑"/>
                        </a:rPr>
                        <a:t>项目组成员：</a:t>
                      </a:r>
                      <a:endParaRPr lang="en-US" sz="1100"/>
                    </a:p>
                  </a:txBody>
                  <a:tcPr anchor="ctr" anchorCtr="false" marL="88900" marR="88900" marT="50800" marB="50800">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noFill/>
                  </a:tcPr>
                </a:tc>
                <a:tc>
                  <a:txBody>
                    <a:bodyPr anchor="t" rtlCol="false"/>
                    <a:lstStyle/>
                    <a:p>
                      <a:pPr algn="ctr" indent="0">
                        <a:lnSpc>
                          <a:spcPct val="100000"/>
                        </a:lnSpc>
                        <a:defRPr/>
                      </a:pPr>
                      <a:r>
                        <a:rPr lang="en-US" b="true" i="false" strike="noStrike" u="none" sz="2000">
                          <a:solidFill>
                            <a:srgbClr val="FFFFFF"/>
                          </a:solidFill>
                          <a:latin typeface="微软雅黑"/>
                          <a:ea typeface="微软雅黑"/>
                          <a:cs typeface="微软雅黑"/>
                          <a:sym typeface="微软雅黑"/>
                        </a:rPr>
                        <a:t>学号</a:t>
                      </a:r>
                      <a:endParaRPr lang="en-US" sz="1100"/>
                    </a:p>
                  </a:txBody>
                  <a:tcPr anchor="t" anchorCtr="false" marL="88900" marR="88900" marT="50800" marB="50800">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noFill/>
                  </a:tcPr>
                </a:tc>
                <a:tc>
                  <a:txBody>
                    <a:bodyPr anchor="t" rtlCol="false"/>
                    <a:lstStyle/>
                    <a:p>
                      <a:pPr algn="ctr" indent="0">
                        <a:lnSpc>
                          <a:spcPct val="100000"/>
                        </a:lnSpc>
                        <a:defRPr/>
                      </a:pPr>
                      <a:r>
                        <a:rPr lang="en-US" b="true" i="false" strike="noStrike" u="none" sz="2000">
                          <a:solidFill>
                            <a:srgbClr val="FFFFFF"/>
                          </a:solidFill>
                          <a:latin typeface="微软雅黑"/>
                          <a:ea typeface="微软雅黑"/>
                          <a:cs typeface="微软雅黑"/>
                          <a:sym typeface="微软雅黑"/>
                        </a:rPr>
                        <a:t>姓名</a:t>
                      </a:r>
                      <a:endParaRPr lang="en-US" sz="1100"/>
                    </a:p>
                  </a:txBody>
                  <a:tcPr anchor="t" anchorCtr="false" marL="88900" marR="88900" marT="50800" marB="50800">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noFill/>
                  </a:tcPr>
                </a:tc>
                <a:tc>
                  <a:txBody>
                    <a:bodyPr anchor="t" rtlCol="false"/>
                    <a:lstStyle/>
                    <a:p>
                      <a:pPr algn="ctr" indent="0">
                        <a:lnSpc>
                          <a:spcPct val="100000"/>
                        </a:lnSpc>
                        <a:defRPr/>
                      </a:pPr>
                      <a:r>
                        <a:rPr lang="en-US" b="true" i="false" strike="noStrike" u="none" sz="2000">
                          <a:solidFill>
                            <a:srgbClr val="FFFFFF"/>
                          </a:solidFill>
                          <a:latin typeface="微软雅黑"/>
                          <a:ea typeface="微软雅黑"/>
                          <a:cs typeface="微软雅黑"/>
                          <a:sym typeface="微软雅黑"/>
                        </a:rPr>
                        <a:t>班级</a:t>
                      </a:r>
                      <a:endParaRPr lang="en-US" sz="1100"/>
                    </a:p>
                  </a:txBody>
                  <a:tcPr anchor="t" anchorCtr="false" marL="88900" marR="88900" marT="50800" marB="50800">
                    <a:lnL>
                      <a:noFill/>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noFill/>
                  </a:tcPr>
                </a:tc>
              </a:tr>
              <a:tr h="482600">
                <a:tc vMerge="true">
                  <a:txBody>
                    <a:bodyPr anchor="t" rtlCol="false"/>
                    <a:lstStyle/>
                    <a:p>
                      <a:pPr algn="ctr">
                        <a:defRPr/>
                      </a:pPr>
                      <a:endParaRPr/>
                    </a:p>
                  </a:txBody>
                  <a:tcPr anchor="ctr" marL="101600" marR="101600" marT="101600" marB="101600">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800">
                          <a:solidFill>
                            <a:srgbClr val="FFFFFF"/>
                          </a:solidFill>
                          <a:latin typeface="微软雅黑"/>
                          <a:ea typeface="微软雅黑"/>
                          <a:cs typeface="微软雅黑"/>
                          <a:sym typeface="微软雅黑"/>
                        </a:rPr>
                        <a:t>-</a:t>
                      </a:r>
                      <a:endParaRPr lang="en-US" sz="1100"/>
                    </a:p>
                  </a:txBody>
                  <a:tcPr anchor="t" anchorCtr="false" marL="88900" marR="88900" marT="50800" marB="50800">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800">
                          <a:solidFill>
                            <a:srgbClr val="FFFFFF"/>
                          </a:solidFill>
                          <a:latin typeface="微软雅黑"/>
                          <a:ea typeface="微软雅黑"/>
                          <a:cs typeface="微软雅黑"/>
                          <a:sym typeface="微软雅黑"/>
                        </a:rPr>
                        <a:t>张佳星</a:t>
                      </a:r>
                      <a:endParaRPr lang="en-US" sz="1100"/>
                    </a:p>
                  </a:txBody>
                  <a:tcPr anchor="t" anchorCtr="false" marL="88900" marR="88900" marT="50800" marB="50800">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600">
                          <a:solidFill>
                            <a:srgbClr val="FFFFFF"/>
                          </a:solidFill>
                          <a:latin typeface="微软雅黑"/>
                          <a:ea typeface="微软雅黑"/>
                          <a:cs typeface="微软雅黑"/>
                          <a:sym typeface="微软雅黑"/>
                        </a:rPr>
                        <a:t>软件工程2023级15班</a:t>
                      </a:r>
                      <a:endParaRPr lang="en-US" sz="1100"/>
                    </a:p>
                  </a:txBody>
                  <a:tcPr anchor="t" anchorCtr="false" marL="88900" marR="88900" marT="50800" marB="50800">
                    <a:lnL>
                      <a:noFill/>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noFill/>
                  </a:tcPr>
                </a:tc>
              </a:tr>
              <a:tr h="558800">
                <a:tc vMerge="true">
                  <a:txBody>
                    <a:bodyPr anchor="t" rtlCol="false"/>
                    <a:lstStyle/>
                    <a:p>
                      <a:pPr algn="ctr">
                        <a:defRPr/>
                      </a:pPr>
                      <a:endParaRPr/>
                    </a:p>
                  </a:txBody>
                  <a:tcPr anchor="ctr" marL="101600" marR="101600" marT="101600" marB="101600">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800">
                          <a:solidFill>
                            <a:srgbClr val="FFFFFF"/>
                          </a:solidFill>
                          <a:latin typeface="微软雅黑"/>
                          <a:ea typeface="微软雅黑"/>
                          <a:cs typeface="微软雅黑"/>
                          <a:sym typeface="微软雅黑"/>
                        </a:rPr>
                        <a:t>-</a:t>
                      </a:r>
                      <a:endParaRPr lang="en-US" sz="1100"/>
                    </a:p>
                  </a:txBody>
                  <a:tcPr anchor="t" anchorCtr="false" marL="88900" marR="88900" marT="50800" marB="50800">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800">
                          <a:solidFill>
                            <a:srgbClr val="FFFFFF"/>
                          </a:solidFill>
                          <a:latin typeface="微软雅黑"/>
                          <a:ea typeface="微软雅黑"/>
                          <a:cs typeface="微软雅黑"/>
                          <a:sym typeface="微软雅黑"/>
                        </a:rPr>
                        <a:t>刘昕雨</a:t>
                      </a:r>
                      <a:endParaRPr lang="en-US" sz="1100"/>
                    </a:p>
                  </a:txBody>
                  <a:tcPr anchor="t" anchorCtr="false" marL="88900" marR="88900" marT="50800" marB="50800">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600">
                          <a:solidFill>
                            <a:srgbClr val="FFFFFF"/>
                          </a:solidFill>
                          <a:latin typeface="微软雅黑"/>
                          <a:ea typeface="微软雅黑"/>
                          <a:cs typeface="微软雅黑"/>
                          <a:sym typeface="微软雅黑"/>
                        </a:rPr>
                        <a:t>软件工程2023级15班</a:t>
                      </a:r>
                      <a:endParaRPr lang="en-US" sz="1100"/>
                    </a:p>
                  </a:txBody>
                  <a:tcPr anchor="t" anchorCtr="false" marL="88900" marR="88900" marT="50800" marB="50800">
                    <a:lnL>
                      <a:noFill/>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noFill/>
                  </a:tcPr>
                </a:tc>
              </a:tr>
              <a:tr h="711200">
                <a:tc vMerge="true">
                  <a:txBody>
                    <a:bodyPr anchor="t" rtlCol="false"/>
                    <a:lstStyle/>
                    <a:p>
                      <a:pPr algn="ctr">
                        <a:defRPr/>
                      </a:pPr>
                      <a:endParaRPr/>
                    </a:p>
                  </a:txBody>
                  <a:tcPr anchor="ctr" marL="101600" marR="101600" marT="101600" marB="101600">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800">
                          <a:solidFill>
                            <a:srgbClr val="FFFFFF"/>
                          </a:solidFill>
                          <a:latin typeface="微软雅黑"/>
                          <a:ea typeface="微软雅黑"/>
                          <a:cs typeface="微软雅黑"/>
                          <a:sym typeface="微软雅黑"/>
                        </a:rPr>
                        <a:t>-</a:t>
                      </a:r>
                      <a:endParaRPr lang="en-US" sz="1100"/>
                    </a:p>
                  </a:txBody>
                  <a:tcPr anchor="t" anchorCtr="false" marL="88900" marR="88900" marT="50800" marB="50800">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800">
                          <a:solidFill>
                            <a:srgbClr val="FFFFFF"/>
                          </a:solidFill>
                          <a:latin typeface="微软雅黑"/>
                          <a:ea typeface="微软雅黑"/>
                          <a:cs typeface="微软雅黑"/>
                          <a:sym typeface="微软雅黑"/>
                        </a:rPr>
                        <a:t>梁家旺</a:t>
                      </a:r>
                      <a:endParaRPr lang="en-US" sz="1100"/>
                    </a:p>
                  </a:txBody>
                  <a:tcPr anchor="t" anchorCtr="false" marL="88900" marR="88900" marT="50800" marB="50800">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600">
                          <a:solidFill>
                            <a:srgbClr val="FFFFFF"/>
                          </a:solidFill>
                          <a:latin typeface="微软雅黑"/>
                          <a:ea typeface="微软雅黑"/>
                          <a:cs typeface="微软雅黑"/>
                          <a:sym typeface="微软雅黑"/>
                        </a:rPr>
                        <a:t>软件工程2023级15班</a:t>
                      </a:r>
                      <a:endParaRPr lang="en-US" sz="1100"/>
                    </a:p>
                  </a:txBody>
                  <a:tcPr anchor="t" anchorCtr="false" marL="88900" marR="88900" marT="50800" marB="50800">
                    <a:lnL>
                      <a:noFill/>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noFill/>
                  </a:tcPr>
                </a:tc>
              </a:tr>
              <a:tr h="482600">
                <a:tc vMerge="true">
                  <a:txBody>
                    <a:bodyPr anchor="t" rtlCol="false"/>
                    <a:lstStyle/>
                    <a:p>
                      <a:pPr algn="ctr">
                        <a:defRPr/>
                      </a:pPr>
                      <a:endParaRPr/>
                    </a:p>
                  </a:txBody>
                  <a:tcPr anchor="ctr" marL="101600" marR="101600" marT="101600" marB="101600">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800">
                          <a:solidFill>
                            <a:srgbClr val="FFFFFF"/>
                          </a:solidFill>
                          <a:latin typeface="微软雅黑"/>
                          <a:ea typeface="微软雅黑"/>
                          <a:cs typeface="微软雅黑"/>
                          <a:sym typeface="微软雅黑"/>
                        </a:rPr>
                        <a:t>-</a:t>
                      </a:r>
                      <a:endParaRPr lang="en-US" sz="1100"/>
                    </a:p>
                  </a:txBody>
                  <a:tcPr anchor="t" anchorCtr="false" marL="88900" marR="88900" marT="50800" marB="50800">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800">
                          <a:solidFill>
                            <a:srgbClr val="FFFFFF"/>
                          </a:solidFill>
                          <a:latin typeface="微软雅黑"/>
                          <a:ea typeface="微软雅黑"/>
                          <a:cs typeface="微软雅黑"/>
                          <a:sym typeface="微软雅黑"/>
                        </a:rPr>
                        <a:t>张玉良</a:t>
                      </a:r>
                      <a:endParaRPr lang="en-US" sz="1100"/>
                    </a:p>
                  </a:txBody>
                  <a:tcPr anchor="t" anchorCtr="false" marL="88900" marR="88900" marT="50800" marB="50800">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600">
                          <a:solidFill>
                            <a:srgbClr val="FFFFFF"/>
                          </a:solidFill>
                          <a:latin typeface="微软雅黑"/>
                          <a:ea typeface="微软雅黑"/>
                          <a:cs typeface="微软雅黑"/>
                          <a:sym typeface="微软雅黑"/>
                        </a:rPr>
                        <a:t>软件工程2023级15班</a:t>
                      </a:r>
                      <a:endParaRPr lang="en-US" sz="1100"/>
                    </a:p>
                  </a:txBody>
                  <a:tcPr anchor="t" anchorCtr="false" marL="88900" marR="88900" marT="50800" marB="50800">
                    <a:lnL>
                      <a:noFill/>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noFill/>
                  </a:tcPr>
                </a:tc>
              </a:tr>
              <a:tr h="482600">
                <a:tc vMerge="true">
                  <a:txBody>
                    <a:bodyPr anchor="t" rtlCol="false"/>
                    <a:lstStyle/>
                    <a:p>
                      <a:pPr algn="ctr">
                        <a:defRPr/>
                      </a:pPr>
                      <a:endParaRPr/>
                    </a:p>
                  </a:txBody>
                  <a:tcPr anchor="ctr" marL="101600" marR="101600" marT="101600" marB="101600">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800">
                          <a:solidFill>
                            <a:srgbClr val="FFFFFF"/>
                          </a:solidFill>
                          <a:latin typeface="微软雅黑"/>
                          <a:ea typeface="微软雅黑"/>
                          <a:cs typeface="微软雅黑"/>
                          <a:sym typeface="微软雅黑"/>
                        </a:rPr>
                        <a:t>-</a:t>
                      </a:r>
                      <a:endParaRPr lang="en-US" sz="1100"/>
                    </a:p>
                  </a:txBody>
                  <a:tcPr anchor="t" anchorCtr="false" marL="88900" marR="88900" marT="50800" marB="50800">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800">
                          <a:solidFill>
                            <a:srgbClr val="FFFFFF"/>
                          </a:solidFill>
                          <a:latin typeface="微软雅黑"/>
                          <a:ea typeface="微软雅黑"/>
                          <a:cs typeface="微软雅黑"/>
                          <a:sym typeface="微软雅黑"/>
                        </a:rPr>
                        <a:t>张春笋</a:t>
                      </a:r>
                      <a:endParaRPr lang="en-US" sz="1100"/>
                    </a:p>
                  </a:txBody>
                  <a:tcPr anchor="t" anchorCtr="false" marL="88900" marR="88900" marT="50800" marB="50800">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600">
                          <a:solidFill>
                            <a:srgbClr val="FFFFFF"/>
                          </a:solidFill>
                          <a:latin typeface="微软雅黑"/>
                          <a:ea typeface="微软雅黑"/>
                          <a:cs typeface="微软雅黑"/>
                          <a:sym typeface="微软雅黑"/>
                        </a:rPr>
                        <a:t>软件工程2023级15班</a:t>
                      </a:r>
                      <a:endParaRPr lang="en-US" sz="1100"/>
                    </a:p>
                  </a:txBody>
                  <a:tcPr anchor="t" anchorCtr="false" marL="88900" marR="88900" marT="50800" marB="50800">
                    <a:lnL>
                      <a:noFill/>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noFill/>
                  </a:tcPr>
                </a:tc>
              </a:tr>
              <a:tr h="787400">
                <a:tc>
                  <a:txBody>
                    <a:bodyPr anchor="t" rtlCol="false"/>
                    <a:lstStyle/>
                    <a:p>
                      <a:pPr algn="ctr" indent="0">
                        <a:lnSpc>
                          <a:spcPct val="100000"/>
                        </a:lnSpc>
                        <a:defRPr/>
                      </a:pPr>
                      <a:r>
                        <a:rPr lang="en-US" b="true" i="false" strike="noStrike" u="none" sz="2400">
                          <a:solidFill>
                            <a:srgbClr val="FFFFFF"/>
                          </a:solidFill>
                          <a:latin typeface="微软雅黑"/>
                          <a:ea typeface="微软雅黑"/>
                          <a:cs typeface="微软雅黑"/>
                          <a:sym typeface="微软雅黑"/>
                        </a:rPr>
                        <a:t>指导教师：</a:t>
                      </a:r>
                      <a:endParaRPr lang="en-US" sz="1100"/>
                    </a:p>
                  </a:txBody>
                  <a:tcPr anchor="ctr" anchorCtr="false" marL="88900" marR="88900" marT="50800" marB="50800">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noFill/>
                  </a:tcPr>
                </a:tc>
                <a:tc gridSpan="3">
                  <a:txBody>
                    <a:bodyPr anchor="t" rtlCol="false"/>
                    <a:lstStyle/>
                    <a:p>
                      <a:pPr algn="ctr" indent="0">
                        <a:lnSpc>
                          <a:spcPct val="100000"/>
                        </a:lnSpc>
                        <a:defRPr/>
                      </a:pPr>
                      <a:r>
                        <a:rPr lang="en-US" b="true" i="false" strike="noStrike" u="none" sz="2400">
                          <a:solidFill>
                            <a:srgbClr val="FFFFFF"/>
                          </a:solidFill>
                          <a:latin typeface="微软雅黑"/>
                          <a:ea typeface="微软雅黑"/>
                          <a:cs typeface="微软雅黑"/>
                          <a:sym typeface="微软雅黑"/>
                        </a:rPr>
                        <a:t>司彦飞</a:t>
                      </a:r>
                      <a:endParaRPr lang="en-US" sz="1100"/>
                    </a:p>
                  </a:txBody>
                  <a:tcPr anchor="ctr" anchorCtr="false" marL="88900" marR="88900" marT="50800" marB="50800">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noFill/>
                  </a:tcPr>
                </a:tc>
                <a:tc hMerge="true">
                  <a:txBody>
                    <a:bodyPr anchor="t" rtlCol="false"/>
                    <a:lstStyle/>
                    <a:p>
                      <a:pPr algn="ctr">
                        <a:defRPr/>
                      </a:pPr>
                      <a:endParaRPr/>
                    </a:p>
                  </a:txBody>
                  <a:tcPr anchor="ctr" marL="101600" marR="101600" marT="101600" marB="101600">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noFill/>
                  </a:tcPr>
                </a:tc>
                <a:tc hMerge="true">
                  <a:txBody>
                    <a:bodyPr anchor="t" rtlCol="false"/>
                    <a:lstStyle/>
                    <a:p>
                      <a:pPr algn="ctr">
                        <a:defRPr/>
                      </a:pPr>
                      <a:endParaRPr/>
                    </a:p>
                  </a:txBody>
                  <a:tcPr anchor="ctr" marL="101600" marR="101600" marT="101600" marB="101600">
                    <a:lnL>
                      <a:noFill/>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noFill/>
                  </a:tcPr>
                </a:tc>
              </a:tr>
            </a:tbl>
          </a:graphicData>
        </a:graphic>
      </p:graphicFrame>
    </p:spTree>
  </p:cSld>
  <p:clrMapOvr>
    <a:masterClrMapping/>
  </p:clrMapOvr>
</p:sld>
</file>

<file path=ppt/slides/slide2.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914400"/>
          </a:xfrm>
          <a:prstGeom prst="roundRect">
            <a:avLst>
              <a:gd name="adj" fmla="val 0"/>
            </a:avLst>
          </a:prstGeom>
          <a:solidFill>
            <a:srgbClr val="006699">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901700" y="165100"/>
            <a:ext cx="5080000" cy="6477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FFFFFF"/>
                </a:solidFill>
                <a:latin typeface="微软雅黑"/>
                <a:ea typeface="微软雅黑"/>
                <a:cs typeface="微软雅黑"/>
                <a:sym typeface="微软雅黑"/>
              </a:rPr>
              <a:t>汇报目录</a:t>
            </a:r>
            <a:endParaRPr lang="en-US" sz="1100"/>
          </a:p>
        </p:txBody>
      </p:sp>
      <p:sp>
        <p:nvSpPr>
          <p:cNvPr name="AutoShape 4" id="4"/>
          <p:cNvSpPr/>
          <p:nvPr/>
        </p:nvSpPr>
        <p:spPr>
          <a:xfrm rot="0" flipH="false" flipV="false">
            <a:off x="762000" y="1397000"/>
            <a:ext cx="10668000" cy="914400"/>
          </a:xfrm>
          <a:prstGeom prst="roundRect">
            <a:avLst>
              <a:gd name="adj" fmla="val 11111"/>
            </a:avLst>
          </a:prstGeom>
          <a:solidFill>
            <a:srgbClr val="F3F9FF">
              <a:alpha val="100000"/>
            </a:srgbClr>
          </a:solidFill>
          <a:ln w="12700" cmpd="sng" cap="flat">
            <a:solidFill>
              <a:srgbClr val="BADBEF">
                <a:alpha val="10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397000"/>
            <a:ext cx="101600" cy="914400"/>
          </a:xfrm>
          <a:prstGeom prst="roundRect">
            <a:avLst>
              <a:gd name="adj" fmla="val 0"/>
            </a:avLst>
          </a:prstGeom>
          <a:solidFill>
            <a:srgbClr val="006699">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143000" y="1498600"/>
            <a:ext cx="10033000" cy="711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002060"/>
                </a:solidFill>
                <a:latin typeface="微软雅黑"/>
                <a:ea typeface="微软雅黑"/>
                <a:cs typeface="微软雅黑"/>
                <a:sym typeface="微软雅黑"/>
              </a:rPr>
              <a:t>01 / 项目概述</a:t>
            </a:r>
            <a:r>
              <a:rPr lang="en-US" b="false" i="false" strike="noStrike" u="none" sz="1500">
                <a:solidFill>
                  <a:srgbClr val="555555"/>
                </a:solidFill>
                <a:latin typeface="Noto Sans SC"/>
                <a:ea typeface="Noto Sans SC"/>
                <a:cs typeface="Noto Sans SC"/>
                <a:sym typeface="Noto Sans SC"/>
              </a:rPr>
              <a:t>—— 阐述课程设计的目的与意义，明确项目的研究背景与核心价值</a:t>
            </a:r>
            <a:endParaRPr lang="en-US" sz="1100"/>
          </a:p>
        </p:txBody>
      </p:sp>
      <p:sp>
        <p:nvSpPr>
          <p:cNvPr name="AutoShape 7" id="7"/>
          <p:cNvSpPr/>
          <p:nvPr/>
        </p:nvSpPr>
        <p:spPr>
          <a:xfrm rot="0" flipH="false" flipV="false">
            <a:off x="762000" y="2565400"/>
            <a:ext cx="10668000" cy="914400"/>
          </a:xfrm>
          <a:prstGeom prst="roundRect">
            <a:avLst>
              <a:gd name="adj" fmla="val 11111"/>
            </a:avLst>
          </a:prstGeom>
          <a:solidFill>
            <a:srgbClr val="F3F9FF">
              <a:alpha val="100000"/>
            </a:srgbClr>
          </a:solidFill>
          <a:ln w="12700" cmpd="sng" cap="flat">
            <a:solidFill>
              <a:srgbClr val="BADBEF">
                <a:alpha val="100000"/>
              </a:srgbClr>
            </a:solid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762000" y="2565400"/>
            <a:ext cx="101600" cy="914400"/>
          </a:xfrm>
          <a:prstGeom prst="roundRect">
            <a:avLst>
              <a:gd name="adj" fmla="val 0"/>
            </a:avLst>
          </a:prstGeom>
          <a:solidFill>
            <a:srgbClr val="006699">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1143000" y="2667000"/>
            <a:ext cx="10033000" cy="711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002060"/>
                </a:solidFill>
                <a:latin typeface="微软雅黑"/>
                <a:ea typeface="微软雅黑"/>
                <a:cs typeface="微软雅黑"/>
                <a:sym typeface="微软雅黑"/>
              </a:rPr>
              <a:t>02 / 项目内容与环境</a:t>
            </a:r>
            <a:r>
              <a:rPr lang="en-US" b="false" i="false" strike="noStrike" u="none" sz="1500">
                <a:solidFill>
                  <a:srgbClr val="555555"/>
                </a:solidFill>
                <a:latin typeface="Noto Sans SC"/>
                <a:ea typeface="Noto Sans SC"/>
                <a:cs typeface="Noto Sans SC"/>
                <a:sym typeface="Noto Sans SC"/>
              </a:rPr>
              <a:t>—— 详细介绍项目的核心业务内容、功能模块划分以及软硬件开发环境</a:t>
            </a:r>
            <a:endParaRPr lang="en-US" sz="1100"/>
          </a:p>
        </p:txBody>
      </p:sp>
      <p:sp>
        <p:nvSpPr>
          <p:cNvPr name="AutoShape 10" id="10"/>
          <p:cNvSpPr/>
          <p:nvPr/>
        </p:nvSpPr>
        <p:spPr>
          <a:xfrm rot="0" flipH="false" flipV="false">
            <a:off x="762000" y="3733800"/>
            <a:ext cx="10668000" cy="914400"/>
          </a:xfrm>
          <a:prstGeom prst="roundRect">
            <a:avLst>
              <a:gd name="adj" fmla="val 11111"/>
            </a:avLst>
          </a:prstGeom>
          <a:solidFill>
            <a:srgbClr val="F3F9FF">
              <a:alpha val="100000"/>
            </a:srgbClr>
          </a:solidFill>
          <a:ln w="12700" cmpd="sng" cap="flat">
            <a:solidFill>
              <a:srgbClr val="BADBEF">
                <a:alpha val="10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762000" y="3733800"/>
            <a:ext cx="101600" cy="914400"/>
          </a:xfrm>
          <a:prstGeom prst="roundRect">
            <a:avLst>
              <a:gd name="adj" fmla="val 0"/>
            </a:avLst>
          </a:prstGeom>
          <a:solidFill>
            <a:srgbClr val="006699">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1143000" y="3835400"/>
            <a:ext cx="10033000" cy="711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002060"/>
                </a:solidFill>
                <a:latin typeface="微软雅黑"/>
                <a:ea typeface="微软雅黑"/>
                <a:cs typeface="微软雅黑"/>
                <a:sym typeface="微软雅黑"/>
              </a:rPr>
              <a:t>03 / 项目实施过程</a:t>
            </a:r>
            <a:r>
              <a:rPr lang="en-US" b="false" i="false" strike="noStrike" u="none" sz="1500">
                <a:solidFill>
                  <a:srgbClr val="555555"/>
                </a:solidFill>
                <a:latin typeface="Noto Sans SC"/>
                <a:ea typeface="Noto Sans SC"/>
                <a:cs typeface="Noto Sans SC"/>
                <a:sym typeface="Noto Sans SC"/>
              </a:rPr>
              <a:t>—— 复盘从需求分析、方案设计、编码实现到最终测试的完整开发流程</a:t>
            </a:r>
            <a:endParaRPr lang="en-US" sz="1100"/>
          </a:p>
        </p:txBody>
      </p:sp>
      <p:sp>
        <p:nvSpPr>
          <p:cNvPr name="AutoShape 13" id="13"/>
          <p:cNvSpPr/>
          <p:nvPr/>
        </p:nvSpPr>
        <p:spPr>
          <a:xfrm rot="0" flipH="false" flipV="false">
            <a:off x="762000" y="4902200"/>
            <a:ext cx="5207000" cy="1397000"/>
          </a:xfrm>
          <a:prstGeom prst="roundRect">
            <a:avLst>
              <a:gd name="adj" fmla="val 7272"/>
            </a:avLst>
          </a:prstGeom>
          <a:solidFill>
            <a:srgbClr val="F3F9FF">
              <a:alpha val="100000"/>
            </a:srgbClr>
          </a:solidFill>
          <a:ln w="12700" cmpd="sng" cap="flat">
            <a:solidFill>
              <a:srgbClr val="BADBEF">
                <a:alpha val="100000"/>
              </a:srgbClr>
            </a:solid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762000" y="4902200"/>
            <a:ext cx="76200" cy="1397000"/>
          </a:xfrm>
          <a:prstGeom prst="roundRect">
            <a:avLst>
              <a:gd name="adj" fmla="val 0"/>
            </a:avLst>
          </a:prstGeom>
          <a:solidFill>
            <a:srgbClr val="006699">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1016000" y="5080000"/>
            <a:ext cx="4699000" cy="1041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02060"/>
                </a:solidFill>
                <a:latin typeface="微软雅黑"/>
                <a:ea typeface="微软雅黑"/>
                <a:cs typeface="微软雅黑"/>
                <a:sym typeface="微软雅黑"/>
              </a:rPr>
              <a:t>04 / 团队分工与成果</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666666"/>
                </a:solidFill>
                <a:latin typeface="Noto Sans SC"/>
                <a:ea typeface="Noto Sans SC"/>
                <a:cs typeface="Noto Sans SC"/>
                <a:sym typeface="Noto Sans SC"/>
              </a:rPr>
              <a:t>明确团队成员的具体角色与分工协作情况，展示项目最终的功能演示与成果亮点。</a:t>
            </a:r>
          </a:p>
        </p:txBody>
      </p:sp>
      <p:sp>
        <p:nvSpPr>
          <p:cNvPr name="AutoShape 16" id="16"/>
          <p:cNvSpPr/>
          <p:nvPr/>
        </p:nvSpPr>
        <p:spPr>
          <a:xfrm rot="0" flipH="false" flipV="false">
            <a:off x="6223000" y="4902200"/>
            <a:ext cx="5207000" cy="1397000"/>
          </a:xfrm>
          <a:prstGeom prst="roundRect">
            <a:avLst>
              <a:gd name="adj" fmla="val 7272"/>
            </a:avLst>
          </a:prstGeom>
          <a:solidFill>
            <a:srgbClr val="F3F9FF">
              <a:alpha val="100000"/>
            </a:srgbClr>
          </a:solidFill>
          <a:ln w="12700" cmpd="sng" cap="flat">
            <a:solidFill>
              <a:srgbClr val="BADBEF">
                <a:alpha val="100000"/>
              </a:srgbClr>
            </a:solid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6223000" y="4902200"/>
            <a:ext cx="76200" cy="1397000"/>
          </a:xfrm>
          <a:prstGeom prst="roundRect">
            <a:avLst>
              <a:gd name="adj" fmla="val 0"/>
            </a:avLst>
          </a:prstGeom>
          <a:solidFill>
            <a:srgbClr val="006699">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6477000" y="5080000"/>
            <a:ext cx="4699000" cy="1041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02060"/>
                </a:solidFill>
                <a:latin typeface="微软雅黑"/>
                <a:ea typeface="微软雅黑"/>
                <a:cs typeface="微软雅黑"/>
                <a:sym typeface="微软雅黑"/>
              </a:rPr>
              <a:t>05 / 总结与展望</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666666"/>
                </a:solidFill>
                <a:latin typeface="Noto Sans SC"/>
                <a:ea typeface="Noto Sans SC"/>
                <a:cs typeface="Noto Sans SC"/>
                <a:sym typeface="Noto Sans SC"/>
              </a:rPr>
              <a:t>总结个人与团队在课程设计中的经验教训、收获与体会，并对未来改进方向进行展望。</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914400"/>
          </a:xfrm>
          <a:prstGeom prst="roundRect">
            <a:avLst>
              <a:gd name="adj" fmla="val 0"/>
            </a:avLst>
          </a:prstGeom>
          <a:solidFill>
            <a:srgbClr val="006699">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609600" y="152400"/>
            <a:ext cx="5207000" cy="647700"/>
          </a:xfrm>
          <a:prstGeom prst="rect">
            <a:avLst/>
          </a:prstGeom>
          <a:noFill/>
          <a:ln w="12700" cmpd="sng" cap="flat">
            <a:noFill/>
            <a:prstDash val="solid"/>
            <a:round/>
          </a:ln>
        </p:spPr>
        <p:txBody>
          <a:bodyPr anchor="ctr" rtlCol="false" anchorCtr="false" vert="horz" wrap="square" lIns="88900" rIns="88900" tIns="50800" bIns="50800"/>
          <a:lstStyle/>
          <a:p>
            <a:pPr algn="l" indent="0">
              <a:lnSpc>
                <a:spcPct val="100000"/>
              </a:lnSpc>
              <a:defRPr/>
            </a:pPr>
            <a:r>
              <a:rPr lang="en-US" b="true" i="false" strike="noStrike" u="none" sz="3600">
                <a:solidFill>
                  <a:srgbClr val="FFFFFF"/>
                </a:solidFill>
                <a:latin typeface="微软雅黑"/>
                <a:ea typeface="微软雅黑"/>
                <a:cs typeface="微软雅黑"/>
                <a:sym typeface="微软雅黑"/>
              </a:rPr>
              <a:t>一、项目概述</a:t>
            </a:r>
            <a:endParaRPr lang="en-US" sz="1100"/>
          </a:p>
        </p:txBody>
      </p:sp>
      <p:sp>
        <p:nvSpPr>
          <p:cNvPr name="AutoShape 4" id="4"/>
          <p:cNvSpPr/>
          <p:nvPr/>
        </p:nvSpPr>
        <p:spPr>
          <a:xfrm rot="0" flipH="false" flipV="false">
            <a:off x="901700" y="1778000"/>
            <a:ext cx="10363200" cy="4318000"/>
          </a:xfrm>
          <a:prstGeom prst="rect">
            <a:avLst/>
          </a:prstGeom>
          <a:noFill/>
          <a:ln w="12700" cmpd="sng" cap="flat">
            <a:noFill/>
            <a:prstDash val="solid"/>
            <a:round/>
          </a:ln>
        </p:spPr>
        <p:txBody>
          <a:bodyPr anchor="t" rtlCol="false" anchorCtr="false" vert="horz" wrap="square" lIns="127000" rIns="127000" tIns="190500" bIns="190500"/>
          <a:lstStyle/>
          <a:p>
            <a:pPr algn="l" indent="0">
              <a:lnSpc>
                <a:spcPct val="133333"/>
              </a:lnSpc>
              <a:defRPr/>
            </a:pPr>
            <a:r>
              <a:rPr lang="en-US" b="true" i="false" strike="noStrike" u="none" sz="2000">
                <a:solidFill>
                  <a:srgbClr val="1F2329"/>
                </a:solidFill>
                <a:latin typeface="Noto Sans SC"/>
                <a:ea typeface="Noto Sans SC"/>
                <a:cs typeface="Noto Sans SC"/>
                <a:sym typeface="Noto Sans SC"/>
              </a:rPr>
              <a:t>▍项目核心阐述</a:t>
            </a:r>
            <a:r>
              <a:rPr lang="en-US" b="false" i="false" strike="noStrike" u="none" sz="1600">
                <a:solidFill>
                  <a:srgbClr val="1F2329"/>
                </a:solidFill>
                <a:latin typeface="Noto Sans SC"/>
                <a:ea typeface="Noto Sans SC"/>
                <a:cs typeface="Noto Sans SC"/>
                <a:sym typeface="Noto Sans SC"/>
              </a:rPr>
              <a:t/>
            </a:r>
            <a:endParaRPr lang="en-US" sz="1100"/>
          </a:p>
          <a:p>
            <a:pPr algn="just" indent="0">
              <a:lnSpc>
                <a:spcPct val="133333"/>
              </a:lnSpc>
              <a:spcBef>
                <a:spcPts val="1200"/>
              </a:spcBef>
            </a:pPr>
            <a:r>
              <a:rPr lang="en-US" b="false" i="false" strike="noStrike" u="none" sz="1600">
                <a:solidFill>
                  <a:srgbClr val="505050"/>
                </a:solidFill>
                <a:latin typeface="Songti SC"/>
                <a:ea typeface="Songti SC"/>
                <a:cs typeface="Songti SC"/>
                <a:sym typeface="Songti SC"/>
              </a:rPr>
              <a:t>在这一部分，我们将对本次课程设计项目进行系统性的概述，重点回答“为什么做”与“做了有什么价值”这两个核心问题。</a:t>
            </a:r>
            <a:r>
              <a:rPr lang="en-US" b="false" i="false" strike="noStrike" u="none" sz="1600">
                <a:solidFill>
                  <a:srgbClr val="1F2329"/>
                </a:solidFill>
                <a:latin typeface="Noto Sans SC"/>
                <a:ea typeface="Noto Sans SC"/>
                <a:cs typeface="Noto Sans SC"/>
                <a:sym typeface="Noto Sans SC"/>
              </a:rPr>
              <a:t/>
            </a:r>
          </a:p>
          <a:p>
            <a:pPr algn="just" indent="0">
              <a:lnSpc>
                <a:spcPct val="133333"/>
              </a:lnSpc>
              <a:spcBef>
                <a:spcPts val="1200"/>
              </a:spcBef>
            </a:pPr>
            <a:r>
              <a:rPr lang="en-US" b="false" i="false" strike="noStrike" u="none" sz="1600">
                <a:solidFill>
                  <a:srgbClr val="505050"/>
                </a:solidFill>
                <a:latin typeface="Songti SC"/>
                <a:ea typeface="Songti SC"/>
                <a:cs typeface="Songti SC"/>
                <a:sym typeface="Songti SC"/>
              </a:rPr>
              <a:t>我们将深入阐述开展课程设计的</a:t>
            </a:r>
            <a:r>
              <a:rPr lang="en-US" b="true" i="false" strike="noStrike" u="none" sz="1600">
                <a:solidFill>
                  <a:srgbClr val="006699"/>
                </a:solidFill>
                <a:latin typeface="Songti SC"/>
                <a:ea typeface="Songti SC"/>
                <a:cs typeface="Songti SC"/>
                <a:sym typeface="Songti SC"/>
              </a:rPr>
              <a:t>目的</a:t>
            </a:r>
            <a:r>
              <a:rPr lang="en-US" b="false" i="false" strike="noStrike" u="none" sz="1600">
                <a:solidFill>
                  <a:srgbClr val="505050"/>
                </a:solidFill>
                <a:latin typeface="Songti SC"/>
                <a:ea typeface="Songti SC"/>
                <a:cs typeface="Songti SC"/>
                <a:sym typeface="Songti SC"/>
              </a:rPr>
              <a:t>——不仅是对理论知识的实践化验证，更是培养独立思考、解决实际问题的专业能力；同时明确项目的</a:t>
            </a:r>
            <a:r>
              <a:rPr lang="en-US" b="true" i="false" strike="noStrike" u="none" sz="1600">
                <a:solidFill>
                  <a:srgbClr val="006699"/>
                </a:solidFill>
                <a:latin typeface="Songti SC"/>
                <a:ea typeface="Songti SC"/>
                <a:cs typeface="Songti SC"/>
                <a:sym typeface="Songti SC"/>
              </a:rPr>
              <a:t>意义</a:t>
            </a:r>
            <a:r>
              <a:rPr lang="en-US" b="false" i="false" strike="noStrike" u="none" sz="1600">
                <a:solidFill>
                  <a:srgbClr val="505050"/>
                </a:solidFill>
                <a:latin typeface="Songti SC"/>
                <a:ea typeface="Songti SC"/>
                <a:cs typeface="Songti SC"/>
                <a:sym typeface="Songti SC"/>
              </a:rPr>
              <a:t>——它不仅是完成学业要求的必经环节，更是连接校园理论与行业实际的桥梁，为未来的专业发展奠定坚实的实践基础。</a:t>
            </a:r>
            <a:r>
              <a:rPr lang="en-US" b="false" i="false" strike="noStrike" u="none" sz="1600">
                <a:solidFill>
                  <a:srgbClr val="1F2329"/>
                </a:solidFill>
                <a:latin typeface="Noto Sans SC"/>
                <a:ea typeface="Noto Sans SC"/>
                <a:cs typeface="Noto Sans SC"/>
                <a:sym typeface="Noto Sans SC"/>
              </a:rPr>
              <a:t/>
            </a:r>
          </a:p>
          <a:p>
            <a:pPr algn="just" indent="0">
              <a:lnSpc>
                <a:spcPct val="133333"/>
              </a:lnSpc>
              <a:spcBef>
                <a:spcPts val="1200"/>
              </a:spcBef>
            </a:pPr>
            <a:r>
              <a:rPr lang="en-US" b="false" i="false" strike="noStrike" u="none" sz="1600">
                <a:solidFill>
                  <a:srgbClr val="505050"/>
                </a:solidFill>
                <a:latin typeface="Songti SC"/>
                <a:ea typeface="Songti SC"/>
                <a:cs typeface="Songti SC"/>
                <a:sym typeface="Songti SC"/>
              </a:rPr>
              <a:t>通过本部分内容，我们将统一团队对项目的认知，确保后续设计与实施环节方向清晰、目标一致。</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914400"/>
          </a:xfrm>
          <a:prstGeom prst="roundRect">
            <a:avLst>
              <a:gd name="adj" fmla="val 0"/>
            </a:avLst>
          </a:prstGeom>
          <a:solidFill>
            <a:srgbClr val="006699">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609600" y="152400"/>
            <a:ext cx="5207000" cy="6477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FFFFFF"/>
                </a:solidFill>
                <a:latin typeface="微软雅黑"/>
                <a:ea typeface="微软雅黑"/>
                <a:cs typeface="微软雅黑"/>
                <a:sym typeface="微软雅黑"/>
              </a:rPr>
              <a:t>一、项目概述</a:t>
            </a:r>
            <a:endParaRPr lang="en-US" sz="1100"/>
          </a:p>
        </p:txBody>
      </p:sp>
      <p:sp>
        <p:nvSpPr>
          <p:cNvPr name="AutoShape 4" id="4"/>
          <p:cNvSpPr/>
          <p:nvPr/>
        </p:nvSpPr>
        <p:spPr>
          <a:xfrm rot="0" flipH="false" flipV="false">
            <a:off x="901700" y="1397000"/>
            <a:ext cx="10388600" cy="4953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spcBef>
                <a:spcPts val="1000"/>
              </a:spcBef>
              <a:defRPr/>
            </a:pPr>
            <a:r>
              <a:rPr lang="en-US" b="true" i="false" strike="noStrike" u="none" sz="2200">
                <a:solidFill>
                  <a:srgbClr val="002060"/>
                </a:solidFill>
                <a:latin typeface="微软雅黑"/>
                <a:ea typeface="微软雅黑"/>
                <a:cs typeface="微软雅黑"/>
                <a:sym typeface="微软雅黑"/>
              </a:rPr>
              <a:t>（一）课程设计目的</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800"/>
              </a:spcBef>
            </a:pPr>
            <a:r>
              <a:rPr lang="en-US" b="false" i="false" strike="noStrike" u="none" sz="1400">
                <a:solidFill>
                  <a:srgbClr val="333333"/>
                </a:solidFill>
                <a:latin typeface="Noto Sans SC"/>
                <a:ea typeface="Noto Sans SC"/>
                <a:cs typeface="Noto Sans SC"/>
                <a:sym typeface="Noto Sans SC"/>
              </a:rPr>
              <a:t>•</a:t>
            </a:r>
            <a:r>
              <a:rPr lang="en-US" b="true" i="false" strike="noStrike" u="none" sz="1400">
                <a:solidFill>
                  <a:srgbClr val="333333"/>
                </a:solidFill>
                <a:latin typeface="Noto Sans SC"/>
                <a:ea typeface="Noto Sans SC"/>
                <a:cs typeface="Noto Sans SC"/>
                <a:sym typeface="Noto Sans SC"/>
              </a:rPr>
              <a:t>知识融合：</a:t>
            </a:r>
            <a:r>
              <a:rPr lang="en-US" b="false" i="false" strike="noStrike" u="none" sz="1400">
                <a:solidFill>
                  <a:srgbClr val="333333"/>
                </a:solidFill>
                <a:latin typeface="Noto Sans SC"/>
                <a:ea typeface="Noto Sans SC"/>
                <a:cs typeface="Noto Sans SC"/>
                <a:sym typeface="Noto Sans SC"/>
              </a:rPr>
              <a:t>将项目管理、软件开发、需求分析、系统测试等多门课程知识融为一体，构建完整的知识体系。</a:t>
            </a:r>
            <a:r>
              <a:rPr lang="en-US" b="false" i="false" strike="noStrike" u="none" sz="1600">
                <a:solidFill>
                  <a:srgbClr val="1F2329"/>
                </a:solidFill>
                <a:latin typeface="Noto Sans SC"/>
                <a:ea typeface="Noto Sans SC"/>
                <a:cs typeface="Noto Sans SC"/>
                <a:sym typeface="Noto Sans SC"/>
              </a:rPr>
              <a:t/>
            </a:r>
          </a:p>
          <a:p>
            <a:pPr algn="l" indent="0">
              <a:lnSpc>
                <a:spcPct val="116666"/>
              </a:lnSpc>
            </a:pPr>
            <a:r>
              <a:rPr lang="en-US" b="false" i="false" strike="noStrike" u="none" sz="1400">
                <a:solidFill>
                  <a:srgbClr val="333333"/>
                </a:solidFill>
                <a:latin typeface="Noto Sans SC"/>
                <a:ea typeface="Noto Sans SC"/>
                <a:cs typeface="Noto Sans SC"/>
                <a:sym typeface="Noto Sans SC"/>
              </a:rPr>
              <a:t>•</a:t>
            </a:r>
            <a:r>
              <a:rPr lang="en-US" b="true" i="false" strike="noStrike" u="none" sz="1400">
                <a:solidFill>
                  <a:srgbClr val="333333"/>
                </a:solidFill>
                <a:latin typeface="Noto Sans SC"/>
                <a:ea typeface="Noto Sans SC"/>
                <a:cs typeface="Noto Sans SC"/>
                <a:sym typeface="Noto Sans SC"/>
              </a:rPr>
              <a:t>能力检验：</a:t>
            </a:r>
            <a:r>
              <a:rPr lang="en-US" b="false" i="false" strike="noStrike" u="none" sz="1400">
                <a:solidFill>
                  <a:srgbClr val="333333"/>
                </a:solidFill>
                <a:latin typeface="Noto Sans SC"/>
                <a:ea typeface="Noto Sans SC"/>
                <a:cs typeface="Noto Sans SC"/>
                <a:sym typeface="Noto Sans SC"/>
              </a:rPr>
              <a:t>全面检验学生理论联系实际的能力，考察对专业知识的综合运用与解决实际问题的水平。</a:t>
            </a:r>
            <a:r>
              <a:rPr lang="en-US" b="false" i="false" strike="noStrike" u="none" sz="1600">
                <a:solidFill>
                  <a:srgbClr val="1F2329"/>
                </a:solidFill>
                <a:latin typeface="Noto Sans SC"/>
                <a:ea typeface="Noto Sans SC"/>
                <a:cs typeface="Noto Sans SC"/>
                <a:sym typeface="Noto Sans SC"/>
              </a:rPr>
              <a:t/>
            </a:r>
          </a:p>
          <a:p>
            <a:pPr algn="l" indent="0">
              <a:lnSpc>
                <a:spcPct val="116666"/>
              </a:lnSpc>
            </a:pPr>
            <a:r>
              <a:rPr lang="en-US" b="false" i="false" strike="noStrike" u="none" sz="1400">
                <a:solidFill>
                  <a:srgbClr val="333333"/>
                </a:solidFill>
                <a:latin typeface="Noto Sans SC"/>
                <a:ea typeface="Noto Sans SC"/>
                <a:cs typeface="Noto Sans SC"/>
                <a:sym typeface="Noto Sans SC"/>
              </a:rPr>
              <a:t>•</a:t>
            </a:r>
            <a:r>
              <a:rPr lang="en-US" b="true" i="false" strike="noStrike" u="none" sz="1400">
                <a:solidFill>
                  <a:srgbClr val="333333"/>
                </a:solidFill>
                <a:latin typeface="Noto Sans SC"/>
                <a:ea typeface="Noto Sans SC"/>
                <a:cs typeface="Noto Sans SC"/>
                <a:sym typeface="Noto Sans SC"/>
              </a:rPr>
              <a:t>流程掌握：</a:t>
            </a:r>
            <a:r>
              <a:rPr lang="en-US" b="false" i="false" strike="noStrike" u="none" sz="1400">
                <a:solidFill>
                  <a:srgbClr val="333333"/>
                </a:solidFill>
                <a:latin typeface="Noto Sans SC"/>
                <a:ea typeface="Noto Sans SC"/>
                <a:cs typeface="Noto Sans SC"/>
                <a:sym typeface="Noto Sans SC"/>
              </a:rPr>
              <a:t>通过全流程实践，系统掌握软件项目生命周期管理的五大过程组（启动、规划、执行、监控、收尾）。</a:t>
            </a:r>
            <a:r>
              <a:rPr lang="en-US" b="false" i="false" strike="noStrike" u="none" sz="1600">
                <a:solidFill>
                  <a:srgbClr val="1F2329"/>
                </a:solidFill>
                <a:latin typeface="Noto Sans SC"/>
                <a:ea typeface="Noto Sans SC"/>
                <a:cs typeface="Noto Sans SC"/>
                <a:sym typeface="Noto Sans SC"/>
              </a:rPr>
              <a:t/>
            </a:r>
          </a:p>
          <a:p>
            <a:pPr algn="l" indent="0">
              <a:lnSpc>
                <a:spcPct val="116666"/>
              </a:lnSpc>
            </a:pPr>
            <a:r>
              <a:rPr lang="en-US" b="false" i="false" strike="noStrike" u="none" sz="1400">
                <a:solidFill>
                  <a:srgbClr val="333333"/>
                </a:solidFill>
                <a:latin typeface="Noto Sans SC"/>
                <a:ea typeface="Noto Sans SC"/>
                <a:cs typeface="Noto Sans SC"/>
                <a:sym typeface="Noto Sans SC"/>
              </a:rPr>
              <a:t>•</a:t>
            </a:r>
            <a:r>
              <a:rPr lang="en-US" b="true" i="false" strike="noStrike" u="none" sz="1400">
                <a:solidFill>
                  <a:srgbClr val="333333"/>
                </a:solidFill>
                <a:latin typeface="Noto Sans SC"/>
                <a:ea typeface="Noto Sans SC"/>
                <a:cs typeface="Noto Sans SC"/>
                <a:sym typeface="Noto Sans SC"/>
              </a:rPr>
              <a:t>技能提升：</a:t>
            </a:r>
            <a:r>
              <a:rPr lang="en-US" b="false" i="false" strike="noStrike" u="none" sz="1400">
                <a:solidFill>
                  <a:srgbClr val="333333"/>
                </a:solidFill>
                <a:latin typeface="Noto Sans SC"/>
                <a:ea typeface="Noto Sans SC"/>
                <a:cs typeface="Noto Sans SC"/>
                <a:sym typeface="Noto Sans SC"/>
              </a:rPr>
              <a:t>熟练运用范围、进度、质量、风险等核心知识域工具，显著提升规范化开发能力与专业文档编写能力。</a:t>
            </a:r>
            <a:r>
              <a:rPr lang="en-US" b="false" i="false" strike="noStrike" u="none" sz="1600">
                <a:solidFill>
                  <a:srgbClr val="1F2329"/>
                </a:solidFill>
                <a:latin typeface="Noto Sans SC"/>
                <a:ea typeface="Noto Sans SC"/>
                <a:cs typeface="Noto Sans SC"/>
                <a:sym typeface="Noto Sans SC"/>
              </a:rPr>
              <a:t/>
            </a:r>
          </a:p>
          <a:p>
            <a:pPr algn="l" indent="0">
              <a:lnSpc>
                <a:spcPct val="100000"/>
              </a:lnSpc>
              <a:spcBef>
                <a:spcPts val="2500"/>
              </a:spcBef>
            </a:pPr>
            <a:r>
              <a:rPr lang="en-US" b="true" i="false" strike="noStrike" u="none" sz="2200">
                <a:solidFill>
                  <a:srgbClr val="002060"/>
                </a:solidFill>
                <a:latin typeface="微软雅黑"/>
                <a:ea typeface="微软雅黑"/>
                <a:cs typeface="微软雅黑"/>
                <a:sym typeface="微软雅黑"/>
              </a:rPr>
              <a:t>（二）课程设计意义</a:t>
            </a:r>
            <a:r>
              <a:rPr lang="en-US" b="false" i="false" strike="noStrike" u="none" sz="1600">
                <a:solidFill>
                  <a:srgbClr val="1F2329"/>
                </a:solidFill>
                <a:latin typeface="Noto Sans SC"/>
                <a:ea typeface="Noto Sans SC"/>
                <a:cs typeface="Noto Sans SC"/>
                <a:sym typeface="Noto Sans SC"/>
              </a:rPr>
              <a:t/>
            </a:r>
          </a:p>
          <a:p>
            <a:pPr algn="l" indent="0">
              <a:lnSpc>
                <a:spcPct val="116666"/>
              </a:lnSpc>
              <a:spcBef>
                <a:spcPts val="800"/>
              </a:spcBef>
            </a:pPr>
            <a:r>
              <a:rPr lang="en-US" b="false" i="false" strike="noStrike" u="none" sz="1400">
                <a:solidFill>
                  <a:srgbClr val="333333"/>
                </a:solidFill>
                <a:latin typeface="Noto Sans SC"/>
                <a:ea typeface="Noto Sans SC"/>
                <a:cs typeface="Noto Sans SC"/>
                <a:sym typeface="Noto Sans SC"/>
              </a:rPr>
              <a:t>•</a:t>
            </a:r>
            <a:r>
              <a:rPr lang="en-US" b="true" i="false" strike="noStrike" u="none" sz="1400">
                <a:solidFill>
                  <a:srgbClr val="333333"/>
                </a:solidFill>
                <a:latin typeface="Noto Sans SC"/>
                <a:ea typeface="Noto Sans SC"/>
                <a:cs typeface="Noto Sans SC"/>
                <a:sym typeface="Noto Sans SC"/>
              </a:rPr>
              <a:t>理论转化实践：</a:t>
            </a:r>
            <a:r>
              <a:rPr lang="en-US" b="false" i="false" strike="noStrike" u="none" sz="1400">
                <a:solidFill>
                  <a:srgbClr val="333333"/>
                </a:solidFill>
                <a:latin typeface="Noto Sans SC"/>
                <a:ea typeface="Noto Sans SC"/>
                <a:cs typeface="Noto Sans SC"/>
                <a:sym typeface="Noto Sans SC"/>
              </a:rPr>
              <a:t>打通课堂理论与行业实践的壁垒，将抽象概念转化为可落地的实操技能，全面提升专业综合能力。</a:t>
            </a:r>
            <a:r>
              <a:rPr lang="en-US" b="false" i="false" strike="noStrike" u="none" sz="1600">
                <a:solidFill>
                  <a:srgbClr val="1F2329"/>
                </a:solidFill>
                <a:latin typeface="Noto Sans SC"/>
                <a:ea typeface="Noto Sans SC"/>
                <a:cs typeface="Noto Sans SC"/>
                <a:sym typeface="Noto Sans SC"/>
              </a:rPr>
              <a:t/>
            </a:r>
          </a:p>
          <a:p>
            <a:pPr algn="l" indent="0">
              <a:lnSpc>
                <a:spcPct val="116666"/>
              </a:lnSpc>
            </a:pPr>
            <a:r>
              <a:rPr lang="en-US" b="false" i="false" strike="noStrike" u="none" sz="1400">
                <a:solidFill>
                  <a:srgbClr val="333333"/>
                </a:solidFill>
                <a:latin typeface="Noto Sans SC"/>
                <a:ea typeface="Noto Sans SC"/>
                <a:cs typeface="Noto Sans SC"/>
                <a:sym typeface="Noto Sans SC"/>
              </a:rPr>
              <a:t>•</a:t>
            </a:r>
            <a:r>
              <a:rPr lang="en-US" b="true" i="false" strike="noStrike" u="none" sz="1400">
                <a:solidFill>
                  <a:srgbClr val="333333"/>
                </a:solidFill>
                <a:latin typeface="Noto Sans SC"/>
                <a:ea typeface="Noto Sans SC"/>
                <a:cs typeface="Noto Sans SC"/>
                <a:sym typeface="Noto Sans SC"/>
              </a:rPr>
              <a:t>综合素养培养：</a:t>
            </a:r>
            <a:r>
              <a:rPr lang="en-US" b="false" i="false" strike="noStrike" u="none" sz="1400">
                <a:solidFill>
                  <a:srgbClr val="333333"/>
                </a:solidFill>
                <a:latin typeface="Noto Sans SC"/>
                <a:ea typeface="Noto Sans SC"/>
                <a:cs typeface="Noto Sans SC"/>
                <a:sym typeface="Noto Sans SC"/>
              </a:rPr>
              <a:t>在项目协作中，着力培养严谨的工程态度、规范的文档意识以及高效的团队沟通与协作精神。</a:t>
            </a:r>
            <a:r>
              <a:rPr lang="en-US" b="false" i="false" strike="noStrike" u="none" sz="1600">
                <a:solidFill>
                  <a:srgbClr val="1F2329"/>
                </a:solidFill>
                <a:latin typeface="Noto Sans SC"/>
                <a:ea typeface="Noto Sans SC"/>
                <a:cs typeface="Noto Sans SC"/>
                <a:sym typeface="Noto Sans SC"/>
              </a:rPr>
              <a:t/>
            </a:r>
          </a:p>
          <a:p>
            <a:pPr algn="l" indent="0">
              <a:lnSpc>
                <a:spcPct val="116666"/>
              </a:lnSpc>
            </a:pPr>
            <a:r>
              <a:rPr lang="en-US" b="false" i="false" strike="noStrike" u="none" sz="1400">
                <a:solidFill>
                  <a:srgbClr val="333333"/>
                </a:solidFill>
                <a:latin typeface="Noto Sans SC"/>
                <a:ea typeface="Noto Sans SC"/>
                <a:cs typeface="Noto Sans SC"/>
                <a:sym typeface="Noto Sans SC"/>
              </a:rPr>
              <a:t>•</a:t>
            </a:r>
            <a:r>
              <a:rPr lang="en-US" b="true" i="false" strike="noStrike" u="none" sz="1400">
                <a:solidFill>
                  <a:srgbClr val="333333"/>
                </a:solidFill>
                <a:latin typeface="Noto Sans SC"/>
                <a:ea typeface="Noto Sans SC"/>
                <a:cs typeface="Noto Sans SC"/>
                <a:sym typeface="Noto Sans SC"/>
              </a:rPr>
              <a:t>奠定职业基础：</a:t>
            </a:r>
            <a:r>
              <a:rPr lang="en-US" b="false" i="false" strike="noStrike" u="none" sz="1400">
                <a:solidFill>
                  <a:srgbClr val="333333"/>
                </a:solidFill>
                <a:latin typeface="Noto Sans SC"/>
                <a:ea typeface="Noto Sans SC"/>
                <a:cs typeface="Noto Sans SC"/>
                <a:sym typeface="Noto Sans SC"/>
              </a:rPr>
              <a:t>深度理解项目管理在软件开发中的核心价值，为未来投身IT行业、胜任开发与管理岗位奠定坚实基础。</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914400"/>
          </a:xfrm>
          <a:prstGeom prst="roundRect">
            <a:avLst>
              <a:gd name="adj" fmla="val 0"/>
            </a:avLst>
          </a:prstGeom>
          <a:solidFill>
            <a:srgbClr val="006699">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Freeform 3" id="3"/>
          <p:cNvSpPr/>
          <p:nvPr/>
        </p:nvSpPr>
        <p:spPr>
          <a:xfrm rot="0" flipH="false" flipV="false">
            <a:off x="-12700" y="342900"/>
            <a:ext cx="8034867" cy="679450"/>
          </a:xfrm>
          <a:custGeom>
            <a:avLst/>
            <a:gdLst/>
            <a:ahLst/>
            <a:cxnLst/>
            <a:rect r="r" b="b" t="t" l="l"/>
            <a:pathLst>
              <a:path h="679450" w="8034867">
                <a:moveTo>
                  <a:pt x="0" y="0"/>
                </a:moveTo>
                <a:lnTo>
                  <a:pt x="8034867" y="0"/>
                </a:lnTo>
                <a:lnTo>
                  <a:pt x="7307500" y="679450"/>
                </a:lnTo>
              </a:path>
            </a:pathLst>
          </a:custGeom>
          <a:no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609600" y="152400"/>
            <a:ext cx="5715000" cy="647700"/>
          </a:xfrm>
          <a:prstGeom prst="rect">
            <a:avLst/>
          </a:prstGeom>
          <a:noFill/>
          <a:ln w="12700" cmpd="sng" cap="flat">
            <a:noFill/>
            <a:prstDash val="solid"/>
            <a:round/>
          </a:ln>
        </p:spPr>
        <p:txBody>
          <a:bodyPr anchor="t" rtlCol="false" anchorCtr="false" vert="horz" wrap="none" lIns="88900" rIns="88900" tIns="50800" bIns="50800"/>
          <a:lstStyle/>
          <a:p>
            <a:pPr algn="l" indent="0">
              <a:lnSpc>
                <a:spcPct val="100000"/>
              </a:lnSpc>
              <a:defRPr/>
            </a:pPr>
            <a:r>
              <a:rPr lang="en-US" b="true" i="false" strike="noStrike" u="none" sz="3600">
                <a:solidFill>
                  <a:srgbClr val="FFFFFF"/>
                </a:solidFill>
                <a:latin typeface="微软雅黑"/>
                <a:ea typeface="微软雅黑"/>
                <a:cs typeface="微软雅黑"/>
                <a:sym typeface="微软雅黑"/>
              </a:rPr>
              <a:t>二、项目内容与环境</a:t>
            </a:r>
            <a:endParaRPr lang="en-US" sz="1100"/>
          </a:p>
        </p:txBody>
      </p:sp>
      <p:sp>
        <p:nvSpPr>
          <p:cNvPr name="AutoShape 5" id="5"/>
          <p:cNvSpPr/>
          <p:nvPr/>
        </p:nvSpPr>
        <p:spPr>
          <a:xfrm rot="0" flipH="false" flipV="false">
            <a:off x="762000" y="1651000"/>
            <a:ext cx="10668000" cy="4445000"/>
          </a:xfrm>
          <a:prstGeom prst="rect">
            <a:avLst/>
          </a:prstGeom>
          <a:noFill/>
          <a:ln w="12700" cmpd="sng" cap="flat">
            <a:noFill/>
            <a:prstDash val="solid"/>
            <a:round/>
          </a:ln>
        </p:spPr>
        <p:txBody>
          <a:bodyPr anchor="t" rtlCol="false" anchorCtr="false" vert="horz" wrap="square" lIns="127000" rIns="127000" tIns="190500" bIns="190500"/>
          <a:lstStyle/>
          <a:p>
            <a:pPr algn="l" indent="0">
              <a:lnSpc>
                <a:spcPct val="133333"/>
              </a:lnSpc>
              <a:defRPr/>
            </a:pPr>
            <a:r>
              <a:rPr lang="en-US" b="true" i="false" strike="noStrike" u="none" sz="2200">
                <a:solidFill>
                  <a:srgbClr val="006699"/>
                </a:solidFill>
                <a:latin typeface="Songti SC"/>
                <a:ea typeface="Songti SC"/>
                <a:cs typeface="Songti SC"/>
                <a:sym typeface="Songti SC"/>
              </a:rPr>
              <a:t>▍项目核心内容</a:t>
            </a:r>
            <a:r>
              <a:rPr lang="en-US" b="false" i="false" strike="noStrike" u="none" sz="1800">
                <a:solidFill>
                  <a:srgbClr val="333333"/>
                </a:solidFill>
                <a:latin typeface="Songti SC"/>
                <a:ea typeface="Songti SC"/>
                <a:cs typeface="Songti SC"/>
                <a:sym typeface="Songti SC"/>
              </a:rPr>
              <a:t/>
            </a:r>
            <a:endParaRPr lang="en-US" sz="1100"/>
          </a:p>
          <a:p>
            <a:pPr algn="l" indent="0">
              <a:lnSpc>
                <a:spcPct val="116666"/>
              </a:lnSpc>
              <a:spcBef>
                <a:spcPts val="1000"/>
              </a:spcBef>
            </a:pPr>
            <a:r>
              <a:rPr lang="en-US" b="false" i="false" strike="noStrike" u="none" sz="1800">
                <a:solidFill>
                  <a:srgbClr val="333333"/>
                </a:solidFill>
                <a:latin typeface="Songti SC"/>
                <a:ea typeface="Songti SC"/>
                <a:cs typeface="Songti SC"/>
                <a:sym typeface="Songti SC"/>
              </a:rPr>
              <a:t>本次课程设计聚焦于构建一个完整的、可落地的应用系统，核心内容包含需求分析、系统架构设计、功能模块开发及系统测试四个关键环节。我们将理论知识转化为实践操作，以解决实际业务场景中的问题为导向，完成从0到1的项目搭建，确保系统在功能完整性、逻辑严密性与用户体验上达到预期目标。</a:t>
            </a:r>
          </a:p>
          <a:p>
            <a:pPr algn="l" indent="0">
              <a:lnSpc>
                <a:spcPct val="133333"/>
              </a:lnSpc>
              <a:spcBef>
                <a:spcPts val="3000"/>
              </a:spcBef>
            </a:pPr>
            <a:r>
              <a:rPr lang="en-US" b="true" i="false" strike="noStrike" u="none" sz="2200">
                <a:solidFill>
                  <a:srgbClr val="006699"/>
                </a:solidFill>
                <a:latin typeface="Songti SC"/>
                <a:ea typeface="Songti SC"/>
                <a:cs typeface="Songti SC"/>
                <a:sym typeface="Songti SC"/>
              </a:rPr>
              <a:t>▍技术与工具环境</a:t>
            </a:r>
            <a:r>
              <a:rPr lang="en-US" b="false" i="false" strike="noStrike" u="none" sz="1800">
                <a:solidFill>
                  <a:srgbClr val="333333"/>
                </a:solidFill>
                <a:latin typeface="Songti SC"/>
                <a:ea typeface="Songti SC"/>
                <a:cs typeface="Songti SC"/>
                <a:sym typeface="Songti SC"/>
              </a:rPr>
              <a:t/>
            </a:r>
          </a:p>
          <a:p>
            <a:pPr algn="l" indent="0">
              <a:lnSpc>
                <a:spcPct val="116666"/>
              </a:lnSpc>
              <a:spcBef>
                <a:spcPts val="1000"/>
              </a:spcBef>
            </a:pPr>
            <a:r>
              <a:rPr lang="en-US" b="false" i="false" strike="noStrike" u="none" sz="1800">
                <a:solidFill>
                  <a:srgbClr val="333333"/>
                </a:solidFill>
                <a:latin typeface="Songti SC"/>
                <a:ea typeface="Songti SC"/>
                <a:cs typeface="Songti SC"/>
                <a:sym typeface="Songti SC"/>
              </a:rPr>
              <a:t>为保障项目顺利实施，我们选用了行业主流且成熟的技术栈与开发工具：在开发环境上，采用 Windows/Linux 双系统兼容配置，搭配 IntelliJ IDEA 作为主要集成开发环境（IDE）；在后端开发中，基于 Spring Boot 框架构建稳定的服务端程序，利用 MySQL 8.0 进行数据持久化存储；前端则采用 Vue.js 框架实现交互式页面设计。同时，借助 Git 进行版本控制，保证代码管理的规范性与协作的高效性。</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914400"/>
          </a:xfrm>
          <a:prstGeom prst="roundRect">
            <a:avLst>
              <a:gd name="adj" fmla="val 0"/>
            </a:avLst>
          </a:prstGeom>
          <a:solidFill>
            <a:srgbClr val="006699">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609600" y="152400"/>
            <a:ext cx="7620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FFFFFF"/>
                </a:solidFill>
                <a:latin typeface="微软雅黑"/>
                <a:ea typeface="微软雅黑"/>
                <a:cs typeface="微软雅黑"/>
                <a:sym typeface="微软雅黑"/>
              </a:rPr>
              <a:t>二、项目内容与环境</a:t>
            </a:r>
            <a:endParaRPr lang="en-US" sz="1100"/>
          </a:p>
        </p:txBody>
      </p:sp>
      <p:sp>
        <p:nvSpPr>
          <p:cNvPr name="AutoShape 4" id="4"/>
          <p:cNvSpPr/>
          <p:nvPr/>
        </p:nvSpPr>
        <p:spPr>
          <a:xfrm rot="0" flipH="false" flipV="false">
            <a:off x="635000" y="1524000"/>
            <a:ext cx="5334000" cy="2413000"/>
          </a:xfrm>
          <a:prstGeom prst="roundRect">
            <a:avLst>
              <a:gd name="adj" fmla="val 0"/>
            </a:avLst>
          </a:prstGeom>
          <a:solidFill>
            <a:srgbClr val="F0F9FF">
              <a:alpha val="100000"/>
            </a:srgbClr>
          </a:solidFill>
          <a:ln w="12700" cmpd="sng" cap="flat">
            <a:solidFill>
              <a:srgbClr val="BAE6FD">
                <a:alpha val="10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889000" y="1778000"/>
            <a:ext cx="4826000" cy="1905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2000">
                <a:solidFill>
                  <a:srgbClr val="002060"/>
                </a:solidFill>
                <a:latin typeface="微软雅黑"/>
                <a:ea typeface="微软雅黑"/>
                <a:cs typeface="微软雅黑"/>
                <a:sym typeface="微软雅黑"/>
              </a:rPr>
              <a:t>01. 完整流程实践</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spcBef>
                <a:spcPts val="1200"/>
              </a:spcBef>
            </a:pPr>
            <a:r>
              <a:rPr lang="en-US" b="false" i="false" strike="noStrike" u="none" sz="1400">
                <a:solidFill>
                  <a:srgbClr val="374151"/>
                </a:solidFill>
                <a:latin typeface="Noto Sans SC"/>
                <a:ea typeface="Noto Sans SC"/>
                <a:cs typeface="Noto Sans SC"/>
                <a:sym typeface="Noto Sans SC"/>
              </a:rPr>
              <a:t>严格遵循软件工程标准流程，完成从项目立项、需求调研、系统设计、开发实现、测试优化到最终答辩汇报的全流程闭环实践，在实践中理解并掌握项目管理的全生命周期知识。</a:t>
            </a:r>
          </a:p>
        </p:txBody>
      </p:sp>
      <p:sp>
        <p:nvSpPr>
          <p:cNvPr name="AutoShape 6" id="6"/>
          <p:cNvSpPr/>
          <p:nvPr/>
        </p:nvSpPr>
        <p:spPr>
          <a:xfrm rot="0" flipH="false" flipV="false">
            <a:off x="6223000" y="1524000"/>
            <a:ext cx="5334000" cy="2413000"/>
          </a:xfrm>
          <a:prstGeom prst="roundRect">
            <a:avLst>
              <a:gd name="adj" fmla="val 0"/>
            </a:avLst>
          </a:prstGeom>
          <a:solidFill>
            <a:srgbClr val="ECFDF5">
              <a:alpha val="100000"/>
            </a:srgbClr>
          </a:solidFill>
          <a:ln w="12700" cmpd="sng" cap="flat">
            <a:solidFill>
              <a:srgbClr val="A7F3D0">
                <a:alpha val="100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6477000" y="1778000"/>
            <a:ext cx="4826000" cy="1905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2000">
                <a:solidFill>
                  <a:srgbClr val="065F46"/>
                </a:solidFill>
                <a:latin typeface="微软雅黑"/>
                <a:ea typeface="微软雅黑"/>
                <a:cs typeface="微软雅黑"/>
                <a:sym typeface="微软雅黑"/>
              </a:rPr>
              <a:t>02. 六大核心功能模块</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spcBef>
                <a:spcPts val="1200"/>
              </a:spcBef>
            </a:pPr>
            <a:r>
              <a:rPr lang="en-US" b="false" i="false" strike="noStrike" u="none" sz="1400">
                <a:solidFill>
                  <a:srgbClr val="374151"/>
                </a:solidFill>
                <a:latin typeface="Noto Sans SC"/>
                <a:ea typeface="Noto Sans SC"/>
                <a:cs typeface="Noto Sans SC"/>
                <a:sym typeface="Noto Sans SC"/>
              </a:rPr>
              <a:t>围绕校园互助场景，打造六大核心功能：用户登录注册、互助求助信息发布、失物招领、闲置物品交换、建议反馈以及简易的后台管理模块，全方位满足师生在校园生活中的互助与交流需求。</a:t>
            </a:r>
          </a:p>
        </p:txBody>
      </p:sp>
      <p:sp>
        <p:nvSpPr>
          <p:cNvPr name="AutoShape 8" id="8"/>
          <p:cNvSpPr/>
          <p:nvPr/>
        </p:nvSpPr>
        <p:spPr>
          <a:xfrm rot="0" flipH="false" flipV="false">
            <a:off x="635000" y="4191000"/>
            <a:ext cx="5334000" cy="2413000"/>
          </a:xfrm>
          <a:prstGeom prst="roundRect">
            <a:avLst>
              <a:gd name="adj" fmla="val 0"/>
            </a:avLst>
          </a:prstGeom>
          <a:solidFill>
            <a:srgbClr val="FFFBEB">
              <a:alpha val="100000"/>
            </a:srgbClr>
          </a:solidFill>
          <a:ln w="12700" cmpd="sng" cap="flat">
            <a:solidFill>
              <a:srgbClr val="FDE68A">
                <a:alpha val="10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889000" y="4445000"/>
            <a:ext cx="4826000" cy="1905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2000">
                <a:solidFill>
                  <a:srgbClr val="92400E"/>
                </a:solidFill>
                <a:latin typeface="微软雅黑"/>
                <a:ea typeface="微软雅黑"/>
                <a:cs typeface="微软雅黑"/>
                <a:sym typeface="微软雅黑"/>
              </a:rPr>
              <a:t>03. 高标准非功能需求</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spcBef>
                <a:spcPts val="1200"/>
              </a:spcBef>
            </a:pPr>
            <a:r>
              <a:rPr lang="en-US" b="false" i="false" strike="noStrike" u="none" sz="1400">
                <a:solidFill>
                  <a:srgbClr val="374151"/>
                </a:solidFill>
                <a:latin typeface="Noto Sans SC"/>
                <a:ea typeface="Noto Sans SC"/>
                <a:cs typeface="Noto Sans SC"/>
                <a:sym typeface="Noto Sans SC"/>
              </a:rPr>
              <a:t>坚持“移动端优先”原则，注重界面设计的美观性与交互逻辑的简洁性；在系统性能上，要求响应速度快，操作流程简单易用，并确保在长时间运行中系统稳定无崩溃，提供流畅的用户体验。</a:t>
            </a:r>
          </a:p>
        </p:txBody>
      </p:sp>
      <p:sp>
        <p:nvSpPr>
          <p:cNvPr name="AutoShape 10" id="10"/>
          <p:cNvSpPr/>
          <p:nvPr/>
        </p:nvSpPr>
        <p:spPr>
          <a:xfrm rot="0" flipH="false" flipV="false">
            <a:off x="6223000" y="4191000"/>
            <a:ext cx="5334000" cy="2413000"/>
          </a:xfrm>
          <a:prstGeom prst="roundRect">
            <a:avLst>
              <a:gd name="adj" fmla="val 0"/>
            </a:avLst>
          </a:prstGeom>
          <a:solidFill>
            <a:srgbClr val="F3E8FF">
              <a:alpha val="100000"/>
            </a:srgbClr>
          </a:solidFill>
          <a:ln w="12700" cmpd="sng" cap="flat">
            <a:solidFill>
              <a:srgbClr val="D8B4FE">
                <a:alpha val="10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6477000" y="4445000"/>
            <a:ext cx="4826000" cy="1905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2000">
                <a:solidFill>
                  <a:srgbClr val="5B21B6"/>
                </a:solidFill>
                <a:latin typeface="微软雅黑"/>
                <a:ea typeface="微软雅黑"/>
                <a:cs typeface="微软雅黑"/>
                <a:sym typeface="微软雅黑"/>
              </a:rPr>
              <a:t>04. 规范化文档输出</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spcBef>
                <a:spcPts val="1200"/>
              </a:spcBef>
            </a:pPr>
            <a:r>
              <a:rPr lang="en-US" b="false" i="false" strike="noStrike" u="none" sz="1400">
                <a:solidFill>
                  <a:srgbClr val="374151"/>
                </a:solidFill>
                <a:latin typeface="Noto Sans SC"/>
                <a:ea typeface="Noto Sans SC"/>
                <a:cs typeface="Noto Sans SC"/>
                <a:sym typeface="Noto Sans SC"/>
              </a:rPr>
              <a:t>严格按照软件开发规范产出文档，包含项目立项报告、可行性分析报告、项目开发计划书、需求规格说明书等全套项目文档，确保项目设计与开发过程有据可依、逻辑完整。</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914400"/>
          </a:xfrm>
          <a:prstGeom prst="roundRect">
            <a:avLst>
              <a:gd name="adj" fmla="val 0"/>
            </a:avLst>
          </a:prstGeom>
          <a:solidFill>
            <a:srgbClr val="006699">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901700" y="127000"/>
            <a:ext cx="10414000" cy="660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FFFFFF"/>
                </a:solidFill>
                <a:latin typeface="微软雅黑"/>
                <a:ea typeface="微软雅黑"/>
                <a:cs typeface="微软雅黑"/>
                <a:sym typeface="微软雅黑"/>
              </a:rPr>
              <a:t>（二）项目开发环境</a:t>
            </a:r>
            <a:endParaRPr lang="en-US" sz="1100"/>
          </a:p>
        </p:txBody>
      </p:sp>
      <p:sp>
        <p:nvSpPr>
          <p:cNvPr name="AutoShape 4" id="4"/>
          <p:cNvSpPr/>
          <p:nvPr/>
        </p:nvSpPr>
        <p:spPr>
          <a:xfrm rot="0" flipH="false" flipV="false">
            <a:off x="901700" y="1524000"/>
            <a:ext cx="5080000" cy="1460500"/>
          </a:xfrm>
          <a:prstGeom prst="roundRect">
            <a:avLst>
              <a:gd name="adj" fmla="val 0"/>
            </a:avLst>
          </a:prstGeom>
          <a:solidFill>
            <a:srgbClr val="F0F9FF">
              <a:alpha val="100000"/>
            </a:srgbClr>
          </a:solidFill>
          <a:ln w="12700" cmpd="sng" cap="flat">
            <a:solidFill>
              <a:srgbClr val="BAE6FD">
                <a:alpha val="10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155700" y="1714500"/>
            <a:ext cx="4572000" cy="10795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800">
                <a:solidFill>
                  <a:srgbClr val="006699"/>
                </a:solidFill>
                <a:latin typeface="Noto Sans SC"/>
                <a:ea typeface="Noto Sans SC"/>
                <a:cs typeface="Noto Sans SC"/>
                <a:sym typeface="Noto Sans SC"/>
              </a:rPr>
              <a:t>▌ 硬件环境</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pPr>
            <a:r>
              <a:rPr lang="en-US" b="false" i="false" strike="noStrike" u="none" sz="1400">
                <a:solidFill>
                  <a:srgbClr val="374151"/>
                </a:solidFill>
                <a:latin typeface="Noto Sans SC"/>
                <a:ea typeface="Noto Sans SC"/>
                <a:cs typeface="Noto Sans SC"/>
                <a:sym typeface="Noto Sans SC"/>
              </a:rPr>
              <a:t>PC计算机（CPU i5+, 8G内存+），满足开发计算资源需求</a:t>
            </a:r>
          </a:p>
        </p:txBody>
      </p:sp>
      <p:sp>
        <p:nvSpPr>
          <p:cNvPr name="AutoShape 6" id="6"/>
          <p:cNvSpPr/>
          <p:nvPr/>
        </p:nvSpPr>
        <p:spPr>
          <a:xfrm rot="0" flipH="false" flipV="false">
            <a:off x="6223000" y="1524000"/>
            <a:ext cx="5080000" cy="1460500"/>
          </a:xfrm>
          <a:prstGeom prst="roundRect">
            <a:avLst>
              <a:gd name="adj" fmla="val 0"/>
            </a:avLst>
          </a:prstGeom>
          <a:solidFill>
            <a:srgbClr val="F0F9FF">
              <a:alpha val="100000"/>
            </a:srgbClr>
          </a:solidFill>
          <a:ln w="12700" cmpd="sng" cap="flat">
            <a:solidFill>
              <a:srgbClr val="BAE6FD">
                <a:alpha val="100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6477000" y="1714500"/>
            <a:ext cx="4572000" cy="10795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800">
                <a:solidFill>
                  <a:srgbClr val="006699"/>
                </a:solidFill>
                <a:latin typeface="Noto Sans SC"/>
                <a:ea typeface="Noto Sans SC"/>
                <a:cs typeface="Noto Sans SC"/>
                <a:sym typeface="Noto Sans SC"/>
              </a:rPr>
              <a:t>▌ 操作系统</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pPr>
            <a:r>
              <a:rPr lang="en-US" b="false" i="false" strike="noStrike" u="none" sz="1400">
                <a:solidFill>
                  <a:srgbClr val="374151"/>
                </a:solidFill>
                <a:latin typeface="Noto Sans SC"/>
                <a:ea typeface="Noto Sans SC"/>
                <a:cs typeface="Noto Sans SC"/>
                <a:sym typeface="Noto Sans SC"/>
              </a:rPr>
              <a:t>采用主流的 Windows 10 / 11 64位 操作系统，兼容性强且生态完善</a:t>
            </a:r>
          </a:p>
        </p:txBody>
      </p:sp>
      <p:sp>
        <p:nvSpPr>
          <p:cNvPr name="AutoShape 8" id="8"/>
          <p:cNvSpPr/>
          <p:nvPr/>
        </p:nvSpPr>
        <p:spPr>
          <a:xfrm rot="0" flipH="false" flipV="false">
            <a:off x="901700" y="3302000"/>
            <a:ext cx="5080000" cy="1460500"/>
          </a:xfrm>
          <a:prstGeom prst="roundRect">
            <a:avLst>
              <a:gd name="adj" fmla="val 0"/>
            </a:avLst>
          </a:prstGeom>
          <a:solidFill>
            <a:srgbClr val="F0F9FF">
              <a:alpha val="100000"/>
            </a:srgbClr>
          </a:solidFill>
          <a:ln w="12700" cmpd="sng" cap="flat">
            <a:solidFill>
              <a:srgbClr val="BAE6FD">
                <a:alpha val="10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1155700" y="3492500"/>
            <a:ext cx="4572000" cy="10795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800">
                <a:solidFill>
                  <a:srgbClr val="006699"/>
                </a:solidFill>
                <a:latin typeface="Noto Sans SC"/>
                <a:ea typeface="Noto Sans SC"/>
                <a:cs typeface="Noto Sans SC"/>
                <a:sym typeface="Noto Sans SC"/>
              </a:rPr>
              <a:t>▌ 开发工具</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pPr>
            <a:r>
              <a:rPr lang="en-US" b="false" i="false" strike="noStrike" u="none" sz="1400">
                <a:solidFill>
                  <a:srgbClr val="374151"/>
                </a:solidFill>
                <a:latin typeface="Noto Sans SC"/>
                <a:ea typeface="Noto Sans SC"/>
                <a:cs typeface="Noto Sans SC"/>
                <a:sym typeface="Noto Sans SC"/>
              </a:rPr>
              <a:t>VS Code (轻量级代码编辑器) ｜ Google Chrome (调试与预览) ｜ ProcessOn (流程图绘制)</a:t>
            </a:r>
          </a:p>
        </p:txBody>
      </p:sp>
      <p:sp>
        <p:nvSpPr>
          <p:cNvPr name="AutoShape 10" id="10"/>
          <p:cNvSpPr/>
          <p:nvPr/>
        </p:nvSpPr>
        <p:spPr>
          <a:xfrm rot="0" flipH="false" flipV="false">
            <a:off x="6223000" y="3302000"/>
            <a:ext cx="5080000" cy="1460500"/>
          </a:xfrm>
          <a:prstGeom prst="roundRect">
            <a:avLst>
              <a:gd name="adj" fmla="val 0"/>
            </a:avLst>
          </a:prstGeom>
          <a:solidFill>
            <a:srgbClr val="F0F9FF">
              <a:alpha val="100000"/>
            </a:srgbClr>
          </a:solidFill>
          <a:ln w="12700" cmpd="sng" cap="flat">
            <a:solidFill>
              <a:srgbClr val="BAE6FD">
                <a:alpha val="10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6477000" y="3492500"/>
            <a:ext cx="4572000" cy="10795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800">
                <a:solidFill>
                  <a:srgbClr val="006699"/>
                </a:solidFill>
                <a:latin typeface="Noto Sans SC"/>
                <a:ea typeface="Noto Sans SC"/>
                <a:cs typeface="Noto Sans SC"/>
                <a:sym typeface="Noto Sans SC"/>
              </a:rPr>
              <a:t>▌ 核心开发技术栈</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pPr>
            <a:r>
              <a:rPr lang="en-US" b="false" i="false" strike="noStrike" u="none" sz="1400">
                <a:solidFill>
                  <a:srgbClr val="374151"/>
                </a:solidFill>
                <a:latin typeface="Noto Sans SC"/>
                <a:ea typeface="Noto Sans SC"/>
                <a:cs typeface="Noto Sans SC"/>
                <a:sym typeface="Noto Sans SC"/>
              </a:rPr>
              <a:t>前端三剑客：HTML (结构) + CSS (样式) + JavaScript (交互逻辑)，构建完整Web页面</a:t>
            </a:r>
          </a:p>
        </p:txBody>
      </p:sp>
      <p:sp>
        <p:nvSpPr>
          <p:cNvPr name="AutoShape 12" id="12"/>
          <p:cNvSpPr/>
          <p:nvPr/>
        </p:nvSpPr>
        <p:spPr>
          <a:xfrm rot="0" flipH="false" flipV="false">
            <a:off x="901700" y="5080000"/>
            <a:ext cx="5080000" cy="1460500"/>
          </a:xfrm>
          <a:prstGeom prst="roundRect">
            <a:avLst>
              <a:gd name="adj" fmla="val 0"/>
            </a:avLst>
          </a:prstGeom>
          <a:solidFill>
            <a:srgbClr val="F0F9FF">
              <a:alpha val="100000"/>
            </a:srgbClr>
          </a:solidFill>
          <a:ln w="12700" cmpd="sng" cap="flat">
            <a:solidFill>
              <a:srgbClr val="BAE6FD">
                <a:alpha val="100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1155700" y="5270500"/>
            <a:ext cx="4572000" cy="10795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800">
                <a:solidFill>
                  <a:srgbClr val="006699"/>
                </a:solidFill>
                <a:latin typeface="Noto Sans SC"/>
                <a:ea typeface="Noto Sans SC"/>
                <a:cs typeface="Noto Sans SC"/>
                <a:sym typeface="Noto Sans SC"/>
              </a:rPr>
              <a:t>▌ 数据存储方案</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pPr>
            <a:r>
              <a:rPr lang="en-US" b="false" i="false" strike="noStrike" u="none" sz="1400">
                <a:solidFill>
                  <a:srgbClr val="374151"/>
                </a:solidFill>
                <a:latin typeface="Noto Sans SC"/>
                <a:ea typeface="Noto Sans SC"/>
                <a:cs typeface="Noto Sans SC"/>
                <a:sym typeface="Noto Sans SC"/>
              </a:rPr>
              <a:t>纯前端本地存储 (LocalStorage)，无需搭建后端数据库与服务器，实现数据持久化</a:t>
            </a:r>
          </a:p>
        </p:txBody>
      </p:sp>
      <p:sp>
        <p:nvSpPr>
          <p:cNvPr name="AutoShape 14" id="14"/>
          <p:cNvSpPr/>
          <p:nvPr/>
        </p:nvSpPr>
        <p:spPr>
          <a:xfrm rot="0" flipH="false" flipV="false">
            <a:off x="6223000" y="5080000"/>
            <a:ext cx="5080000" cy="1460500"/>
          </a:xfrm>
          <a:prstGeom prst="roundRect">
            <a:avLst>
              <a:gd name="adj" fmla="val 0"/>
            </a:avLst>
          </a:prstGeom>
          <a:solidFill>
            <a:srgbClr val="F0F9FF">
              <a:alpha val="100000"/>
            </a:srgbClr>
          </a:solidFill>
          <a:ln w="12700" cmpd="sng" cap="flat">
            <a:solidFill>
              <a:srgbClr val="BAE6FD">
                <a:alpha val="100000"/>
              </a:srgbClr>
            </a:solid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6477000" y="5270500"/>
            <a:ext cx="4572000" cy="10795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800">
                <a:solidFill>
                  <a:srgbClr val="006699"/>
                </a:solidFill>
                <a:latin typeface="Noto Sans SC"/>
                <a:ea typeface="Noto Sans SC"/>
                <a:cs typeface="Noto Sans SC"/>
                <a:sym typeface="Noto Sans SC"/>
              </a:rPr>
              <a:t>▌ 文档与设计辅助工具</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pPr>
            <a:r>
              <a:rPr lang="en-US" b="false" i="false" strike="noStrike" u="none" sz="1400">
                <a:solidFill>
                  <a:srgbClr val="374151"/>
                </a:solidFill>
                <a:latin typeface="Noto Sans SC"/>
                <a:ea typeface="Noto Sans SC"/>
                <a:cs typeface="Noto Sans SC"/>
                <a:sym typeface="Noto Sans SC"/>
              </a:rPr>
              <a:t>Microsoft Office (文档撰写) + 在线原型工具 (UI设计) + 在线图表工具 (数据分析)</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914400"/>
          </a:xfrm>
          <a:prstGeom prst="roundRect">
            <a:avLst>
              <a:gd name="adj" fmla="val 0"/>
            </a:avLst>
          </a:prstGeom>
          <a:solidFill>
            <a:srgbClr val="006699">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Freeform 3" id="3"/>
          <p:cNvSpPr/>
          <p:nvPr/>
        </p:nvSpPr>
        <p:spPr>
          <a:xfrm rot="0" flipH="false" flipV="false">
            <a:off x="-12700" y="342900"/>
            <a:ext cx="8034867" cy="679450"/>
          </a:xfrm>
          <a:custGeom>
            <a:avLst/>
            <a:gdLst/>
            <a:ahLst/>
            <a:cxnLst/>
            <a:rect r="r" b="b" t="t" l="l"/>
            <a:pathLst>
              <a:path h="679450" w="8034867">
                <a:moveTo>
                  <a:pt x="0" y="0"/>
                </a:moveTo>
                <a:lnTo>
                  <a:pt x="8034867" y="0"/>
                </a:lnTo>
                <a:lnTo>
                  <a:pt x="7307500" y="679450"/>
                </a:lnTo>
              </a:path>
            </a:pathLst>
          </a:custGeom>
          <a:solidFill>
            <a:srgbClr val="FFFFFF">
              <a:alpha val="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609600" y="152400"/>
            <a:ext cx="6350000" cy="647700"/>
          </a:xfrm>
          <a:prstGeom prst="rect">
            <a:avLst/>
          </a:prstGeom>
          <a:noFill/>
          <a:ln w="12700" cmpd="sng" cap="flat">
            <a:noFill/>
            <a:prstDash val="solid"/>
            <a:round/>
          </a:ln>
        </p:spPr>
        <p:txBody>
          <a:bodyPr anchor="ctr" rtlCol="false" anchorCtr="false" vert="horz" wrap="square" lIns="88900" rIns="88900" tIns="50800" bIns="50800"/>
          <a:lstStyle/>
          <a:p>
            <a:pPr algn="l" indent="0">
              <a:lnSpc>
                <a:spcPct val="125000"/>
              </a:lnSpc>
              <a:defRPr/>
            </a:pPr>
            <a:r>
              <a:rPr lang="en-US" b="true" i="false" strike="noStrike" u="none" sz="3600">
                <a:solidFill>
                  <a:srgbClr val="FFFFFF"/>
                </a:solidFill>
                <a:latin typeface="微软雅黑"/>
                <a:ea typeface="微软雅黑"/>
                <a:cs typeface="微软雅黑"/>
                <a:sym typeface="微软雅黑"/>
              </a:rPr>
              <a:t>三、项目实施过程</a:t>
            </a:r>
            <a:endParaRPr lang="en-US" sz="1100"/>
          </a:p>
        </p:txBody>
      </p:sp>
      <p:sp>
        <p:nvSpPr>
          <p:cNvPr name="AutoShape 5" id="5"/>
          <p:cNvSpPr/>
          <p:nvPr/>
        </p:nvSpPr>
        <p:spPr>
          <a:xfrm rot="0" flipH="false" flipV="false">
            <a:off x="901700" y="1778000"/>
            <a:ext cx="10388600" cy="4318000"/>
          </a:xfrm>
          <a:prstGeom prst="rect">
            <a:avLst/>
          </a:prstGeom>
          <a:noFill/>
          <a:ln w="12700" cmpd="sng" cap="flat">
            <a:noFill/>
            <a:prstDash val="solid"/>
            <a:round/>
          </a:ln>
        </p:spPr>
        <p:txBody>
          <a:bodyPr anchor="t" rtlCol="false" anchorCtr="false" vert="horz" wrap="square" lIns="127000" rIns="127000" tIns="254000" bIns="254000"/>
          <a:lstStyle/>
          <a:p>
            <a:pPr algn="l" indent="0">
              <a:lnSpc>
                <a:spcPct val="133333"/>
              </a:lnSpc>
              <a:defRPr/>
            </a:pPr>
            <a:r>
              <a:rPr lang="en-US" b="false" i="false" strike="noStrike" u="none" sz="2200">
                <a:solidFill>
                  <a:srgbClr val="333333"/>
                </a:solidFill>
                <a:latin typeface="Noto Sans SC"/>
                <a:ea typeface="Noto Sans SC"/>
                <a:cs typeface="Noto Sans SC"/>
                <a:sym typeface="Noto Sans SC"/>
              </a:rPr>
              <a:t>现在，我们进入汇报的核心部分——项目实施过程。在这一部分，我将详细介绍我们如何将一个想法一步步变为现实，涵盖从计划到实现的全过程。</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33333"/>
              </a:lnSpc>
              <a:spcBef>
                <a:spcPts val="3000"/>
              </a:spcBef>
            </a:pPr>
            <a:r>
              <a:rPr lang="en-US" b="false" i="false" strike="noStrike" u="none" sz="1800">
                <a:solidFill>
                  <a:srgbClr val="555555"/>
                </a:solidFill>
                <a:latin typeface="Noto Sans SC"/>
                <a:ea typeface="Noto Sans SC"/>
                <a:cs typeface="Noto Sans SC"/>
                <a:sym typeface="Noto Sans SC"/>
              </a:rPr>
              <a:t>我们将从以下几个维度展开汇报：</a:t>
            </a:r>
            <a:r>
              <a:rPr lang="en-US" b="false" i="false" strike="noStrike" u="none" sz="1600">
                <a:solidFill>
                  <a:srgbClr val="1F2329"/>
                </a:solidFill>
                <a:latin typeface="Noto Sans SC"/>
                <a:ea typeface="Noto Sans SC"/>
                <a:cs typeface="Noto Sans SC"/>
                <a:sym typeface="Noto Sans SC"/>
              </a:rPr>
              <a:t/>
            </a:r>
          </a:p>
          <a:p>
            <a:pPr algn="l" indent="0">
              <a:lnSpc>
                <a:spcPct val="125000"/>
              </a:lnSpc>
              <a:spcBef>
                <a:spcPts val="1500"/>
              </a:spcBef>
            </a:pPr>
            <a:r>
              <a:rPr lang="en-US" b="false" i="false" strike="noStrike" u="none" sz="1600">
                <a:solidFill>
                  <a:srgbClr val="666666"/>
                </a:solidFill>
                <a:latin typeface="Noto Sans SC"/>
                <a:ea typeface="Noto Sans SC"/>
                <a:cs typeface="Noto Sans SC"/>
                <a:sym typeface="Noto Sans SC"/>
              </a:rPr>
              <a:t>• 项目前期筹备与规划：明确目标、拆解任务与资源配置</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600">
                <a:solidFill>
                  <a:srgbClr val="666666"/>
                </a:solidFill>
                <a:latin typeface="Noto Sans SC"/>
                <a:ea typeface="Noto Sans SC"/>
                <a:cs typeface="Noto Sans SC"/>
                <a:sym typeface="Noto Sans SC"/>
              </a:rPr>
              <a:t>• 核心实施阶段：关键步骤、执行重点与质量把控措施</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600">
                <a:solidFill>
                  <a:srgbClr val="666666"/>
                </a:solidFill>
                <a:latin typeface="Noto Sans SC"/>
                <a:ea typeface="Noto Sans SC"/>
                <a:cs typeface="Noto Sans SC"/>
                <a:sym typeface="Noto Sans SC"/>
              </a:rPr>
              <a:t>• 收尾与复盘：成果验收标准及项目经验总结</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1016000"/>
          </a:xfrm>
          <a:prstGeom prst="roundRect">
            <a:avLst>
              <a:gd name="adj" fmla="val 0"/>
            </a:avLst>
          </a:prstGeom>
          <a:solidFill>
            <a:srgbClr val="006699">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901700" y="152400"/>
            <a:ext cx="10160000" cy="711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FFFFFF"/>
                </a:solidFill>
                <a:latin typeface="微软雅黑"/>
                <a:ea typeface="微软雅黑"/>
                <a:cs typeface="微软雅黑"/>
                <a:sym typeface="微软雅黑"/>
              </a:rPr>
              <a:t>三、项目实施过程</a:t>
            </a:r>
            <a:endParaRPr lang="en-US" sz="1100"/>
          </a:p>
        </p:txBody>
      </p:sp>
      <p:sp>
        <p:nvSpPr>
          <p:cNvPr name="AutoShape 4" id="4"/>
          <p:cNvSpPr/>
          <p:nvPr/>
        </p:nvSpPr>
        <p:spPr>
          <a:xfrm rot="0" flipH="false" flipV="false">
            <a:off x="901700" y="1206500"/>
            <a:ext cx="103886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400">
                <a:solidFill>
                  <a:srgbClr val="003366"/>
                </a:solidFill>
                <a:latin typeface="微软雅黑"/>
                <a:ea typeface="微软雅黑"/>
                <a:cs typeface="微软雅黑"/>
                <a:sym typeface="微软雅黑"/>
              </a:rPr>
              <a:t>（一）项目计划与时间轴</a:t>
            </a:r>
            <a:endParaRPr lang="en-US" sz="1100"/>
          </a:p>
        </p:txBody>
      </p:sp>
      <p:sp>
        <p:nvSpPr>
          <p:cNvPr name="AutoShape 5" id="5"/>
          <p:cNvSpPr/>
          <p:nvPr/>
        </p:nvSpPr>
        <p:spPr>
          <a:xfrm rot="0" flipH="false" flipV="false">
            <a:off x="901700" y="2032000"/>
            <a:ext cx="5207000" cy="4318000"/>
          </a:xfrm>
          <a:prstGeom prst="roundRect">
            <a:avLst>
              <a:gd name="adj" fmla="val 0"/>
            </a:avLst>
          </a:prstGeom>
          <a:solidFill>
            <a:srgbClr val="F0F9FF">
              <a:alpha val="100000"/>
            </a:srgbClr>
          </a:solidFill>
          <a:ln w="12700" cmpd="sng" cap="flat">
            <a:solidFill>
              <a:srgbClr val="CFE8FF">
                <a:alpha val="10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92200" y="2222500"/>
            <a:ext cx="4826000" cy="3937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spcBef>
                <a:spcPts val="800"/>
              </a:spcBef>
              <a:defRPr/>
            </a:pPr>
            <a:r>
              <a:rPr lang="en-US" b="true" i="false" strike="noStrike" u="none" sz="1600">
                <a:solidFill>
                  <a:srgbClr val="004080"/>
                </a:solidFill>
                <a:latin typeface="Noto Sans SC"/>
                <a:ea typeface="Noto Sans SC"/>
                <a:cs typeface="Noto Sans SC"/>
                <a:sym typeface="Noto Sans SC"/>
              </a:rPr>
              <a:t>第 1 周： 启动与调研</a:t>
            </a:r>
            <a:r>
              <a:rPr lang="en-US" b="false" i="false" strike="noStrike" u="none" sz="1400">
                <a:solidFill>
                  <a:srgbClr val="333333"/>
                </a:solidFill>
                <a:latin typeface="Noto Sans SC"/>
                <a:ea typeface="Noto Sans SC"/>
                <a:cs typeface="Noto Sans SC"/>
                <a:sym typeface="Noto Sans SC"/>
              </a:rPr>
              <a:t>项目正式启动，完成需求调研分析，确立项目目标并完成立项工作。</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600"/>
              </a:spcBef>
            </a:pPr>
            <a:r>
              <a:rPr lang="en-US" b="true" i="false" strike="noStrike" u="none" sz="1600">
                <a:solidFill>
                  <a:srgbClr val="004080"/>
                </a:solidFill>
                <a:latin typeface="Noto Sans SC"/>
                <a:ea typeface="Noto Sans SC"/>
                <a:cs typeface="Noto Sans SC"/>
                <a:sym typeface="Noto Sans SC"/>
              </a:rPr>
              <a:t>第 2 周： 规划与分解</a:t>
            </a:r>
            <a:r>
              <a:rPr lang="en-US" b="false" i="false" strike="noStrike" u="none" sz="1400">
                <a:solidFill>
                  <a:srgbClr val="333333"/>
                </a:solidFill>
                <a:latin typeface="Noto Sans SC"/>
                <a:ea typeface="Noto Sans SC"/>
                <a:cs typeface="Noto Sans SC"/>
                <a:sym typeface="Noto Sans SC"/>
              </a:rPr>
              <a:t>制定详细项目实施计划，完成WBS任务分解与甘特图制作，深化需求分析。</a:t>
            </a:r>
            <a:r>
              <a:rPr lang="en-US" b="false" i="false" strike="noStrike" u="none" sz="1600">
                <a:solidFill>
                  <a:srgbClr val="1F2329"/>
                </a:solidFill>
                <a:latin typeface="Noto Sans SC"/>
                <a:ea typeface="Noto Sans SC"/>
                <a:cs typeface="Noto Sans SC"/>
                <a:sym typeface="Noto Sans SC"/>
              </a:rPr>
              <a:t/>
            </a:r>
          </a:p>
          <a:p>
            <a:pPr algn="l" indent="0">
              <a:lnSpc>
                <a:spcPct val="116666"/>
              </a:lnSpc>
              <a:spcBef>
                <a:spcPts val="1600"/>
              </a:spcBef>
            </a:pPr>
            <a:r>
              <a:rPr lang="en-US" b="true" i="false" strike="noStrike" u="none" sz="1600">
                <a:solidFill>
                  <a:srgbClr val="004080"/>
                </a:solidFill>
                <a:latin typeface="Noto Sans SC"/>
                <a:ea typeface="Noto Sans SC"/>
                <a:cs typeface="Noto Sans SC"/>
                <a:sym typeface="Noto Sans SC"/>
              </a:rPr>
              <a:t>第 3 周： 原型与设计</a:t>
            </a:r>
            <a:r>
              <a:rPr lang="en-US" b="false" i="false" strike="noStrike" u="none" sz="1400">
                <a:solidFill>
                  <a:srgbClr val="333333"/>
                </a:solidFill>
                <a:latin typeface="Noto Sans SC"/>
                <a:ea typeface="Noto Sans SC"/>
                <a:cs typeface="Noto Sans SC"/>
                <a:sym typeface="Noto Sans SC"/>
              </a:rPr>
              <a:t>完成系统功能原型、整体功能结构设计及前端界面的视觉与交互设计。</a:t>
            </a:r>
            <a:r>
              <a:rPr lang="en-US" b="false" i="false" strike="noStrike" u="none" sz="1600">
                <a:solidFill>
                  <a:srgbClr val="1F2329"/>
                </a:solidFill>
                <a:latin typeface="Noto Sans SC"/>
                <a:ea typeface="Noto Sans SC"/>
                <a:cs typeface="Noto Sans SC"/>
                <a:sym typeface="Noto Sans SC"/>
              </a:rPr>
              <a:t/>
            </a:r>
          </a:p>
          <a:p>
            <a:pPr algn="l" indent="0">
              <a:lnSpc>
                <a:spcPct val="116666"/>
              </a:lnSpc>
              <a:spcBef>
                <a:spcPts val="1600"/>
              </a:spcBef>
            </a:pPr>
            <a:r>
              <a:rPr lang="en-US" b="true" i="false" strike="noStrike" u="none" sz="1600">
                <a:solidFill>
                  <a:srgbClr val="004080"/>
                </a:solidFill>
                <a:latin typeface="Noto Sans SC"/>
                <a:ea typeface="Noto Sans SC"/>
                <a:cs typeface="Noto Sans SC"/>
                <a:sym typeface="Noto Sans SC"/>
              </a:rPr>
              <a:t>第 4 周： 前端开发</a:t>
            </a:r>
            <a:r>
              <a:rPr lang="en-US" b="false" i="false" strike="noStrike" u="none" sz="1400">
                <a:solidFill>
                  <a:srgbClr val="333333"/>
                </a:solidFill>
                <a:latin typeface="Noto Sans SC"/>
                <a:ea typeface="Noto Sans SC"/>
                <a:cs typeface="Noto Sans SC"/>
                <a:sym typeface="Noto Sans SC"/>
              </a:rPr>
              <a:t>开展前端页面编码实现，完成页面样式美化及前端交互逻辑的开发与调试。</a:t>
            </a:r>
          </a:p>
        </p:txBody>
      </p:sp>
      <p:sp>
        <p:nvSpPr>
          <p:cNvPr name="AutoShape 7" id="7"/>
          <p:cNvSpPr/>
          <p:nvPr/>
        </p:nvSpPr>
        <p:spPr>
          <a:xfrm rot="0" flipH="false" flipV="false">
            <a:off x="6223000" y="2032000"/>
            <a:ext cx="5207000" cy="4318000"/>
          </a:xfrm>
          <a:prstGeom prst="roundRect">
            <a:avLst>
              <a:gd name="adj" fmla="val 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6413500" y="2222500"/>
            <a:ext cx="4826000" cy="3937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spcBef>
                <a:spcPts val="800"/>
              </a:spcBef>
              <a:defRPr/>
            </a:pPr>
            <a:r>
              <a:rPr lang="en-US" b="true" i="false" strike="noStrike" u="none" sz="1600">
                <a:solidFill>
                  <a:srgbClr val="D97706"/>
                </a:solidFill>
                <a:latin typeface="Noto Sans SC"/>
                <a:ea typeface="Noto Sans SC"/>
                <a:cs typeface="Noto Sans SC"/>
                <a:sym typeface="Noto Sans SC"/>
              </a:rPr>
              <a:t>第 5 周： 后端与联调</a:t>
            </a:r>
            <a:r>
              <a:rPr lang="en-US" b="false" i="false" strike="noStrike" u="none" sz="1400">
                <a:solidFill>
                  <a:srgbClr val="333333"/>
                </a:solidFill>
                <a:latin typeface="Noto Sans SC"/>
                <a:ea typeface="Noto Sans SC"/>
                <a:cs typeface="Noto Sans SC"/>
                <a:sym typeface="Noto Sans SC"/>
              </a:rPr>
              <a:t>实现核心业务逻辑与数据处理功能，完成前后端接口对接及全流程联调。</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2400"/>
              </a:spcBef>
            </a:pPr>
            <a:r>
              <a:rPr lang="en-US" b="true" i="false" strike="noStrike" u="none" sz="1600">
                <a:solidFill>
                  <a:srgbClr val="D97706"/>
                </a:solidFill>
                <a:latin typeface="Noto Sans SC"/>
                <a:ea typeface="Noto Sans SC"/>
                <a:cs typeface="Noto Sans SC"/>
                <a:sym typeface="Noto Sans SC"/>
              </a:rPr>
              <a:t>第 6 周： 测试与优化</a:t>
            </a:r>
            <a:r>
              <a:rPr lang="en-US" b="false" i="false" strike="noStrike" u="none" sz="1400">
                <a:solidFill>
                  <a:srgbClr val="333333"/>
                </a:solidFill>
                <a:latin typeface="Noto Sans SC"/>
                <a:ea typeface="Noto Sans SC"/>
                <a:cs typeface="Noto Sans SC"/>
                <a:sym typeface="Noto Sans SC"/>
              </a:rPr>
              <a:t>进行系统全面测试与缺陷修复，优化界面体验并完善工程部署相关配置。</a:t>
            </a:r>
            <a:r>
              <a:rPr lang="en-US" b="false" i="false" strike="noStrike" u="none" sz="1600">
                <a:solidFill>
                  <a:srgbClr val="1F2329"/>
                </a:solidFill>
                <a:latin typeface="Noto Sans SC"/>
                <a:ea typeface="Noto Sans SC"/>
                <a:cs typeface="Noto Sans SC"/>
                <a:sym typeface="Noto Sans SC"/>
              </a:rPr>
              <a:t/>
            </a:r>
          </a:p>
          <a:p>
            <a:pPr algn="l" indent="0">
              <a:lnSpc>
                <a:spcPct val="116666"/>
              </a:lnSpc>
              <a:spcBef>
                <a:spcPts val="2400"/>
              </a:spcBef>
            </a:pPr>
            <a:r>
              <a:rPr lang="en-US" b="true" i="false" strike="noStrike" u="none" sz="1600">
                <a:solidFill>
                  <a:srgbClr val="10B981"/>
                </a:solidFill>
                <a:latin typeface="Noto Sans SC"/>
                <a:ea typeface="Noto Sans SC"/>
                <a:cs typeface="Noto Sans SC"/>
                <a:sym typeface="Noto Sans SC"/>
              </a:rPr>
              <a:t>第 7 周： 验收与答辩</a:t>
            </a:r>
            <a:r>
              <a:rPr lang="en-US" b="false" i="false" strike="noStrike" u="none" sz="1400">
                <a:solidFill>
                  <a:srgbClr val="333333"/>
                </a:solidFill>
                <a:latin typeface="Noto Sans SC"/>
                <a:ea typeface="Noto Sans SC"/>
                <a:cs typeface="Noto Sans SC"/>
                <a:sym typeface="Noto Sans SC"/>
              </a:rPr>
              <a:t>完善技术文档与用户手册，制作项目汇报PPT，进行答辩演练并提交最终成果。</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914400"/>
          </a:xfrm>
          <a:prstGeom prst="roundRect">
            <a:avLst>
              <a:gd name="adj" fmla="val 0"/>
            </a:avLst>
          </a:prstGeom>
          <a:solidFill>
            <a:srgbClr val="006699">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901700" y="165100"/>
            <a:ext cx="10160000" cy="6477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FFFFFF"/>
                </a:solidFill>
                <a:latin typeface="微软雅黑"/>
                <a:ea typeface="微软雅黑"/>
                <a:cs typeface="微软雅黑"/>
                <a:sym typeface="微软雅黑"/>
              </a:rPr>
              <a:t>（二）需求分析</a:t>
            </a:r>
            <a:endParaRPr lang="en-US" sz="1100"/>
          </a:p>
        </p:txBody>
      </p:sp>
      <p:sp>
        <p:nvSpPr>
          <p:cNvPr name="AutoShape 4" id="4"/>
          <p:cNvSpPr/>
          <p:nvPr/>
        </p:nvSpPr>
        <p:spPr>
          <a:xfrm rot="0" flipH="false" flipV="false">
            <a:off x="901700" y="1524000"/>
            <a:ext cx="3302000" cy="4572000"/>
          </a:xfrm>
          <a:prstGeom prst="roundRect">
            <a:avLst>
              <a:gd name="adj" fmla="val 4615"/>
            </a:avLst>
          </a:prstGeom>
          <a:solidFill>
            <a:srgbClr val="F1F8FF">
              <a:alpha val="100000"/>
            </a:srgbClr>
          </a:solidFill>
          <a:ln w="12700" cmpd="sng" cap="flat">
            <a:solidFill>
              <a:srgbClr val="BAE6FD">
                <a:alpha val="10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2108200" y="1905000"/>
            <a:ext cx="812800" cy="812800"/>
          </a:xfrm>
          <a:prstGeom prst="rect">
            <a:avLst/>
          </a:prstGeom>
        </p:spPr>
      </p:pic>
      <p:sp>
        <p:nvSpPr>
          <p:cNvPr name="AutoShape 6" id="6"/>
          <p:cNvSpPr/>
          <p:nvPr/>
        </p:nvSpPr>
        <p:spPr>
          <a:xfrm rot="0" flipH="false" flipV="false">
            <a:off x="1028700" y="3048000"/>
            <a:ext cx="3048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200">
                <a:solidFill>
                  <a:srgbClr val="002060"/>
                </a:solidFill>
                <a:latin typeface="微软雅黑"/>
                <a:ea typeface="微软雅黑"/>
                <a:cs typeface="微软雅黑"/>
                <a:sym typeface="微软雅黑"/>
              </a:rPr>
              <a:t>功能需求</a:t>
            </a:r>
            <a:endParaRPr lang="en-US" sz="1100"/>
          </a:p>
        </p:txBody>
      </p:sp>
      <p:sp>
        <p:nvSpPr>
          <p:cNvPr name="AutoShape 7" id="7"/>
          <p:cNvSpPr/>
          <p:nvPr/>
        </p:nvSpPr>
        <p:spPr>
          <a:xfrm rot="0" flipH="false" flipV="false">
            <a:off x="1092200" y="4191000"/>
            <a:ext cx="2921000" cy="1778000"/>
          </a:xfrm>
          <a:prstGeom prst="rect">
            <a:avLst/>
          </a:prstGeom>
          <a:noFill/>
          <a:ln w="12700" cmpd="sng" cap="flat">
            <a:noFill/>
            <a:prstDash val="solid"/>
            <a:round/>
          </a:ln>
        </p:spPr>
        <p:txBody>
          <a:bodyPr anchor="ctr" rtlCol="false" anchorCtr="false" vert="horz" wrap="square" lIns="0" rIns="0" tIns="0" bIns="0"/>
          <a:lstStyle/>
          <a:p>
            <a:pPr algn="just" indent="0">
              <a:lnSpc>
                <a:spcPct val="116666"/>
              </a:lnSpc>
              <a:defRPr/>
            </a:pPr>
            <a:r>
              <a:rPr lang="en-US" b="false" i="false" strike="noStrike" u="none" sz="1400">
                <a:solidFill>
                  <a:srgbClr val="374151"/>
                </a:solidFill>
                <a:latin typeface="Noto Sans SC"/>
                <a:ea typeface="Noto Sans SC"/>
                <a:cs typeface="Noto Sans SC"/>
                <a:sym typeface="Noto Sans SC"/>
              </a:rPr>
              <a:t>明确了用户管理、互助求助、失物招领、闲置交换、建议反馈、后台管理六大模块的具体功能点，全方位覆盖校园生活与社区管理需求。</a:t>
            </a:r>
            <a:endParaRPr lang="en-US" sz="1100"/>
          </a:p>
        </p:txBody>
      </p:sp>
      <p:sp>
        <p:nvSpPr>
          <p:cNvPr name="AutoShape 8" id="8"/>
          <p:cNvSpPr/>
          <p:nvPr/>
        </p:nvSpPr>
        <p:spPr>
          <a:xfrm rot="0" flipH="false" flipV="false">
            <a:off x="4445000" y="1524000"/>
            <a:ext cx="3302000" cy="4572000"/>
          </a:xfrm>
          <a:prstGeom prst="roundRect">
            <a:avLst>
              <a:gd name="adj" fmla="val 4615"/>
            </a:avLst>
          </a:prstGeom>
          <a:solidFill>
            <a:srgbClr val="ECFDF5">
              <a:alpha val="100000"/>
            </a:srgbClr>
          </a:solidFill>
          <a:ln w="12700" cmpd="sng" cap="flat">
            <a:solidFill>
              <a:srgbClr val="A7F3D0">
                <a:alpha val="10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5651500" y="1905000"/>
            <a:ext cx="812800" cy="812800"/>
          </a:xfrm>
          <a:prstGeom prst="rect">
            <a:avLst/>
          </a:prstGeom>
        </p:spPr>
      </p:pic>
      <p:sp>
        <p:nvSpPr>
          <p:cNvPr name="AutoShape 10" id="10"/>
          <p:cNvSpPr/>
          <p:nvPr/>
        </p:nvSpPr>
        <p:spPr>
          <a:xfrm rot="0" flipH="false" flipV="false">
            <a:off x="4572000" y="3048000"/>
            <a:ext cx="3048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200">
                <a:solidFill>
                  <a:srgbClr val="065F46"/>
                </a:solidFill>
                <a:latin typeface="微软雅黑"/>
                <a:ea typeface="微软雅黑"/>
                <a:cs typeface="微软雅黑"/>
                <a:sym typeface="微软雅黑"/>
              </a:rPr>
              <a:t>业务流程</a:t>
            </a:r>
            <a:endParaRPr lang="en-US" sz="1100"/>
          </a:p>
        </p:txBody>
      </p:sp>
      <p:sp>
        <p:nvSpPr>
          <p:cNvPr name="AutoShape 11" id="11"/>
          <p:cNvSpPr/>
          <p:nvPr/>
        </p:nvSpPr>
        <p:spPr>
          <a:xfrm rot="0" flipH="false" flipV="false">
            <a:off x="4635500" y="4191000"/>
            <a:ext cx="2921000" cy="1778000"/>
          </a:xfrm>
          <a:prstGeom prst="rect">
            <a:avLst/>
          </a:prstGeom>
          <a:noFill/>
          <a:ln w="12700" cmpd="sng" cap="flat">
            <a:noFill/>
            <a:prstDash val="solid"/>
            <a:round/>
          </a:ln>
        </p:spPr>
        <p:txBody>
          <a:bodyPr anchor="ctr" rtlCol="false" anchorCtr="false" vert="horz" wrap="square" lIns="0" rIns="0" tIns="0" bIns="0"/>
          <a:lstStyle/>
          <a:p>
            <a:pPr algn="just" indent="0">
              <a:lnSpc>
                <a:spcPct val="116666"/>
              </a:lnSpc>
              <a:defRPr/>
            </a:pPr>
            <a:r>
              <a:rPr lang="en-US" b="false" i="false" strike="noStrike" u="none" sz="1400">
                <a:solidFill>
                  <a:srgbClr val="374151"/>
                </a:solidFill>
                <a:latin typeface="Noto Sans SC"/>
                <a:ea typeface="Noto Sans SC"/>
                <a:cs typeface="Noto Sans SC"/>
                <a:sym typeface="Noto Sans SC"/>
              </a:rPr>
              <a:t>设计了从登录到完成交互的闭环流程，确保用户所有核心操作简洁高效，关键任务可在三步内完成，大幅降低用户的学习与使用成本。</a:t>
            </a:r>
            <a:endParaRPr lang="en-US" sz="1100"/>
          </a:p>
        </p:txBody>
      </p:sp>
      <p:sp>
        <p:nvSpPr>
          <p:cNvPr name="AutoShape 12" id="12"/>
          <p:cNvSpPr/>
          <p:nvPr/>
        </p:nvSpPr>
        <p:spPr>
          <a:xfrm rot="0" flipH="false" flipV="false">
            <a:off x="7988300" y="1524000"/>
            <a:ext cx="3302000" cy="4572000"/>
          </a:xfrm>
          <a:prstGeom prst="roundRect">
            <a:avLst>
              <a:gd name="adj" fmla="val 4615"/>
            </a:avLst>
          </a:prstGeom>
          <a:solidFill>
            <a:srgbClr val="FFFBEB">
              <a:alpha val="100000"/>
            </a:srgbClr>
          </a:solidFill>
          <a:ln w="12700" cmpd="sng" cap="flat">
            <a:solidFill>
              <a:srgbClr val="FDE68A">
                <a:alpha val="10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9194800" y="1905000"/>
            <a:ext cx="812800" cy="812800"/>
          </a:xfrm>
          <a:prstGeom prst="rect">
            <a:avLst/>
          </a:prstGeom>
        </p:spPr>
      </p:pic>
      <p:sp>
        <p:nvSpPr>
          <p:cNvPr name="AutoShape 14" id="14"/>
          <p:cNvSpPr/>
          <p:nvPr/>
        </p:nvSpPr>
        <p:spPr>
          <a:xfrm rot="0" flipH="false" flipV="false">
            <a:off x="8115300" y="3048000"/>
            <a:ext cx="3048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200">
                <a:solidFill>
                  <a:srgbClr val="92400E"/>
                </a:solidFill>
                <a:latin typeface="微软雅黑"/>
                <a:ea typeface="微软雅黑"/>
                <a:cs typeface="微软雅黑"/>
                <a:sym typeface="微软雅黑"/>
              </a:rPr>
              <a:t>非功能需求</a:t>
            </a:r>
            <a:endParaRPr lang="en-US" sz="1100"/>
          </a:p>
        </p:txBody>
      </p:sp>
      <p:sp>
        <p:nvSpPr>
          <p:cNvPr name="AutoShape 15" id="15"/>
          <p:cNvSpPr/>
          <p:nvPr/>
        </p:nvSpPr>
        <p:spPr>
          <a:xfrm rot="0" flipH="false" flipV="false">
            <a:off x="8178800" y="4191000"/>
            <a:ext cx="2921000" cy="1778000"/>
          </a:xfrm>
          <a:prstGeom prst="rect">
            <a:avLst/>
          </a:prstGeom>
          <a:noFill/>
          <a:ln w="12700" cmpd="sng" cap="flat">
            <a:noFill/>
            <a:prstDash val="solid"/>
            <a:round/>
          </a:ln>
        </p:spPr>
        <p:txBody>
          <a:bodyPr anchor="ctr" rtlCol="false" anchorCtr="false" vert="horz" wrap="square" lIns="0" rIns="0" tIns="0" bIns="0"/>
          <a:lstStyle/>
          <a:p>
            <a:pPr algn="just" indent="0">
              <a:lnSpc>
                <a:spcPct val="116666"/>
              </a:lnSpc>
              <a:defRPr/>
            </a:pPr>
            <a:r>
              <a:rPr lang="en-US" b="false" i="false" strike="noStrike" u="none" sz="1400">
                <a:solidFill>
                  <a:srgbClr val="374151"/>
                </a:solidFill>
                <a:latin typeface="Noto Sans SC"/>
                <a:ea typeface="Noto Sans SC"/>
                <a:cs typeface="Noto Sans SC"/>
                <a:sym typeface="Noto Sans SC"/>
              </a:rPr>
              <a:t>对界面体验、易用性、系统稳定性及数据安全性提出了明确标准，硬性指标要求页面平均加载时间不超过3秒，保障系统的流畅运行。</a:t>
            </a:r>
            <a:endParaRPr lang="en-US" sz="1100"/>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1016000"/>
          </a:xfrm>
          <a:prstGeom prst="roundRect">
            <a:avLst>
              <a:gd name="adj" fmla="val 0"/>
            </a:avLst>
          </a:prstGeom>
          <a:solidFill>
            <a:srgbClr val="006699">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905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FFFFFF"/>
                </a:solidFill>
                <a:latin typeface="微软雅黑"/>
                <a:ea typeface="微软雅黑"/>
                <a:cs typeface="微软雅黑"/>
                <a:sym typeface="微软雅黑"/>
              </a:rPr>
              <a:t>（三）系统设计</a:t>
            </a:r>
            <a:endParaRPr lang="en-US" sz="1100"/>
          </a:p>
        </p:txBody>
      </p:sp>
      <p:sp>
        <p:nvSpPr>
          <p:cNvPr name="AutoShape 4" id="4"/>
          <p:cNvSpPr/>
          <p:nvPr/>
        </p:nvSpPr>
        <p:spPr>
          <a:xfrm rot="0" flipH="false" flipV="false">
            <a:off x="762000" y="1524000"/>
            <a:ext cx="5207000" cy="2349500"/>
          </a:xfrm>
          <a:prstGeom prst="roundRect">
            <a:avLst>
              <a:gd name="adj" fmla="val 0"/>
            </a:avLst>
          </a:prstGeom>
          <a:solidFill>
            <a:srgbClr val="F0F7FF">
              <a:alpha val="100000"/>
            </a:srgbClr>
          </a:solidFill>
          <a:ln w="12700" cmpd="sng" cap="flat">
            <a:solidFill>
              <a:srgbClr val="DBEAFE">
                <a:alpha val="10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1778000"/>
            <a:ext cx="4699000" cy="18415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2000">
                <a:solidFill>
                  <a:srgbClr val="002060"/>
                </a:solidFill>
                <a:latin typeface="微软雅黑"/>
                <a:ea typeface="微软雅黑"/>
                <a:cs typeface="微软雅黑"/>
                <a:sym typeface="微软雅黑"/>
              </a:rPr>
              <a:t>▌ 功能结构设计</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spcBef>
                <a:spcPts val="1200"/>
              </a:spcBef>
            </a:pPr>
            <a:r>
              <a:rPr lang="en-US" b="false" i="false" strike="noStrike" u="none" sz="1400">
                <a:solidFill>
                  <a:srgbClr val="334155"/>
                </a:solidFill>
                <a:latin typeface="Noto Sans SC"/>
                <a:ea typeface="Noto Sans SC"/>
                <a:cs typeface="Noto Sans SC"/>
                <a:sym typeface="Noto Sans SC"/>
              </a:rPr>
              <a:t>将系统划分为六大独立模块，确保各模块功能内聚、数据互通，兼顾了系统的独立性与可扩展性。</a:t>
            </a:r>
          </a:p>
        </p:txBody>
      </p:sp>
      <p:sp>
        <p:nvSpPr>
          <p:cNvPr name="AutoShape 6" id="6"/>
          <p:cNvSpPr/>
          <p:nvPr/>
        </p:nvSpPr>
        <p:spPr>
          <a:xfrm rot="0" flipH="false" flipV="false">
            <a:off x="6223000" y="1524000"/>
            <a:ext cx="5207000" cy="2349500"/>
          </a:xfrm>
          <a:prstGeom prst="roundRect">
            <a:avLst>
              <a:gd name="adj" fmla="val 0"/>
            </a:avLst>
          </a:prstGeom>
          <a:solidFill>
            <a:srgbClr val="F0F7FF">
              <a:alpha val="100000"/>
            </a:srgbClr>
          </a:solidFill>
          <a:ln w="12700" cmpd="sng" cap="flat">
            <a:solidFill>
              <a:srgbClr val="DBEAFE">
                <a:alpha val="100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6477000" y="1778000"/>
            <a:ext cx="4699000" cy="18415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2000">
                <a:solidFill>
                  <a:srgbClr val="002060"/>
                </a:solidFill>
                <a:latin typeface="微软雅黑"/>
                <a:ea typeface="微软雅黑"/>
                <a:cs typeface="微软雅黑"/>
                <a:sym typeface="微软雅黑"/>
              </a:rPr>
              <a:t>▌ 业务流程设计</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spcBef>
                <a:spcPts val="1200"/>
              </a:spcBef>
            </a:pPr>
            <a:r>
              <a:rPr lang="en-US" b="false" i="false" strike="noStrike" u="none" sz="1400">
                <a:solidFill>
                  <a:srgbClr val="334155"/>
                </a:solidFill>
                <a:latin typeface="Noto Sans SC"/>
                <a:ea typeface="Noto Sans SC"/>
                <a:cs typeface="Noto Sans SC"/>
                <a:sym typeface="Noto Sans SC"/>
              </a:rPr>
              <a:t>重点设计互助、失物招领、闲置物品流转三大核心业务流程，优化节点逻辑，确保业务流转清晰、闭环可控。</a:t>
            </a:r>
          </a:p>
        </p:txBody>
      </p:sp>
      <p:sp>
        <p:nvSpPr>
          <p:cNvPr name="AutoShape 8" id="8"/>
          <p:cNvSpPr/>
          <p:nvPr/>
        </p:nvSpPr>
        <p:spPr>
          <a:xfrm rot="0" flipH="false" flipV="false">
            <a:off x="762000" y="4191000"/>
            <a:ext cx="5207000" cy="2349500"/>
          </a:xfrm>
          <a:prstGeom prst="roundRect">
            <a:avLst>
              <a:gd name="adj" fmla="val 0"/>
            </a:avLst>
          </a:prstGeom>
          <a:solidFill>
            <a:srgbClr val="F0F7FF">
              <a:alpha val="100000"/>
            </a:srgbClr>
          </a:solidFill>
          <a:ln w="12700" cmpd="sng" cap="flat">
            <a:solidFill>
              <a:srgbClr val="DBEAFE">
                <a:alpha val="10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1016000" y="4445000"/>
            <a:ext cx="4699000" cy="18415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2000">
                <a:solidFill>
                  <a:srgbClr val="002060"/>
                </a:solidFill>
                <a:latin typeface="微软雅黑"/>
                <a:ea typeface="微软雅黑"/>
                <a:cs typeface="微软雅黑"/>
                <a:sym typeface="微软雅黑"/>
              </a:rPr>
              <a:t>▌ 数据结构设计</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spcBef>
                <a:spcPts val="1200"/>
              </a:spcBef>
            </a:pPr>
            <a:r>
              <a:rPr lang="en-US" b="false" i="false" strike="noStrike" u="none" sz="1400">
                <a:solidFill>
                  <a:srgbClr val="334155"/>
                </a:solidFill>
                <a:latin typeface="Noto Sans SC"/>
                <a:ea typeface="Noto Sans SC"/>
                <a:cs typeface="Noto Sans SC"/>
                <a:sym typeface="Noto Sans SC"/>
              </a:rPr>
              <a:t>采用本地对象数组存储用户基础信息、求助需求、失物线索等核心数据，结构清晰，便于本地快速存取与管理。</a:t>
            </a:r>
          </a:p>
        </p:txBody>
      </p:sp>
      <p:sp>
        <p:nvSpPr>
          <p:cNvPr name="AutoShape 10" id="10"/>
          <p:cNvSpPr/>
          <p:nvPr/>
        </p:nvSpPr>
        <p:spPr>
          <a:xfrm rot="0" flipH="false" flipV="false">
            <a:off x="6223000" y="4191000"/>
            <a:ext cx="5207000" cy="2349500"/>
          </a:xfrm>
          <a:prstGeom prst="roundRect">
            <a:avLst>
              <a:gd name="adj" fmla="val 0"/>
            </a:avLst>
          </a:prstGeom>
          <a:solidFill>
            <a:srgbClr val="F0F7FF">
              <a:alpha val="100000"/>
            </a:srgbClr>
          </a:solidFill>
          <a:ln w="12700" cmpd="sng" cap="flat">
            <a:solidFill>
              <a:srgbClr val="DBEAFE">
                <a:alpha val="10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6477000" y="4445000"/>
            <a:ext cx="4699000" cy="18415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2000">
                <a:solidFill>
                  <a:srgbClr val="002060"/>
                </a:solidFill>
                <a:latin typeface="微软雅黑"/>
                <a:ea typeface="微软雅黑"/>
                <a:cs typeface="微软雅黑"/>
                <a:sym typeface="微软雅黑"/>
              </a:rPr>
              <a:t>▌ 界面布局设计</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spcBef>
                <a:spcPts val="1200"/>
              </a:spcBef>
            </a:pPr>
            <a:r>
              <a:rPr lang="en-US" b="false" i="false" strike="noStrike" u="none" sz="1400">
                <a:solidFill>
                  <a:srgbClr val="334155"/>
                </a:solidFill>
                <a:latin typeface="Noto Sans SC"/>
                <a:ea typeface="Noto Sans SC"/>
                <a:cs typeface="Noto Sans SC"/>
                <a:sym typeface="Noto Sans SC"/>
              </a:rPr>
              <a:t>采用经典的“顶部导航+中部内容区”布局结构，遵循用户习惯，操作直观，并支持在手机、平板等多端设备上自适应显示。</a:t>
            </a: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914400"/>
          </a:xfrm>
          <a:prstGeom prst="roundRect">
            <a:avLst>
              <a:gd name="adj" fmla="val 0"/>
            </a:avLst>
          </a:prstGeom>
          <a:solidFill>
            <a:srgbClr val="006699">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Freeform 3" id="3"/>
          <p:cNvSpPr/>
          <p:nvPr/>
        </p:nvSpPr>
        <p:spPr>
          <a:xfrm rot="0" flipH="false" flipV="false">
            <a:off x="-12700" y="342900"/>
            <a:ext cx="8034867" cy="679450"/>
          </a:xfrm>
          <a:custGeom>
            <a:avLst/>
            <a:gdLst/>
            <a:ahLst/>
            <a:cxnLst/>
            <a:rect r="r" b="b" t="t" l="l"/>
            <a:pathLst>
              <a:path h="679450" w="8034867">
                <a:moveTo>
                  <a:pt x="0" y="0"/>
                </a:moveTo>
                <a:lnTo>
                  <a:pt x="8034867" y="0"/>
                </a:lnTo>
                <a:lnTo>
                  <a:pt x="7307500" y="679450"/>
                </a:lnTo>
              </a:path>
            </a:pathLst>
          </a:custGeom>
          <a:no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609600" y="152400"/>
            <a:ext cx="6350000" cy="647700"/>
          </a:xfrm>
          <a:prstGeom prst="rect">
            <a:avLst/>
          </a:prstGeom>
          <a:noFill/>
          <a:ln w="12700" cmpd="sng" cap="flat">
            <a:noFill/>
            <a:prstDash val="solid"/>
            <a:round/>
          </a:ln>
        </p:spPr>
        <p:txBody>
          <a:bodyPr anchor="t" rtlCol="false" anchorCtr="false" vert="horz" wrap="square" lIns="88900" rIns="88900" tIns="50800" bIns="50800"/>
          <a:lstStyle/>
          <a:p>
            <a:pPr algn="l" indent="0">
              <a:lnSpc>
                <a:spcPct val="100000"/>
              </a:lnSpc>
              <a:defRPr/>
            </a:pPr>
            <a:r>
              <a:rPr lang="en-US" b="true" i="false" strike="noStrike" u="none" sz="3600">
                <a:solidFill>
                  <a:srgbClr val="FFFFFF"/>
                </a:solidFill>
                <a:latin typeface="微软雅黑"/>
                <a:ea typeface="微软雅黑"/>
                <a:cs typeface="微软雅黑"/>
                <a:sym typeface="微软雅黑"/>
              </a:rPr>
              <a:t>四、团队分工与成果</a:t>
            </a:r>
            <a:endParaRPr lang="en-US" sz="1100"/>
          </a:p>
        </p:txBody>
      </p:sp>
      <p:sp>
        <p:nvSpPr>
          <p:cNvPr name="AutoShape 5" id="5"/>
          <p:cNvSpPr/>
          <p:nvPr/>
        </p:nvSpPr>
        <p:spPr>
          <a:xfrm rot="0" flipH="false" flipV="false">
            <a:off x="901700" y="1778000"/>
            <a:ext cx="10363200" cy="1270000"/>
          </a:xfrm>
          <a:prstGeom prst="rect">
            <a:avLst/>
          </a:prstGeom>
          <a:noFill/>
          <a:ln w="12700" cmpd="sng" cap="flat">
            <a:noFill/>
            <a:prstDash val="solid"/>
            <a:round/>
          </a:ln>
        </p:spPr>
        <p:txBody>
          <a:bodyPr anchor="t" rtlCol="false" anchorCtr="false" vert="horz" wrap="square" lIns="88900" rIns="88900" tIns="50800" bIns="50800"/>
          <a:lstStyle/>
          <a:p>
            <a:pPr algn="l" indent="0">
              <a:lnSpc>
                <a:spcPct val="133333"/>
              </a:lnSpc>
              <a:defRPr/>
            </a:pPr>
            <a:r>
              <a:rPr lang="en-US" b="false" i="false" strike="noStrike" u="none" sz="2400">
                <a:solidFill>
                  <a:srgbClr val="333333"/>
                </a:solidFill>
                <a:latin typeface="Songti SC"/>
                <a:ea typeface="Songti SC"/>
                <a:cs typeface="Songti SC"/>
                <a:sym typeface="Songti SC"/>
              </a:rPr>
              <a:t>清晰的职责分工是高效协作的基石，显著的项目成果是共同努力的结晶。</a:t>
            </a:r>
            <a:r>
              <a:rPr lang="en-US" b="false" i="false" strike="noStrike" u="none" sz="1600">
                <a:solidFill>
                  <a:srgbClr val="1F2329"/>
                </a:solidFill>
                <a:latin typeface="Songti SC"/>
                <a:ea typeface="Songti SC"/>
                <a:cs typeface="Songti SC"/>
                <a:sym typeface="Songti SC"/>
              </a:rPr>
              <a:t/>
            </a:r>
            <a:endParaRPr lang="en-US" sz="1100"/>
          </a:p>
          <a:p>
            <a:pPr algn="l" indent="0">
              <a:lnSpc>
                <a:spcPct val="133333"/>
              </a:lnSpc>
            </a:pPr>
            <a:r>
              <a:rPr lang="en-US" b="false" i="false" strike="noStrike" u="none" sz="1800">
                <a:solidFill>
                  <a:srgbClr val="666666"/>
                </a:solidFill>
                <a:latin typeface="Songti SC"/>
                <a:ea typeface="Songti SC"/>
                <a:cs typeface="Songti SC"/>
                <a:sym typeface="Songti SC"/>
              </a:rPr>
              <a:t>本部分将详细阐述我们团队的人员职责划分，以及在紧密配合下取得的阶段性成果。</a:t>
            </a: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914400"/>
          </a:xfrm>
          <a:prstGeom prst="roundRect">
            <a:avLst>
              <a:gd name="adj" fmla="val 0"/>
            </a:avLst>
          </a:prstGeom>
          <a:solidFill>
            <a:srgbClr val="006699">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609600" y="152400"/>
            <a:ext cx="7620000" cy="6477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FFFFFF"/>
                </a:solidFill>
                <a:latin typeface="微软雅黑"/>
                <a:ea typeface="微软雅黑"/>
                <a:cs typeface="微软雅黑"/>
                <a:sym typeface="微软雅黑"/>
              </a:rPr>
              <a:t>四、团队分工与成果</a:t>
            </a:r>
            <a:endParaRPr lang="en-US" sz="1100"/>
          </a:p>
        </p:txBody>
      </p:sp>
      <p:graphicFrame>
        <p:nvGraphicFramePr>
          <p:cNvPr name="Table 4" id="4"/>
          <p:cNvGraphicFramePr>
            <a:graphicFrameLocks noGrp="true"/>
          </p:cNvGraphicFramePr>
          <p:nvPr/>
        </p:nvGraphicFramePr>
        <p:xfrm>
          <a:off x="381000" y="1206500"/>
          <a:ext cx="11684000" cy="5842000"/>
        </p:xfrm>
        <a:graphic>
          <a:graphicData uri="http://schemas.openxmlformats.org/drawingml/2006/table">
            <a:tbl>
              <a:tblPr>
                <a:effectLst/>
              </a:tblPr>
              <a:tblGrid>
                <a:gridCol w="635000"/>
                <a:gridCol w="889000"/>
                <a:gridCol w="889000"/>
                <a:gridCol w="1270000"/>
                <a:gridCol w="1270000"/>
                <a:gridCol w="2413000"/>
                <a:gridCol w="2286000"/>
                <a:gridCol w="1016000"/>
                <a:gridCol w="1016000"/>
              </a:tblGrid>
              <a:tr h="762000">
                <a:tc>
                  <a:txBody>
                    <a:bodyPr anchor="t" rtlCol="false"/>
                    <a:lstStyle/>
                    <a:p>
                      <a:pPr algn="ctr" indent="0">
                        <a:lnSpc>
                          <a:spcPct val="100000"/>
                        </a:lnSpc>
                        <a:defRPr/>
                      </a:pPr>
                      <a:r>
                        <a:rPr lang="en-US" b="true" i="false" strike="noStrike" u="none" sz="1600">
                          <a:solidFill>
                            <a:srgbClr val="1F2329"/>
                          </a:solidFill>
                          <a:latin typeface="等线"/>
                          <a:ea typeface="等线"/>
                          <a:cs typeface="等线"/>
                          <a:sym typeface="等线"/>
                        </a:rPr>
                        <a:t>组号</a:t>
                      </a:r>
                      <a:endParaRPr lang="en-US" sz="1100"/>
                    </a:p>
                  </a:txBody>
                  <a:tcPr anchor="ctr" anchorCtr="false" marL="101600" marR="101600" marT="101600" marB="101600">
                    <a:lnL cmpd="sng" algn="ctr" cap="flat" w="12700">
                      <a:solidFill>
                        <a:srgbClr val="080000"/>
                      </a:solidFill>
                      <a:prstDash val="solid"/>
                      <a:round/>
                      <a:headEnd type="none" w="med" len="med"/>
                      <a:tailEnd type="none" w="med" len="med"/>
                    </a:lnL>
                    <a:lnR cmpd="sng" algn="ctr" cap="flat" w="12700">
                      <a:solidFill>
                        <a:srgbClr val="080000"/>
                      </a:solidFill>
                      <a:prstDash val="solid"/>
                      <a:round/>
                      <a:headEnd type="none" w="med" len="med"/>
                      <a:tailEnd type="none" w="med" len="med"/>
                    </a:lnR>
                    <a:lnT cmpd="sng" algn="ctr" cap="flat" w="12700">
                      <a:solidFill>
                        <a:srgbClr val="080000"/>
                      </a:solidFill>
                      <a:prstDash val="solid"/>
                      <a:round/>
                      <a:headEnd type="none" w="med" len="med"/>
                      <a:tailEnd type="none" w="med" len="med"/>
                    </a:lnT>
                    <a:lnB cmpd="sng" algn="ctr" cap="flat" w="12700">
                      <a:solidFill>
                        <a:srgbClr val="080000"/>
                      </a:solidFill>
                      <a:prstDash val="solid"/>
                      <a:round/>
                      <a:headEnd type="none" w="med" len="med"/>
                      <a:tailEnd type="none" w="med" len="med"/>
                    </a:lnB>
                    <a:noFill/>
                  </a:tcPr>
                </a:tc>
                <a:tc>
                  <a:txBody>
                    <a:bodyPr anchor="t" rtlCol="false"/>
                    <a:lstStyle/>
                    <a:p>
                      <a:pPr algn="ctr" indent="0">
                        <a:lnSpc>
                          <a:spcPct val="100000"/>
                        </a:lnSpc>
                        <a:defRPr/>
                      </a:pPr>
                      <a:r>
                        <a:rPr lang="en-US" b="true" i="false" strike="noStrike" u="none" sz="1600">
                          <a:solidFill>
                            <a:srgbClr val="1F2329"/>
                          </a:solidFill>
                          <a:latin typeface="等线"/>
                          <a:ea typeface="等线"/>
                          <a:cs typeface="等线"/>
                          <a:sym typeface="等线"/>
                        </a:rPr>
                        <a:t>角色</a:t>
                      </a:r>
                      <a:endParaRPr lang="en-US" sz="1100"/>
                    </a:p>
                  </a:txBody>
                  <a:tcPr anchor="ctr" anchorCtr="false" marL="101600" marR="101600" marT="101600" marB="101600">
                    <a:lnL cmpd="sng" algn="ctr" cap="flat" w="12700">
                      <a:solidFill>
                        <a:srgbClr val="080000"/>
                      </a:solidFill>
                      <a:prstDash val="solid"/>
                      <a:round/>
                      <a:headEnd type="none" w="med" len="med"/>
                      <a:tailEnd type="none" w="med" len="med"/>
                    </a:lnL>
                    <a:lnR cmpd="sng" algn="ctr" cap="flat" w="12700">
                      <a:solidFill>
                        <a:srgbClr val="080000"/>
                      </a:solidFill>
                      <a:prstDash val="solid"/>
                      <a:round/>
                      <a:headEnd type="none" w="med" len="med"/>
                      <a:tailEnd type="none" w="med" len="med"/>
                    </a:lnR>
                    <a:lnT cmpd="sng" algn="ctr" cap="flat" w="12700">
                      <a:solidFill>
                        <a:srgbClr val="080000"/>
                      </a:solidFill>
                      <a:prstDash val="solid"/>
                      <a:round/>
                      <a:headEnd type="none" w="med" len="med"/>
                      <a:tailEnd type="none" w="med" len="med"/>
                    </a:lnT>
                    <a:lnB cmpd="sng" algn="ctr" cap="flat" w="12700">
                      <a:solidFill>
                        <a:srgbClr val="080000"/>
                      </a:solidFill>
                      <a:prstDash val="solid"/>
                      <a:round/>
                      <a:headEnd type="none" w="med" len="med"/>
                      <a:tailEnd type="none" w="med" len="med"/>
                    </a:lnB>
                    <a:noFill/>
                  </a:tcPr>
                </a:tc>
                <a:tc>
                  <a:txBody>
                    <a:bodyPr anchor="t" rtlCol="false"/>
                    <a:lstStyle/>
                    <a:p>
                      <a:pPr algn="ctr" indent="0">
                        <a:lnSpc>
                          <a:spcPct val="100000"/>
                        </a:lnSpc>
                        <a:defRPr/>
                      </a:pPr>
                      <a:r>
                        <a:rPr lang="en-US" b="true" i="false" strike="noStrike" u="none" sz="1600">
                          <a:solidFill>
                            <a:srgbClr val="1F2329"/>
                          </a:solidFill>
                          <a:latin typeface="等线"/>
                          <a:ea typeface="等线"/>
                          <a:cs typeface="等线"/>
                          <a:sym typeface="等线"/>
                        </a:rPr>
                        <a:t>姓名</a:t>
                      </a:r>
                      <a:endParaRPr lang="en-US" sz="1100"/>
                    </a:p>
                  </a:txBody>
                  <a:tcPr anchor="ctr" anchorCtr="false" marL="101600" marR="101600" marT="101600" marB="101600">
                    <a:lnL cmpd="sng" algn="ctr" cap="flat" w="12700">
                      <a:solidFill>
                        <a:srgbClr val="080000"/>
                      </a:solidFill>
                      <a:prstDash val="solid"/>
                      <a:round/>
                      <a:headEnd type="none" w="med" len="med"/>
                      <a:tailEnd type="none" w="med" len="med"/>
                    </a:lnL>
                    <a:lnR cmpd="sng" algn="ctr" cap="flat" w="12700">
                      <a:solidFill>
                        <a:srgbClr val="080000"/>
                      </a:solidFill>
                      <a:prstDash val="solid"/>
                      <a:round/>
                      <a:headEnd type="none" w="med" len="med"/>
                      <a:tailEnd type="none" w="med" len="med"/>
                    </a:lnR>
                    <a:lnT cmpd="sng" algn="ctr" cap="flat" w="12700">
                      <a:solidFill>
                        <a:srgbClr val="080000"/>
                      </a:solidFill>
                      <a:prstDash val="solid"/>
                      <a:round/>
                      <a:headEnd type="none" w="med" len="med"/>
                      <a:tailEnd type="none" w="med" len="med"/>
                    </a:lnT>
                    <a:lnB cmpd="sng" algn="ctr" cap="flat" w="12700">
                      <a:solidFill>
                        <a:srgbClr val="080000"/>
                      </a:solidFill>
                      <a:prstDash val="solid"/>
                      <a:round/>
                      <a:headEnd type="none" w="med" len="med"/>
                      <a:tailEnd type="none" w="med" len="med"/>
                    </a:lnB>
                    <a:noFill/>
                  </a:tcPr>
                </a:tc>
                <a:tc>
                  <a:txBody>
                    <a:bodyPr anchor="t" rtlCol="false"/>
                    <a:lstStyle/>
                    <a:p>
                      <a:pPr algn="ctr" indent="0">
                        <a:lnSpc>
                          <a:spcPct val="100000"/>
                        </a:lnSpc>
                        <a:defRPr/>
                      </a:pPr>
                      <a:r>
                        <a:rPr lang="en-US" b="true" i="false" strike="noStrike" u="none" sz="1600">
                          <a:solidFill>
                            <a:srgbClr val="1F2329"/>
                          </a:solidFill>
                          <a:latin typeface="等线"/>
                          <a:ea typeface="等线"/>
                          <a:cs typeface="等线"/>
                          <a:sym typeface="等线"/>
                        </a:rPr>
                        <a:t>学号</a:t>
                      </a:r>
                      <a:endParaRPr lang="en-US" sz="1100"/>
                    </a:p>
                  </a:txBody>
                  <a:tcPr anchor="ctr" anchorCtr="false" marL="101600" marR="101600" marT="101600" marB="101600">
                    <a:lnL cmpd="sng" algn="ctr" cap="flat" w="12700">
                      <a:solidFill>
                        <a:srgbClr val="080000"/>
                      </a:solidFill>
                      <a:prstDash val="solid"/>
                      <a:round/>
                      <a:headEnd type="none" w="med" len="med"/>
                      <a:tailEnd type="none" w="med" len="med"/>
                    </a:lnL>
                    <a:lnR cmpd="sng" algn="ctr" cap="flat" w="12700">
                      <a:solidFill>
                        <a:srgbClr val="080000"/>
                      </a:solidFill>
                      <a:prstDash val="solid"/>
                      <a:round/>
                      <a:headEnd type="none" w="med" len="med"/>
                      <a:tailEnd type="none" w="med" len="med"/>
                    </a:lnR>
                    <a:lnT cmpd="sng" algn="ctr" cap="flat" w="12700">
                      <a:solidFill>
                        <a:srgbClr val="080000"/>
                      </a:solidFill>
                      <a:prstDash val="solid"/>
                      <a:round/>
                      <a:headEnd type="none" w="med" len="med"/>
                      <a:tailEnd type="none" w="med" len="med"/>
                    </a:lnT>
                    <a:lnB cmpd="sng" algn="ctr" cap="flat" w="12700">
                      <a:solidFill>
                        <a:srgbClr val="080000"/>
                      </a:solidFill>
                      <a:prstDash val="solid"/>
                      <a:round/>
                      <a:headEnd type="none" w="med" len="med"/>
                      <a:tailEnd type="none" w="med" len="med"/>
                    </a:lnB>
                    <a:noFill/>
                  </a:tcPr>
                </a:tc>
                <a:tc>
                  <a:txBody>
                    <a:bodyPr anchor="t" rtlCol="false"/>
                    <a:lstStyle/>
                    <a:p>
                      <a:pPr algn="ctr" indent="0">
                        <a:lnSpc>
                          <a:spcPct val="100000"/>
                        </a:lnSpc>
                        <a:defRPr/>
                      </a:pPr>
                      <a:r>
                        <a:rPr lang="en-US" b="true" i="false" strike="noStrike" u="none" sz="1600">
                          <a:solidFill>
                            <a:srgbClr val="1F2329"/>
                          </a:solidFill>
                          <a:latin typeface="等线"/>
                          <a:ea typeface="等线"/>
                          <a:cs typeface="等线"/>
                          <a:sym typeface="等线"/>
                        </a:rPr>
                        <a:t>班级</a:t>
                      </a:r>
                      <a:endParaRPr lang="en-US" sz="1100"/>
                    </a:p>
                  </a:txBody>
                  <a:tcPr anchor="ctr" anchorCtr="false" marL="101600" marR="101600" marT="101600" marB="101600">
                    <a:lnL cmpd="sng" algn="ctr" cap="flat" w="12700">
                      <a:solidFill>
                        <a:srgbClr val="080000"/>
                      </a:solidFill>
                      <a:prstDash val="solid"/>
                      <a:round/>
                      <a:headEnd type="none" w="med" len="med"/>
                      <a:tailEnd type="none" w="med" len="med"/>
                    </a:lnL>
                    <a:lnR cmpd="sng" algn="ctr" cap="flat" w="12700">
                      <a:solidFill>
                        <a:srgbClr val="080000"/>
                      </a:solidFill>
                      <a:prstDash val="solid"/>
                      <a:round/>
                      <a:headEnd type="none" w="med" len="med"/>
                      <a:tailEnd type="none" w="med" len="med"/>
                    </a:lnR>
                    <a:lnT cmpd="sng" algn="ctr" cap="flat" w="12700">
                      <a:solidFill>
                        <a:srgbClr val="080000"/>
                      </a:solidFill>
                      <a:prstDash val="solid"/>
                      <a:round/>
                      <a:headEnd type="none" w="med" len="med"/>
                      <a:tailEnd type="none" w="med" len="med"/>
                    </a:lnT>
                    <a:lnB cmpd="sng" algn="ctr" cap="flat" w="12700">
                      <a:solidFill>
                        <a:srgbClr val="080000"/>
                      </a:solidFill>
                      <a:prstDash val="solid"/>
                      <a:round/>
                      <a:headEnd type="none" w="med" len="med"/>
                      <a:tailEnd type="none" w="med" len="med"/>
                    </a:lnB>
                    <a:noFill/>
                  </a:tcPr>
                </a:tc>
                <a:tc>
                  <a:txBody>
                    <a:bodyPr anchor="t" rtlCol="false"/>
                    <a:lstStyle/>
                    <a:p>
                      <a:pPr algn="ctr" indent="0">
                        <a:lnSpc>
                          <a:spcPct val="100000"/>
                        </a:lnSpc>
                        <a:defRPr/>
                      </a:pPr>
                      <a:r>
                        <a:rPr lang="en-US" b="true" i="false" strike="noStrike" u="none" sz="1600">
                          <a:solidFill>
                            <a:srgbClr val="1F2329"/>
                          </a:solidFill>
                          <a:latin typeface="等线"/>
                          <a:ea typeface="等线"/>
                          <a:cs typeface="等线"/>
                          <a:sym typeface="等线"/>
                        </a:rPr>
                        <a:t>任务分工</a:t>
                      </a:r>
                      <a:endParaRPr lang="en-US" sz="1100"/>
                    </a:p>
                  </a:txBody>
                  <a:tcPr anchor="ctr" anchorCtr="false" marL="101600" marR="101600" marT="101600" marB="101600">
                    <a:lnL cmpd="sng" algn="ctr" cap="flat" w="12700">
                      <a:solidFill>
                        <a:srgbClr val="080000"/>
                      </a:solidFill>
                      <a:prstDash val="solid"/>
                      <a:round/>
                      <a:headEnd type="none" w="med" len="med"/>
                      <a:tailEnd type="none" w="med" len="med"/>
                    </a:lnL>
                    <a:lnR cmpd="sng" algn="ctr" cap="flat" w="12700">
                      <a:solidFill>
                        <a:srgbClr val="080000"/>
                      </a:solidFill>
                      <a:prstDash val="solid"/>
                      <a:round/>
                      <a:headEnd type="none" w="med" len="med"/>
                      <a:tailEnd type="none" w="med" len="med"/>
                    </a:lnR>
                    <a:lnT cmpd="sng" algn="ctr" cap="flat" w="12700">
                      <a:solidFill>
                        <a:srgbClr val="080000"/>
                      </a:solidFill>
                      <a:prstDash val="solid"/>
                      <a:round/>
                      <a:headEnd type="none" w="med" len="med"/>
                      <a:tailEnd type="none" w="med" len="med"/>
                    </a:lnT>
                    <a:lnB cmpd="sng" algn="ctr" cap="flat" w="12700">
                      <a:solidFill>
                        <a:srgbClr val="080000"/>
                      </a:solidFill>
                      <a:prstDash val="solid"/>
                      <a:round/>
                      <a:headEnd type="none" w="med" len="med"/>
                      <a:tailEnd type="none" w="med" len="med"/>
                    </a:lnB>
                    <a:noFill/>
                  </a:tcPr>
                </a:tc>
                <a:tc>
                  <a:txBody>
                    <a:bodyPr anchor="t" rtlCol="false"/>
                    <a:lstStyle/>
                    <a:p>
                      <a:pPr algn="ctr" indent="0">
                        <a:lnSpc>
                          <a:spcPct val="100000"/>
                        </a:lnSpc>
                        <a:defRPr/>
                      </a:pPr>
                      <a:r>
                        <a:rPr lang="en-US" b="true" i="false" strike="noStrike" u="none" sz="1600">
                          <a:solidFill>
                            <a:srgbClr val="1F2329"/>
                          </a:solidFill>
                          <a:latin typeface="等线"/>
                          <a:ea typeface="等线"/>
                          <a:cs typeface="等线"/>
                          <a:sym typeface="等线"/>
                        </a:rPr>
                        <a:t>完成任务指标</a:t>
                      </a:r>
                      <a:endParaRPr lang="en-US" sz="1100"/>
                    </a:p>
                  </a:txBody>
                  <a:tcPr anchor="ctr" anchorCtr="false" marL="101600" marR="101600" marT="101600" marB="101600">
                    <a:lnL cmpd="sng" algn="ctr" cap="flat" w="12700">
                      <a:solidFill>
                        <a:srgbClr val="080000"/>
                      </a:solidFill>
                      <a:prstDash val="solid"/>
                      <a:round/>
                      <a:headEnd type="none" w="med" len="med"/>
                      <a:tailEnd type="none" w="med" len="med"/>
                    </a:lnL>
                    <a:lnR cmpd="sng" algn="ctr" cap="flat" w="12700">
                      <a:solidFill>
                        <a:srgbClr val="080000"/>
                      </a:solidFill>
                      <a:prstDash val="solid"/>
                      <a:round/>
                      <a:headEnd type="none" w="med" len="med"/>
                      <a:tailEnd type="none" w="med" len="med"/>
                    </a:lnR>
                    <a:lnT cmpd="sng" algn="ctr" cap="flat" w="12700">
                      <a:solidFill>
                        <a:srgbClr val="080000"/>
                      </a:solidFill>
                      <a:prstDash val="solid"/>
                      <a:round/>
                      <a:headEnd type="none" w="med" len="med"/>
                      <a:tailEnd type="none" w="med" len="med"/>
                    </a:lnT>
                    <a:lnB cmpd="sng" algn="ctr" cap="flat" w="12700">
                      <a:solidFill>
                        <a:srgbClr val="080000"/>
                      </a:solidFill>
                      <a:prstDash val="solid"/>
                      <a:round/>
                      <a:headEnd type="none" w="med" len="med"/>
                      <a:tailEnd type="none" w="med" len="med"/>
                    </a:lnB>
                    <a:noFill/>
                  </a:tcPr>
                </a:tc>
                <a:tc>
                  <a:txBody>
                    <a:bodyPr anchor="t" rtlCol="false"/>
                    <a:lstStyle/>
                    <a:p>
                      <a:pPr algn="ctr" indent="0">
                        <a:lnSpc>
                          <a:spcPct val="100000"/>
                        </a:lnSpc>
                        <a:defRPr/>
                      </a:pPr>
                      <a:r>
                        <a:rPr lang="en-US" b="true" i="false" strike="noStrike" u="none" sz="1600">
                          <a:solidFill>
                            <a:srgbClr val="1F2329"/>
                          </a:solidFill>
                          <a:latin typeface="等线"/>
                          <a:ea typeface="等线"/>
                          <a:cs typeface="等线"/>
                          <a:sym typeface="等线"/>
                        </a:rPr>
                        <a:t>完成程度</a:t>
                      </a:r>
                      <a:endParaRPr lang="en-US" sz="1100"/>
                    </a:p>
                  </a:txBody>
                  <a:tcPr anchor="ctr" anchorCtr="false" marL="101600" marR="101600" marT="101600" marB="101600">
                    <a:lnL cmpd="sng" algn="ctr" cap="flat" w="12700">
                      <a:solidFill>
                        <a:srgbClr val="080000"/>
                      </a:solidFill>
                      <a:prstDash val="solid"/>
                      <a:round/>
                      <a:headEnd type="none" w="med" len="med"/>
                      <a:tailEnd type="none" w="med" len="med"/>
                    </a:lnL>
                    <a:lnR cmpd="sng" algn="ctr" cap="flat" w="12700">
                      <a:solidFill>
                        <a:srgbClr val="080000"/>
                      </a:solidFill>
                      <a:prstDash val="solid"/>
                      <a:round/>
                      <a:headEnd type="none" w="med" len="med"/>
                      <a:tailEnd type="none" w="med" len="med"/>
                    </a:lnR>
                    <a:lnT cmpd="sng" algn="ctr" cap="flat" w="12700">
                      <a:solidFill>
                        <a:srgbClr val="080000"/>
                      </a:solidFill>
                      <a:prstDash val="solid"/>
                      <a:round/>
                      <a:headEnd type="none" w="med" len="med"/>
                      <a:tailEnd type="none" w="med" len="med"/>
                    </a:lnT>
                    <a:lnB cmpd="sng" algn="ctr" cap="flat" w="12700">
                      <a:solidFill>
                        <a:srgbClr val="080000"/>
                      </a:solidFill>
                      <a:prstDash val="solid"/>
                      <a:round/>
                      <a:headEnd type="none" w="med" len="med"/>
                      <a:tailEnd type="none" w="med" len="med"/>
                    </a:lnB>
                    <a:noFill/>
                  </a:tcPr>
                </a:tc>
                <a:tc>
                  <a:txBody>
                    <a:bodyPr anchor="t" rtlCol="false"/>
                    <a:lstStyle/>
                    <a:p>
                      <a:pPr algn="ctr" indent="0">
                        <a:lnSpc>
                          <a:spcPct val="100000"/>
                        </a:lnSpc>
                        <a:defRPr/>
                      </a:pPr>
                      <a:r>
                        <a:rPr lang="en-US" b="true" i="false" strike="noStrike" u="none" sz="1600">
                          <a:solidFill>
                            <a:srgbClr val="1F2329"/>
                          </a:solidFill>
                          <a:latin typeface="等线"/>
                          <a:ea typeface="等线"/>
                          <a:cs typeface="等线"/>
                          <a:sym typeface="等线"/>
                        </a:rPr>
                        <a:t>个人贡献</a:t>
                      </a:r>
                      <a:endParaRPr lang="en-US" sz="1100"/>
                    </a:p>
                  </a:txBody>
                  <a:tcPr anchor="ctr" anchorCtr="false" marL="101600" marR="101600" marT="101600" marB="101600">
                    <a:lnL>
                      <a:noFill/>
                    </a:lnL>
                    <a:lnR cmpd="sng" algn="ctr" cap="flat" w="12700">
                      <a:solidFill>
                        <a:srgbClr val="080000"/>
                      </a:solidFill>
                      <a:prstDash val="solid"/>
                      <a:round/>
                      <a:headEnd type="none" w="med" len="med"/>
                      <a:tailEnd type="none" w="med" len="med"/>
                    </a:lnR>
                    <a:lnT cmpd="sng" algn="ctr" cap="flat" w="12700">
                      <a:solidFill>
                        <a:srgbClr val="080000"/>
                      </a:solidFill>
                      <a:prstDash val="solid"/>
                      <a:round/>
                      <a:headEnd type="none" w="med" len="med"/>
                      <a:tailEnd type="none" w="med" len="med"/>
                    </a:lnT>
                    <a:lnB cmpd="sng" algn="ctr" cap="flat" w="12700">
                      <a:solidFill>
                        <a:srgbClr val="080000"/>
                      </a:solidFill>
                      <a:prstDash val="solid"/>
                      <a:round/>
                      <a:headEnd type="none" w="med" len="med"/>
                      <a:tailEnd type="none" w="med" len="med"/>
                    </a:lnB>
                    <a:noFill/>
                  </a:tcPr>
                </a:tc>
              </a:tr>
              <a:tr h="1016000">
                <a:tc>
                  <a:txBody>
                    <a:bodyPr anchor="t" rtlCol="false"/>
                    <a:lstStyle/>
                    <a:p>
                      <a:pPr algn="ctr" indent="0">
                        <a:lnSpc>
                          <a:spcPct val="100000"/>
                        </a:lnSpc>
                        <a:defRPr/>
                      </a:pPr>
                      <a:r>
                        <a:rPr lang="en-US" b="false" i="false" strike="noStrike" u="none" sz="1400">
                          <a:solidFill>
                            <a:srgbClr val="1F2329"/>
                          </a:solidFill>
                          <a:latin typeface="Songti SC"/>
                          <a:ea typeface="Songti SC"/>
                          <a:cs typeface="Songti SC"/>
                          <a:sym typeface="Songti SC"/>
                        </a:rPr>
                        <a:t>1</a:t>
                      </a:r>
                      <a:endParaRPr lang="en-US" sz="1100"/>
                    </a:p>
                  </a:txBody>
                  <a:tcPr anchor="ctr" anchorCtr="false" marL="101600" marR="101600" marT="101600" marB="101600">
                    <a:lnL cmpd="sng" algn="ctr" cap="flat" w="12700">
                      <a:solidFill>
                        <a:srgbClr val="080000"/>
                      </a:solidFill>
                      <a:prstDash val="solid"/>
                      <a:round/>
                      <a:headEnd type="none" w="med" len="med"/>
                      <a:tailEnd type="none" w="med" len="med"/>
                    </a:lnL>
                    <a:lnR cmpd="sng" algn="ctr" cap="flat" w="12700">
                      <a:solidFill>
                        <a:srgbClr val="080000"/>
                      </a:solidFill>
                      <a:prstDash val="solid"/>
                      <a:round/>
                      <a:headEnd type="none" w="med" len="med"/>
                      <a:tailEnd type="none" w="med" len="med"/>
                    </a:lnR>
                    <a:lnT cmpd="sng" algn="ctr" cap="flat" w="12700">
                      <a:solidFill>
                        <a:srgbClr val="080000"/>
                      </a:solidFill>
                      <a:prstDash val="solid"/>
                      <a:round/>
                      <a:headEnd type="none" w="med" len="med"/>
                      <a:tailEnd type="none" w="med" len="med"/>
                    </a:lnT>
                    <a:lnB cmpd="sng" algn="ctr" cap="flat" w="12700">
                      <a:solidFill>
                        <a:srgbClr val="080000"/>
                      </a:solidFill>
                      <a:prstDash val="solid"/>
                      <a:round/>
                      <a:headEnd type="none" w="med" len="med"/>
                      <a:tailEnd type="none" w="med" len="med"/>
                    </a:lnB>
                    <a:noFill/>
                  </a:tcPr>
                </a:tc>
                <a:tc>
                  <a:txBody>
                    <a:bodyPr anchor="t" rtlCol="false"/>
                    <a:lstStyle/>
                    <a:p>
                      <a:pPr algn="ctr" indent="0">
                        <a:lnSpc>
                          <a:spcPct val="100000"/>
                        </a:lnSpc>
                        <a:defRPr/>
                      </a:pPr>
                      <a:r>
                        <a:rPr lang="en-US" b="true" i="false" strike="noStrike" u="none" sz="1400">
                          <a:solidFill>
                            <a:srgbClr val="1F2329"/>
                          </a:solidFill>
                          <a:latin typeface="Songti SC"/>
                          <a:ea typeface="Songti SC"/>
                          <a:cs typeface="Songti SC"/>
                          <a:sym typeface="Songti SC"/>
                        </a:rPr>
                        <a:t>组长</a:t>
                      </a:r>
                      <a:endParaRPr lang="en-US" sz="1100"/>
                    </a:p>
                  </a:txBody>
                  <a:tcPr anchor="ctr" anchorCtr="false" marL="101600" marR="101600" marT="101600" marB="101600">
                    <a:lnL cmpd="sng" algn="ctr" cap="flat" w="12700">
                      <a:solidFill>
                        <a:srgbClr val="080000"/>
                      </a:solidFill>
                      <a:prstDash val="solid"/>
                      <a:round/>
                      <a:headEnd type="none" w="med" len="med"/>
                      <a:tailEnd type="none" w="med" len="med"/>
                    </a:lnL>
                    <a:lnR cmpd="sng" algn="ctr" cap="flat" w="12700">
                      <a:solidFill>
                        <a:srgbClr val="080000"/>
                      </a:solidFill>
                      <a:prstDash val="solid"/>
                      <a:round/>
                      <a:headEnd type="none" w="med" len="med"/>
                      <a:tailEnd type="none" w="med" len="med"/>
                    </a:lnR>
                    <a:lnT cmpd="sng" algn="ctr" cap="flat" w="12700">
                      <a:solidFill>
                        <a:srgbClr val="080000"/>
                      </a:solidFill>
                      <a:prstDash val="solid"/>
                      <a:round/>
                      <a:headEnd type="none" w="med" len="med"/>
                      <a:tailEnd type="none" w="med" len="med"/>
                    </a:lnT>
                    <a:lnB cmpd="sng" algn="ctr" cap="flat" w="12700">
                      <a:solidFill>
                        <a:srgbClr val="080000"/>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400">
                          <a:solidFill>
                            <a:srgbClr val="1F2329"/>
                          </a:solidFill>
                          <a:latin typeface="Songti SC"/>
                          <a:ea typeface="Songti SC"/>
                          <a:cs typeface="Songti SC"/>
                          <a:sym typeface="Songti SC"/>
                        </a:rPr>
                        <a:t>张佳星</a:t>
                      </a:r>
                      <a:endParaRPr lang="en-US" sz="1100"/>
                    </a:p>
                  </a:txBody>
                  <a:tcPr anchor="ctr" anchorCtr="false" marL="101600" marR="101600" marT="101600" marB="101600">
                    <a:lnL cmpd="sng" algn="ctr" cap="flat" w="12700">
                      <a:solidFill>
                        <a:srgbClr val="080000"/>
                      </a:solidFill>
                      <a:prstDash val="solid"/>
                      <a:round/>
                      <a:headEnd type="none" w="med" len="med"/>
                      <a:tailEnd type="none" w="med" len="med"/>
                    </a:lnL>
                    <a:lnR cmpd="sng" algn="ctr" cap="flat" w="12700">
                      <a:solidFill>
                        <a:srgbClr val="080000"/>
                      </a:solidFill>
                      <a:prstDash val="solid"/>
                      <a:round/>
                      <a:headEnd type="none" w="med" len="med"/>
                      <a:tailEnd type="none" w="med" len="med"/>
                    </a:lnR>
                    <a:lnT cmpd="sng" algn="ctr" cap="flat" w="12700">
                      <a:solidFill>
                        <a:srgbClr val="080000"/>
                      </a:solidFill>
                      <a:prstDash val="solid"/>
                      <a:round/>
                      <a:headEnd type="none" w="med" len="med"/>
                      <a:tailEnd type="none" w="med" len="med"/>
                    </a:lnT>
                    <a:lnB cmpd="sng" algn="ctr" cap="flat" w="12700">
                      <a:solidFill>
                        <a:srgbClr val="080000"/>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300">
                          <a:solidFill>
                            <a:srgbClr val="1F2329"/>
                          </a:solidFill>
                          <a:latin typeface="Songti SC"/>
                          <a:ea typeface="Songti SC"/>
                          <a:cs typeface="Songti SC"/>
                          <a:sym typeface="Songti SC"/>
                        </a:rPr>
                        <a:t>2321241447</a:t>
                      </a:r>
                      <a:endParaRPr lang="en-US" sz="1100"/>
                    </a:p>
                  </a:txBody>
                  <a:tcPr anchor="ctr" anchorCtr="false" marL="101600" marR="101600" marT="101600" marB="101600">
                    <a:lnL cmpd="sng" algn="ctr" cap="flat" w="12700">
                      <a:solidFill>
                        <a:srgbClr val="080000"/>
                      </a:solidFill>
                      <a:prstDash val="solid"/>
                      <a:round/>
                      <a:headEnd type="none" w="med" len="med"/>
                      <a:tailEnd type="none" w="med" len="med"/>
                    </a:lnL>
                    <a:lnR cmpd="sng" algn="ctr" cap="flat" w="12700">
                      <a:solidFill>
                        <a:srgbClr val="080000"/>
                      </a:solidFill>
                      <a:prstDash val="solid"/>
                      <a:round/>
                      <a:headEnd type="none" w="med" len="med"/>
                      <a:tailEnd type="none" w="med" len="med"/>
                    </a:lnR>
                    <a:lnT cmpd="sng" algn="ctr" cap="flat" w="12700">
                      <a:solidFill>
                        <a:srgbClr val="080000"/>
                      </a:solidFill>
                      <a:prstDash val="solid"/>
                      <a:round/>
                      <a:headEnd type="none" w="med" len="med"/>
                      <a:tailEnd type="none" w="med" len="med"/>
                    </a:lnT>
                    <a:lnB cmpd="sng" algn="ctr" cap="flat" w="12700">
                      <a:solidFill>
                        <a:srgbClr val="080000"/>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300">
                          <a:solidFill>
                            <a:srgbClr val="1F2329"/>
                          </a:solidFill>
                          <a:latin typeface="Songti SC"/>
                          <a:ea typeface="Songti SC"/>
                          <a:cs typeface="Songti SC"/>
                          <a:sym typeface="Songti SC"/>
                        </a:rPr>
                        <a:t>软件工程15班</a:t>
                      </a:r>
                      <a:endParaRPr lang="en-US" sz="1100"/>
                    </a:p>
                  </a:txBody>
                  <a:tcPr anchor="ctr" anchorCtr="false" marL="101600" marR="101600" marT="101600" marB="101600">
                    <a:lnL cmpd="sng" algn="ctr" cap="flat" w="12700">
                      <a:solidFill>
                        <a:srgbClr val="080000"/>
                      </a:solidFill>
                      <a:prstDash val="solid"/>
                      <a:round/>
                      <a:headEnd type="none" w="med" len="med"/>
                      <a:tailEnd type="none" w="med" len="med"/>
                    </a:lnL>
                    <a:lnR cmpd="sng" algn="ctr" cap="flat" w="12700">
                      <a:solidFill>
                        <a:srgbClr val="080000"/>
                      </a:solidFill>
                      <a:prstDash val="solid"/>
                      <a:round/>
                      <a:headEnd type="none" w="med" len="med"/>
                      <a:tailEnd type="none" w="med" len="med"/>
                    </a:lnR>
                    <a:lnT cmpd="sng" algn="ctr" cap="flat" w="12700">
                      <a:solidFill>
                        <a:srgbClr val="080000"/>
                      </a:solidFill>
                      <a:prstDash val="solid"/>
                      <a:round/>
                      <a:headEnd type="none" w="med" len="med"/>
                      <a:tailEnd type="none" w="med" len="med"/>
                    </a:lnT>
                    <a:lnB cmpd="sng" algn="ctr" cap="flat" w="12700">
                      <a:solidFill>
                        <a:srgbClr val="080000"/>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200">
                          <a:solidFill>
                            <a:srgbClr val="1F2329"/>
                          </a:solidFill>
                          <a:latin typeface="Noto Sans SC"/>
                          <a:ea typeface="Noto Sans SC"/>
                          <a:cs typeface="Noto Sans SC"/>
                          <a:sym typeface="Noto Sans SC"/>
                        </a:rPr>
                        <a:t>项目计划、进度管控、风险登记、组织协调、答辩统筹</a:t>
                      </a:r>
                      <a:endParaRPr lang="en-US" sz="1100"/>
                    </a:p>
                  </a:txBody>
                  <a:tcPr anchor="ctr" anchorCtr="false" marL="101600" marR="101600" marT="101600" marB="101600">
                    <a:lnL cmpd="sng" algn="ctr" cap="flat" w="12700">
                      <a:solidFill>
                        <a:srgbClr val="080000"/>
                      </a:solidFill>
                      <a:prstDash val="solid"/>
                      <a:round/>
                      <a:headEnd type="none" w="med" len="med"/>
                      <a:tailEnd type="none" w="med" len="med"/>
                    </a:lnL>
                    <a:lnR cmpd="sng" algn="ctr" cap="flat" w="12700">
                      <a:solidFill>
                        <a:srgbClr val="080000"/>
                      </a:solidFill>
                      <a:prstDash val="solid"/>
                      <a:round/>
                      <a:headEnd type="none" w="med" len="med"/>
                      <a:tailEnd type="none" w="med" len="med"/>
                    </a:lnR>
                    <a:lnT cmpd="sng" algn="ctr" cap="flat" w="12700">
                      <a:solidFill>
                        <a:srgbClr val="080000"/>
                      </a:solidFill>
                      <a:prstDash val="solid"/>
                      <a:round/>
                      <a:headEnd type="none" w="med" len="med"/>
                      <a:tailEnd type="none" w="med" len="med"/>
                    </a:lnT>
                    <a:lnB cmpd="sng" algn="ctr" cap="flat" w="12700">
                      <a:solidFill>
                        <a:srgbClr val="080000"/>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200">
                          <a:solidFill>
                            <a:srgbClr val="1F2329"/>
                          </a:solidFill>
                          <a:latin typeface="Noto Sans SC"/>
                          <a:ea typeface="Noto Sans SC"/>
                          <a:cs typeface="Noto Sans SC"/>
                          <a:sym typeface="Noto Sans SC"/>
                        </a:rPr>
                        <a:t>制定完整计划，确保进度，风险归零</a:t>
                      </a:r>
                      <a:endParaRPr lang="en-US" sz="1100"/>
                    </a:p>
                  </a:txBody>
                  <a:tcPr anchor="ctr" anchorCtr="false" marL="101600" marR="101600" marT="101600" marB="101600">
                    <a:lnL cmpd="sng" algn="ctr" cap="flat" w="12700">
                      <a:solidFill>
                        <a:srgbClr val="080000"/>
                      </a:solidFill>
                      <a:prstDash val="solid"/>
                      <a:round/>
                      <a:headEnd type="none" w="med" len="med"/>
                      <a:tailEnd type="none" w="med" len="med"/>
                    </a:lnL>
                    <a:lnR cmpd="sng" algn="ctr" cap="flat" w="12700">
                      <a:solidFill>
                        <a:srgbClr val="080000"/>
                      </a:solidFill>
                      <a:prstDash val="solid"/>
                      <a:round/>
                      <a:headEnd type="none" w="med" len="med"/>
                      <a:tailEnd type="none" w="med" len="med"/>
                    </a:lnR>
                    <a:lnT cmpd="sng" algn="ctr" cap="flat" w="12700">
                      <a:solidFill>
                        <a:srgbClr val="080000"/>
                      </a:solidFill>
                      <a:prstDash val="solid"/>
                      <a:round/>
                      <a:headEnd type="none" w="med" len="med"/>
                      <a:tailEnd type="none" w="med" len="med"/>
                    </a:lnT>
                    <a:lnB cmpd="sng" algn="ctr" cap="flat" w="12700">
                      <a:solidFill>
                        <a:srgbClr val="080000"/>
                      </a:solidFill>
                      <a:prstDash val="solid"/>
                      <a:round/>
                      <a:headEnd type="none" w="med" len="med"/>
                      <a:tailEnd type="none" w="med" len="med"/>
                    </a:lnB>
                    <a:noFill/>
                  </a:tcPr>
                </a:tc>
                <a:tc>
                  <a:txBody>
                    <a:bodyPr anchor="t" rtlCol="false"/>
                    <a:lstStyle/>
                    <a:p>
                      <a:pPr algn="ctr" indent="0">
                        <a:lnSpc>
                          <a:spcPct val="100000"/>
                        </a:lnSpc>
                        <a:defRPr/>
                      </a:pPr>
                      <a:r>
                        <a:rPr lang="en-US" b="true" i="false" strike="noStrike" u="none" sz="1400">
                          <a:solidFill>
                            <a:srgbClr val="1F2329"/>
                          </a:solidFill>
                          <a:latin typeface="Songti SC"/>
                          <a:ea typeface="Songti SC"/>
                          <a:cs typeface="Songti SC"/>
                          <a:sym typeface="Songti SC"/>
                        </a:rPr>
                        <a:t>100%</a:t>
                      </a:r>
                      <a:endParaRPr lang="en-US" sz="1100"/>
                    </a:p>
                  </a:txBody>
                  <a:tcPr anchor="ctr" anchorCtr="false" marL="101600" marR="101600" marT="101600" marB="101600">
                    <a:lnL cmpd="sng" algn="ctr" cap="flat" w="12700">
                      <a:solidFill>
                        <a:srgbClr val="080000"/>
                      </a:solidFill>
                      <a:prstDash val="solid"/>
                      <a:round/>
                      <a:headEnd type="none" w="med" len="med"/>
                      <a:tailEnd type="none" w="med" len="med"/>
                    </a:lnL>
                    <a:lnR cmpd="sng" algn="ctr" cap="flat" w="12700">
                      <a:solidFill>
                        <a:srgbClr val="080000"/>
                      </a:solidFill>
                      <a:prstDash val="solid"/>
                      <a:round/>
                      <a:headEnd type="none" w="med" len="med"/>
                      <a:tailEnd type="none" w="med" len="med"/>
                    </a:lnR>
                    <a:lnT cmpd="sng" algn="ctr" cap="flat" w="12700">
                      <a:solidFill>
                        <a:srgbClr val="080000"/>
                      </a:solidFill>
                      <a:prstDash val="solid"/>
                      <a:round/>
                      <a:headEnd type="none" w="med" len="med"/>
                      <a:tailEnd type="none" w="med" len="med"/>
                    </a:lnT>
                    <a:lnB cmpd="sng" algn="ctr" cap="flat" w="12700">
                      <a:solidFill>
                        <a:srgbClr val="080000"/>
                      </a:solidFill>
                      <a:prstDash val="solid"/>
                      <a:round/>
                      <a:headEnd type="none" w="med" len="med"/>
                      <a:tailEnd type="none" w="med" len="med"/>
                    </a:lnB>
                    <a:noFill/>
                  </a:tcPr>
                </a:tc>
                <a:tc>
                  <a:txBody>
                    <a:bodyPr anchor="t" rtlCol="false"/>
                    <a:lstStyle/>
                    <a:p>
                      <a:pPr algn="ctr" indent="0">
                        <a:lnSpc>
                          <a:spcPct val="100000"/>
                        </a:lnSpc>
                        <a:defRPr/>
                      </a:pPr>
                      <a:r>
                        <a:rPr lang="en-US" b="true" i="false" strike="noStrike" u="none" sz="1400">
                          <a:solidFill>
                            <a:srgbClr val="1F2329"/>
                          </a:solidFill>
                          <a:latin typeface="Songti SC"/>
                          <a:ea typeface="Songti SC"/>
                          <a:cs typeface="Songti SC"/>
                          <a:sym typeface="Songti SC"/>
                        </a:rPr>
                        <a:t>20%</a:t>
                      </a:r>
                      <a:endParaRPr lang="en-US" sz="1100"/>
                    </a:p>
                  </a:txBody>
                  <a:tcPr anchor="ctr" anchorCtr="false" marL="101600" marR="101600" marT="101600" marB="101600">
                    <a:lnL>
                      <a:noFill/>
                    </a:lnL>
                    <a:lnR cmpd="sng" algn="ctr" cap="flat" w="12700">
                      <a:solidFill>
                        <a:srgbClr val="080000"/>
                      </a:solidFill>
                      <a:prstDash val="solid"/>
                      <a:round/>
                      <a:headEnd type="none" w="med" len="med"/>
                      <a:tailEnd type="none" w="med" len="med"/>
                    </a:lnR>
                    <a:lnT cmpd="sng" algn="ctr" cap="flat" w="12700">
                      <a:solidFill>
                        <a:srgbClr val="080000"/>
                      </a:solidFill>
                      <a:prstDash val="solid"/>
                      <a:round/>
                      <a:headEnd type="none" w="med" len="med"/>
                      <a:tailEnd type="none" w="med" len="med"/>
                    </a:lnT>
                    <a:lnB cmpd="sng" algn="ctr" cap="flat" w="12700">
                      <a:solidFill>
                        <a:srgbClr val="080000"/>
                      </a:solidFill>
                      <a:prstDash val="solid"/>
                      <a:round/>
                      <a:headEnd type="none" w="med" len="med"/>
                      <a:tailEnd type="none" w="med" len="med"/>
                    </a:lnB>
                    <a:noFill/>
                  </a:tcPr>
                </a:tc>
              </a:tr>
              <a:tr h="1016000">
                <a:tc>
                  <a:txBody>
                    <a:bodyPr anchor="t" rtlCol="false"/>
                    <a:lstStyle/>
                    <a:p>
                      <a:pPr algn="ctr" indent="0">
                        <a:lnSpc>
                          <a:spcPct val="100000"/>
                        </a:lnSpc>
                        <a:defRPr/>
                      </a:pPr>
                      <a:r>
                        <a:rPr lang="en-US" b="false" i="false" strike="noStrike" u="none" sz="1400">
                          <a:solidFill>
                            <a:srgbClr val="1F2329"/>
                          </a:solidFill>
                          <a:latin typeface="Songti SC"/>
                          <a:ea typeface="Songti SC"/>
                          <a:cs typeface="Songti SC"/>
                          <a:sym typeface="Songti SC"/>
                        </a:rPr>
                        <a:t>1</a:t>
                      </a:r>
                      <a:endParaRPr lang="en-US" sz="1100"/>
                    </a:p>
                  </a:txBody>
                  <a:tcPr anchor="ctr" anchorCtr="false" marL="101600" marR="101600" marT="101600" marB="101600">
                    <a:lnL cmpd="sng" algn="ctr" cap="flat" w="12700">
                      <a:solidFill>
                        <a:srgbClr val="080000"/>
                      </a:solidFill>
                      <a:prstDash val="solid"/>
                      <a:round/>
                      <a:headEnd type="none" w="med" len="med"/>
                      <a:tailEnd type="none" w="med" len="med"/>
                    </a:lnL>
                    <a:lnR cmpd="sng" algn="ctr" cap="flat" w="12700">
                      <a:solidFill>
                        <a:srgbClr val="080000"/>
                      </a:solidFill>
                      <a:prstDash val="solid"/>
                      <a:round/>
                      <a:headEnd type="none" w="med" len="med"/>
                      <a:tailEnd type="none" w="med" len="med"/>
                    </a:lnR>
                    <a:lnT cmpd="sng" algn="ctr" cap="flat" w="12700">
                      <a:solidFill>
                        <a:srgbClr val="080000"/>
                      </a:solidFill>
                      <a:prstDash val="solid"/>
                      <a:round/>
                      <a:headEnd type="none" w="med" len="med"/>
                      <a:tailEnd type="none" w="med" len="med"/>
                    </a:lnT>
                    <a:lnB cmpd="sng" algn="ctr" cap="flat" w="12700">
                      <a:solidFill>
                        <a:srgbClr val="080000"/>
                      </a:solidFill>
                      <a:prstDash val="solid"/>
                      <a:round/>
                      <a:headEnd type="none" w="med" len="med"/>
                      <a:tailEnd type="none" w="med" len="med"/>
                    </a:lnB>
                    <a:noFill/>
                  </a:tcPr>
                </a:tc>
                <a:tc>
                  <a:txBody>
                    <a:bodyPr anchor="t" rtlCol="false"/>
                    <a:lstStyle/>
                    <a:p>
                      <a:pPr algn="ctr" indent="0">
                        <a:lnSpc>
                          <a:spcPct val="100000"/>
                        </a:lnSpc>
                        <a:defRPr/>
                      </a:pPr>
                      <a:r>
                        <a:rPr lang="en-US" b="true" i="false" strike="noStrike" u="none" sz="1400">
                          <a:solidFill>
                            <a:srgbClr val="1F2329"/>
                          </a:solidFill>
                          <a:latin typeface="Songti SC"/>
                          <a:ea typeface="Songti SC"/>
                          <a:cs typeface="Songti SC"/>
                          <a:sym typeface="Songti SC"/>
                        </a:rPr>
                        <a:t>副组长</a:t>
                      </a:r>
                      <a:endParaRPr lang="en-US" sz="1100"/>
                    </a:p>
                  </a:txBody>
                  <a:tcPr anchor="ctr" anchorCtr="false" marL="101600" marR="101600" marT="101600" marB="101600">
                    <a:lnL cmpd="sng" algn="ctr" cap="flat" w="12700">
                      <a:solidFill>
                        <a:srgbClr val="080000"/>
                      </a:solidFill>
                      <a:prstDash val="solid"/>
                      <a:round/>
                      <a:headEnd type="none" w="med" len="med"/>
                      <a:tailEnd type="none" w="med" len="med"/>
                    </a:lnL>
                    <a:lnR cmpd="sng" algn="ctr" cap="flat" w="12700">
                      <a:solidFill>
                        <a:srgbClr val="080000"/>
                      </a:solidFill>
                      <a:prstDash val="solid"/>
                      <a:round/>
                      <a:headEnd type="none" w="med" len="med"/>
                      <a:tailEnd type="none" w="med" len="med"/>
                    </a:lnR>
                    <a:lnT cmpd="sng" algn="ctr" cap="flat" w="12700">
                      <a:solidFill>
                        <a:srgbClr val="080000"/>
                      </a:solidFill>
                      <a:prstDash val="solid"/>
                      <a:round/>
                      <a:headEnd type="none" w="med" len="med"/>
                      <a:tailEnd type="none" w="med" len="med"/>
                    </a:lnT>
                    <a:lnB cmpd="sng" algn="ctr" cap="flat" w="12700">
                      <a:solidFill>
                        <a:srgbClr val="080000"/>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400">
                          <a:solidFill>
                            <a:srgbClr val="1F2329"/>
                          </a:solidFill>
                          <a:latin typeface="Songti SC"/>
                          <a:ea typeface="Songti SC"/>
                          <a:cs typeface="Songti SC"/>
                          <a:sym typeface="Songti SC"/>
                        </a:rPr>
                        <a:t>张春笋</a:t>
                      </a:r>
                      <a:endParaRPr lang="en-US" sz="1100"/>
                    </a:p>
                  </a:txBody>
                  <a:tcPr anchor="ctr" anchorCtr="false" marL="101600" marR="101600" marT="101600" marB="101600">
                    <a:lnL cmpd="sng" algn="ctr" cap="flat" w="12700">
                      <a:solidFill>
                        <a:srgbClr val="080000"/>
                      </a:solidFill>
                      <a:prstDash val="solid"/>
                      <a:round/>
                      <a:headEnd type="none" w="med" len="med"/>
                      <a:tailEnd type="none" w="med" len="med"/>
                    </a:lnL>
                    <a:lnR cmpd="sng" algn="ctr" cap="flat" w="12700">
                      <a:solidFill>
                        <a:srgbClr val="080000"/>
                      </a:solidFill>
                      <a:prstDash val="solid"/>
                      <a:round/>
                      <a:headEnd type="none" w="med" len="med"/>
                      <a:tailEnd type="none" w="med" len="med"/>
                    </a:lnR>
                    <a:lnT cmpd="sng" algn="ctr" cap="flat" w="12700">
                      <a:solidFill>
                        <a:srgbClr val="080000"/>
                      </a:solidFill>
                      <a:prstDash val="solid"/>
                      <a:round/>
                      <a:headEnd type="none" w="med" len="med"/>
                      <a:tailEnd type="none" w="med" len="med"/>
                    </a:lnT>
                    <a:lnB cmpd="sng" algn="ctr" cap="flat" w="12700">
                      <a:solidFill>
                        <a:srgbClr val="080000"/>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300">
                          <a:solidFill>
                            <a:srgbClr val="1F2329"/>
                          </a:solidFill>
                          <a:latin typeface="Songti SC"/>
                          <a:ea typeface="Songti SC"/>
                          <a:cs typeface="Songti SC"/>
                          <a:sym typeface="Songti SC"/>
                        </a:rPr>
                        <a:t>2321241446</a:t>
                      </a:r>
                      <a:endParaRPr lang="en-US" sz="1100"/>
                    </a:p>
                  </a:txBody>
                  <a:tcPr anchor="ctr" anchorCtr="false" marL="101600" marR="101600" marT="101600" marB="101600">
                    <a:lnL cmpd="sng" algn="ctr" cap="flat" w="12700">
                      <a:solidFill>
                        <a:srgbClr val="080000"/>
                      </a:solidFill>
                      <a:prstDash val="solid"/>
                      <a:round/>
                      <a:headEnd type="none" w="med" len="med"/>
                      <a:tailEnd type="none" w="med" len="med"/>
                    </a:lnL>
                    <a:lnR cmpd="sng" algn="ctr" cap="flat" w="12700">
                      <a:solidFill>
                        <a:srgbClr val="080000"/>
                      </a:solidFill>
                      <a:prstDash val="solid"/>
                      <a:round/>
                      <a:headEnd type="none" w="med" len="med"/>
                      <a:tailEnd type="none" w="med" len="med"/>
                    </a:lnR>
                    <a:lnT cmpd="sng" algn="ctr" cap="flat" w="12700">
                      <a:solidFill>
                        <a:srgbClr val="080000"/>
                      </a:solidFill>
                      <a:prstDash val="solid"/>
                      <a:round/>
                      <a:headEnd type="none" w="med" len="med"/>
                      <a:tailEnd type="none" w="med" len="med"/>
                    </a:lnT>
                    <a:lnB cmpd="sng" algn="ctr" cap="flat" w="12700">
                      <a:solidFill>
                        <a:srgbClr val="080000"/>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300">
                          <a:solidFill>
                            <a:srgbClr val="1F2329"/>
                          </a:solidFill>
                          <a:latin typeface="Songti SC"/>
                          <a:ea typeface="Songti SC"/>
                          <a:cs typeface="Songti SC"/>
                          <a:sym typeface="Songti SC"/>
                        </a:rPr>
                        <a:t>软件工程15班</a:t>
                      </a:r>
                      <a:endParaRPr lang="en-US" sz="1100"/>
                    </a:p>
                  </a:txBody>
                  <a:tcPr anchor="ctr" anchorCtr="false" marL="101600" marR="101600" marT="101600" marB="101600">
                    <a:lnL cmpd="sng" algn="ctr" cap="flat" w="12700">
                      <a:solidFill>
                        <a:srgbClr val="080000"/>
                      </a:solidFill>
                      <a:prstDash val="solid"/>
                      <a:round/>
                      <a:headEnd type="none" w="med" len="med"/>
                      <a:tailEnd type="none" w="med" len="med"/>
                    </a:lnL>
                    <a:lnR cmpd="sng" algn="ctr" cap="flat" w="12700">
                      <a:solidFill>
                        <a:srgbClr val="080000"/>
                      </a:solidFill>
                      <a:prstDash val="solid"/>
                      <a:round/>
                      <a:headEnd type="none" w="med" len="med"/>
                      <a:tailEnd type="none" w="med" len="med"/>
                    </a:lnR>
                    <a:lnT cmpd="sng" algn="ctr" cap="flat" w="12700">
                      <a:solidFill>
                        <a:srgbClr val="080000"/>
                      </a:solidFill>
                      <a:prstDash val="solid"/>
                      <a:round/>
                      <a:headEnd type="none" w="med" len="med"/>
                      <a:tailEnd type="none" w="med" len="med"/>
                    </a:lnT>
                    <a:lnB cmpd="sng" algn="ctr" cap="flat" w="12700">
                      <a:solidFill>
                        <a:srgbClr val="080000"/>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200">
                          <a:solidFill>
                            <a:srgbClr val="1F2329"/>
                          </a:solidFill>
                          <a:latin typeface="Noto Sans SC"/>
                          <a:ea typeface="Noto Sans SC"/>
                          <a:cs typeface="Noto Sans SC"/>
                          <a:sym typeface="Noto Sans SC"/>
                        </a:rPr>
                        <a:t>功能逻辑实现、数据处理、前后端联调、流程闭环</a:t>
                      </a:r>
                      <a:endParaRPr lang="en-US" sz="1100"/>
                    </a:p>
                  </a:txBody>
                  <a:tcPr anchor="ctr" anchorCtr="false" marL="101600" marR="101600" marT="101600" marB="101600">
                    <a:lnL cmpd="sng" algn="ctr" cap="flat" w="12700">
                      <a:solidFill>
                        <a:srgbClr val="080000"/>
                      </a:solidFill>
                      <a:prstDash val="solid"/>
                      <a:round/>
                      <a:headEnd type="none" w="med" len="med"/>
                      <a:tailEnd type="none" w="med" len="med"/>
                    </a:lnL>
                    <a:lnR cmpd="sng" algn="ctr" cap="flat" w="12700">
                      <a:solidFill>
                        <a:srgbClr val="080000"/>
                      </a:solidFill>
                      <a:prstDash val="solid"/>
                      <a:round/>
                      <a:headEnd type="none" w="med" len="med"/>
                      <a:tailEnd type="none" w="med" len="med"/>
                    </a:lnR>
                    <a:lnT cmpd="sng" algn="ctr" cap="flat" w="12700">
                      <a:solidFill>
                        <a:srgbClr val="080000"/>
                      </a:solidFill>
                      <a:prstDash val="solid"/>
                      <a:round/>
                      <a:headEnd type="none" w="med" len="med"/>
                      <a:tailEnd type="none" w="med" len="med"/>
                    </a:lnT>
                    <a:lnB cmpd="sng" algn="ctr" cap="flat" w="12700">
                      <a:solidFill>
                        <a:srgbClr val="080000"/>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200">
                          <a:solidFill>
                            <a:srgbClr val="1F2329"/>
                          </a:solidFill>
                          <a:latin typeface="Noto Sans SC"/>
                          <a:ea typeface="Noto Sans SC"/>
                          <a:cs typeface="Noto Sans SC"/>
                          <a:sym typeface="Noto Sans SC"/>
                        </a:rPr>
                        <a:t>完成所有功能逻辑，确保数据流转正确</a:t>
                      </a:r>
                      <a:endParaRPr lang="en-US" sz="1100"/>
                    </a:p>
                  </a:txBody>
                  <a:tcPr anchor="ctr" anchorCtr="false" marL="101600" marR="101600" marT="101600" marB="101600">
                    <a:lnL cmpd="sng" algn="ctr" cap="flat" w="12700">
                      <a:solidFill>
                        <a:srgbClr val="080000"/>
                      </a:solidFill>
                      <a:prstDash val="solid"/>
                      <a:round/>
                      <a:headEnd type="none" w="med" len="med"/>
                      <a:tailEnd type="none" w="med" len="med"/>
                    </a:lnL>
                    <a:lnR cmpd="sng" algn="ctr" cap="flat" w="12700">
                      <a:solidFill>
                        <a:srgbClr val="080000"/>
                      </a:solidFill>
                      <a:prstDash val="solid"/>
                      <a:round/>
                      <a:headEnd type="none" w="med" len="med"/>
                      <a:tailEnd type="none" w="med" len="med"/>
                    </a:lnR>
                    <a:lnT cmpd="sng" algn="ctr" cap="flat" w="12700">
                      <a:solidFill>
                        <a:srgbClr val="080000"/>
                      </a:solidFill>
                      <a:prstDash val="solid"/>
                      <a:round/>
                      <a:headEnd type="none" w="med" len="med"/>
                      <a:tailEnd type="none" w="med" len="med"/>
                    </a:lnT>
                    <a:lnB cmpd="sng" algn="ctr" cap="flat" w="12700">
                      <a:solidFill>
                        <a:srgbClr val="080000"/>
                      </a:solidFill>
                      <a:prstDash val="solid"/>
                      <a:round/>
                      <a:headEnd type="none" w="med" len="med"/>
                      <a:tailEnd type="none" w="med" len="med"/>
                    </a:lnB>
                    <a:noFill/>
                  </a:tcPr>
                </a:tc>
                <a:tc>
                  <a:txBody>
                    <a:bodyPr anchor="t" rtlCol="false"/>
                    <a:lstStyle/>
                    <a:p>
                      <a:pPr algn="ctr" indent="0">
                        <a:lnSpc>
                          <a:spcPct val="100000"/>
                        </a:lnSpc>
                        <a:defRPr/>
                      </a:pPr>
                      <a:r>
                        <a:rPr lang="en-US" b="true" i="false" strike="noStrike" u="none" sz="1400">
                          <a:solidFill>
                            <a:srgbClr val="1F2329"/>
                          </a:solidFill>
                          <a:latin typeface="Songti SC"/>
                          <a:ea typeface="Songti SC"/>
                          <a:cs typeface="Songti SC"/>
                          <a:sym typeface="Songti SC"/>
                        </a:rPr>
                        <a:t>100%</a:t>
                      </a:r>
                      <a:endParaRPr lang="en-US" sz="1100"/>
                    </a:p>
                  </a:txBody>
                  <a:tcPr anchor="ctr" anchorCtr="false" marL="101600" marR="101600" marT="101600" marB="101600">
                    <a:lnL cmpd="sng" algn="ctr" cap="flat" w="12700">
                      <a:solidFill>
                        <a:srgbClr val="080000"/>
                      </a:solidFill>
                      <a:prstDash val="solid"/>
                      <a:round/>
                      <a:headEnd type="none" w="med" len="med"/>
                      <a:tailEnd type="none" w="med" len="med"/>
                    </a:lnL>
                    <a:lnR cmpd="sng" algn="ctr" cap="flat" w="12700">
                      <a:solidFill>
                        <a:srgbClr val="080000"/>
                      </a:solidFill>
                      <a:prstDash val="solid"/>
                      <a:round/>
                      <a:headEnd type="none" w="med" len="med"/>
                      <a:tailEnd type="none" w="med" len="med"/>
                    </a:lnR>
                    <a:lnT cmpd="sng" algn="ctr" cap="flat" w="12700">
                      <a:solidFill>
                        <a:srgbClr val="080000"/>
                      </a:solidFill>
                      <a:prstDash val="solid"/>
                      <a:round/>
                      <a:headEnd type="none" w="med" len="med"/>
                      <a:tailEnd type="none" w="med" len="med"/>
                    </a:lnT>
                    <a:lnB cmpd="sng" algn="ctr" cap="flat" w="12700">
                      <a:solidFill>
                        <a:srgbClr val="080000"/>
                      </a:solidFill>
                      <a:prstDash val="solid"/>
                      <a:round/>
                      <a:headEnd type="none" w="med" len="med"/>
                      <a:tailEnd type="none" w="med" len="med"/>
                    </a:lnB>
                    <a:noFill/>
                  </a:tcPr>
                </a:tc>
                <a:tc>
                  <a:txBody>
                    <a:bodyPr anchor="t" rtlCol="false"/>
                    <a:lstStyle/>
                    <a:p>
                      <a:pPr algn="ctr" indent="0">
                        <a:lnSpc>
                          <a:spcPct val="100000"/>
                        </a:lnSpc>
                        <a:defRPr/>
                      </a:pPr>
                      <a:r>
                        <a:rPr lang="en-US" b="true" i="false" strike="noStrike" u="none" sz="1400">
                          <a:solidFill>
                            <a:srgbClr val="1F2329"/>
                          </a:solidFill>
                          <a:latin typeface="Songti SC"/>
                          <a:ea typeface="Songti SC"/>
                          <a:cs typeface="Songti SC"/>
                          <a:sym typeface="Songti SC"/>
                        </a:rPr>
                        <a:t>20%</a:t>
                      </a:r>
                      <a:endParaRPr lang="en-US" sz="1100"/>
                    </a:p>
                  </a:txBody>
                  <a:tcPr anchor="ctr" anchorCtr="false" marL="101600" marR="101600" marT="101600" marB="101600">
                    <a:lnL>
                      <a:noFill/>
                    </a:lnL>
                    <a:lnR cmpd="sng" algn="ctr" cap="flat" w="12700">
                      <a:solidFill>
                        <a:srgbClr val="080000"/>
                      </a:solidFill>
                      <a:prstDash val="solid"/>
                      <a:round/>
                      <a:headEnd type="none" w="med" len="med"/>
                      <a:tailEnd type="none" w="med" len="med"/>
                    </a:lnR>
                    <a:lnT cmpd="sng" algn="ctr" cap="flat" w="12700">
                      <a:solidFill>
                        <a:srgbClr val="080000"/>
                      </a:solidFill>
                      <a:prstDash val="solid"/>
                      <a:round/>
                      <a:headEnd type="none" w="med" len="med"/>
                      <a:tailEnd type="none" w="med" len="med"/>
                    </a:lnT>
                    <a:lnB cmpd="sng" algn="ctr" cap="flat" w="12700">
                      <a:solidFill>
                        <a:srgbClr val="080000"/>
                      </a:solidFill>
                      <a:prstDash val="solid"/>
                      <a:round/>
                      <a:headEnd type="none" w="med" len="med"/>
                      <a:tailEnd type="none" w="med" len="med"/>
                    </a:lnB>
                    <a:noFill/>
                  </a:tcPr>
                </a:tc>
              </a:tr>
              <a:tr h="1016000">
                <a:tc>
                  <a:txBody>
                    <a:bodyPr anchor="t" rtlCol="false"/>
                    <a:lstStyle/>
                    <a:p>
                      <a:pPr algn="ctr" indent="0">
                        <a:lnSpc>
                          <a:spcPct val="100000"/>
                        </a:lnSpc>
                        <a:defRPr/>
                      </a:pPr>
                      <a:r>
                        <a:rPr lang="en-US" b="false" i="false" strike="noStrike" u="none" sz="1400">
                          <a:solidFill>
                            <a:srgbClr val="1F2329"/>
                          </a:solidFill>
                          <a:latin typeface="Songti SC"/>
                          <a:ea typeface="Songti SC"/>
                          <a:cs typeface="Songti SC"/>
                          <a:sym typeface="Songti SC"/>
                        </a:rPr>
                        <a:t>1</a:t>
                      </a:r>
                      <a:endParaRPr lang="en-US" sz="1100"/>
                    </a:p>
                  </a:txBody>
                  <a:tcPr anchor="ctr" anchorCtr="false" marL="101600" marR="101600" marT="101600" marB="101600">
                    <a:lnL cmpd="sng" algn="ctr" cap="flat" w="12700">
                      <a:solidFill>
                        <a:srgbClr val="080000"/>
                      </a:solidFill>
                      <a:prstDash val="solid"/>
                      <a:round/>
                      <a:headEnd type="none" w="med" len="med"/>
                      <a:tailEnd type="none" w="med" len="med"/>
                    </a:lnL>
                    <a:lnR cmpd="sng" algn="ctr" cap="flat" w="12700">
                      <a:solidFill>
                        <a:srgbClr val="080000"/>
                      </a:solidFill>
                      <a:prstDash val="solid"/>
                      <a:round/>
                      <a:headEnd type="none" w="med" len="med"/>
                      <a:tailEnd type="none" w="med" len="med"/>
                    </a:lnR>
                    <a:lnT cmpd="sng" algn="ctr" cap="flat" w="12700">
                      <a:solidFill>
                        <a:srgbClr val="080000"/>
                      </a:solidFill>
                      <a:prstDash val="solid"/>
                      <a:round/>
                      <a:headEnd type="none" w="med" len="med"/>
                      <a:tailEnd type="none" w="med" len="med"/>
                    </a:lnT>
                    <a:lnB cmpd="sng" algn="ctr" cap="flat" w="12700">
                      <a:solidFill>
                        <a:srgbClr val="080000"/>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400">
                          <a:solidFill>
                            <a:srgbClr val="1F2329"/>
                          </a:solidFill>
                          <a:latin typeface="Songti SC"/>
                          <a:ea typeface="Songti SC"/>
                          <a:cs typeface="Songti SC"/>
                          <a:sym typeface="Songti SC"/>
                        </a:rPr>
                        <a:t>成员</a:t>
                      </a:r>
                      <a:endParaRPr lang="en-US" sz="1100"/>
                    </a:p>
                  </a:txBody>
                  <a:tcPr anchor="ctr" anchorCtr="false" marL="101600" marR="101600" marT="101600" marB="101600">
                    <a:lnL cmpd="sng" algn="ctr" cap="flat" w="12700">
                      <a:solidFill>
                        <a:srgbClr val="080000"/>
                      </a:solidFill>
                      <a:prstDash val="solid"/>
                      <a:round/>
                      <a:headEnd type="none" w="med" len="med"/>
                      <a:tailEnd type="none" w="med" len="med"/>
                    </a:lnL>
                    <a:lnR cmpd="sng" algn="ctr" cap="flat" w="12700">
                      <a:solidFill>
                        <a:srgbClr val="080000"/>
                      </a:solidFill>
                      <a:prstDash val="solid"/>
                      <a:round/>
                      <a:headEnd type="none" w="med" len="med"/>
                      <a:tailEnd type="none" w="med" len="med"/>
                    </a:lnR>
                    <a:lnT cmpd="sng" algn="ctr" cap="flat" w="12700">
                      <a:solidFill>
                        <a:srgbClr val="080000"/>
                      </a:solidFill>
                      <a:prstDash val="solid"/>
                      <a:round/>
                      <a:headEnd type="none" w="med" len="med"/>
                      <a:tailEnd type="none" w="med" len="med"/>
                    </a:lnT>
                    <a:lnB cmpd="sng" algn="ctr" cap="flat" w="12700">
                      <a:solidFill>
                        <a:srgbClr val="080000"/>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400">
                          <a:solidFill>
                            <a:srgbClr val="1F2329"/>
                          </a:solidFill>
                          <a:latin typeface="Songti SC"/>
                          <a:ea typeface="Songti SC"/>
                          <a:cs typeface="Songti SC"/>
                          <a:sym typeface="Songti SC"/>
                        </a:rPr>
                        <a:t>刘昕雨</a:t>
                      </a:r>
                      <a:endParaRPr lang="en-US" sz="1100"/>
                    </a:p>
                  </a:txBody>
                  <a:tcPr anchor="ctr" anchorCtr="false" marL="101600" marR="101600" marT="101600" marB="101600">
                    <a:lnL cmpd="sng" algn="ctr" cap="flat" w="12700">
                      <a:solidFill>
                        <a:srgbClr val="080000"/>
                      </a:solidFill>
                      <a:prstDash val="solid"/>
                      <a:round/>
                      <a:headEnd type="none" w="med" len="med"/>
                      <a:tailEnd type="none" w="med" len="med"/>
                    </a:lnL>
                    <a:lnR cmpd="sng" algn="ctr" cap="flat" w="12700">
                      <a:solidFill>
                        <a:srgbClr val="080000"/>
                      </a:solidFill>
                      <a:prstDash val="solid"/>
                      <a:round/>
                      <a:headEnd type="none" w="med" len="med"/>
                      <a:tailEnd type="none" w="med" len="med"/>
                    </a:lnR>
                    <a:lnT cmpd="sng" algn="ctr" cap="flat" w="12700">
                      <a:solidFill>
                        <a:srgbClr val="080000"/>
                      </a:solidFill>
                      <a:prstDash val="solid"/>
                      <a:round/>
                      <a:headEnd type="none" w="med" len="med"/>
                      <a:tailEnd type="none" w="med" len="med"/>
                    </a:lnT>
                    <a:lnB cmpd="sng" algn="ctr" cap="flat" w="12700">
                      <a:solidFill>
                        <a:srgbClr val="080000"/>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300">
                          <a:solidFill>
                            <a:srgbClr val="1F2329"/>
                          </a:solidFill>
                          <a:latin typeface="Songti SC"/>
                          <a:ea typeface="Songti SC"/>
                          <a:cs typeface="Songti SC"/>
                          <a:sym typeface="Songti SC"/>
                        </a:rPr>
                        <a:t>2321241435</a:t>
                      </a:r>
                      <a:endParaRPr lang="en-US" sz="1100"/>
                    </a:p>
                  </a:txBody>
                  <a:tcPr anchor="ctr" anchorCtr="false" marL="101600" marR="101600" marT="101600" marB="101600">
                    <a:lnL cmpd="sng" algn="ctr" cap="flat" w="12700">
                      <a:solidFill>
                        <a:srgbClr val="080000"/>
                      </a:solidFill>
                      <a:prstDash val="solid"/>
                      <a:round/>
                      <a:headEnd type="none" w="med" len="med"/>
                      <a:tailEnd type="none" w="med" len="med"/>
                    </a:lnL>
                    <a:lnR cmpd="sng" algn="ctr" cap="flat" w="12700">
                      <a:solidFill>
                        <a:srgbClr val="080000"/>
                      </a:solidFill>
                      <a:prstDash val="solid"/>
                      <a:round/>
                      <a:headEnd type="none" w="med" len="med"/>
                      <a:tailEnd type="none" w="med" len="med"/>
                    </a:lnR>
                    <a:lnT cmpd="sng" algn="ctr" cap="flat" w="12700">
                      <a:solidFill>
                        <a:srgbClr val="080000"/>
                      </a:solidFill>
                      <a:prstDash val="solid"/>
                      <a:round/>
                      <a:headEnd type="none" w="med" len="med"/>
                      <a:tailEnd type="none" w="med" len="med"/>
                    </a:lnT>
                    <a:lnB cmpd="sng" algn="ctr" cap="flat" w="12700">
                      <a:solidFill>
                        <a:srgbClr val="080000"/>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300">
                          <a:solidFill>
                            <a:srgbClr val="1F2329"/>
                          </a:solidFill>
                          <a:latin typeface="Songti SC"/>
                          <a:ea typeface="Songti SC"/>
                          <a:cs typeface="Songti SC"/>
                          <a:sym typeface="Songti SC"/>
                        </a:rPr>
                        <a:t>软件工程15班</a:t>
                      </a:r>
                      <a:endParaRPr lang="en-US" sz="1100"/>
                    </a:p>
                  </a:txBody>
                  <a:tcPr anchor="ctr" anchorCtr="false" marL="101600" marR="101600" marT="101600" marB="101600">
                    <a:lnL cmpd="sng" algn="ctr" cap="flat" w="12700">
                      <a:solidFill>
                        <a:srgbClr val="080000"/>
                      </a:solidFill>
                      <a:prstDash val="solid"/>
                      <a:round/>
                      <a:headEnd type="none" w="med" len="med"/>
                      <a:tailEnd type="none" w="med" len="med"/>
                    </a:lnL>
                    <a:lnR cmpd="sng" algn="ctr" cap="flat" w="12700">
                      <a:solidFill>
                        <a:srgbClr val="080000"/>
                      </a:solidFill>
                      <a:prstDash val="solid"/>
                      <a:round/>
                      <a:headEnd type="none" w="med" len="med"/>
                      <a:tailEnd type="none" w="med" len="med"/>
                    </a:lnR>
                    <a:lnT cmpd="sng" algn="ctr" cap="flat" w="12700">
                      <a:solidFill>
                        <a:srgbClr val="080000"/>
                      </a:solidFill>
                      <a:prstDash val="solid"/>
                      <a:round/>
                      <a:headEnd type="none" w="med" len="med"/>
                      <a:tailEnd type="none" w="med" len="med"/>
                    </a:lnT>
                    <a:lnB cmpd="sng" algn="ctr" cap="flat" w="12700">
                      <a:solidFill>
                        <a:srgbClr val="080000"/>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200">
                          <a:solidFill>
                            <a:srgbClr val="1F2329"/>
                          </a:solidFill>
                          <a:latin typeface="Noto Sans SC"/>
                          <a:ea typeface="Noto Sans SC"/>
                          <a:cs typeface="Noto Sans SC"/>
                          <a:sym typeface="Noto Sans SC"/>
                        </a:rPr>
                        <a:t>需求调研、需求分析、原型设计、范围确认、验收标准</a:t>
                      </a:r>
                      <a:endParaRPr lang="en-US" sz="1100"/>
                    </a:p>
                  </a:txBody>
                  <a:tcPr anchor="ctr" anchorCtr="false" marL="101600" marR="101600" marT="101600" marB="101600">
                    <a:lnL cmpd="sng" algn="ctr" cap="flat" w="12700">
                      <a:solidFill>
                        <a:srgbClr val="080000"/>
                      </a:solidFill>
                      <a:prstDash val="solid"/>
                      <a:round/>
                      <a:headEnd type="none" w="med" len="med"/>
                      <a:tailEnd type="none" w="med" len="med"/>
                    </a:lnL>
                    <a:lnR cmpd="sng" algn="ctr" cap="flat" w="12700">
                      <a:solidFill>
                        <a:srgbClr val="080000"/>
                      </a:solidFill>
                      <a:prstDash val="solid"/>
                      <a:round/>
                      <a:headEnd type="none" w="med" len="med"/>
                      <a:tailEnd type="none" w="med" len="med"/>
                    </a:lnR>
                    <a:lnT cmpd="sng" algn="ctr" cap="flat" w="12700">
                      <a:solidFill>
                        <a:srgbClr val="080000"/>
                      </a:solidFill>
                      <a:prstDash val="solid"/>
                      <a:round/>
                      <a:headEnd type="none" w="med" len="med"/>
                      <a:tailEnd type="none" w="med" len="med"/>
                    </a:lnT>
                    <a:lnB cmpd="sng" algn="ctr" cap="flat" w="12700">
                      <a:solidFill>
                        <a:srgbClr val="080000"/>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200">
                          <a:solidFill>
                            <a:srgbClr val="1F2329"/>
                          </a:solidFill>
                          <a:latin typeface="Noto Sans SC"/>
                          <a:ea typeface="Noto Sans SC"/>
                          <a:cs typeface="Noto Sans SC"/>
                          <a:sym typeface="Noto Sans SC"/>
                        </a:rPr>
                        <a:t>输出需求规格说明书，完成原型设计</a:t>
                      </a:r>
                      <a:endParaRPr lang="en-US" sz="1100"/>
                    </a:p>
                  </a:txBody>
                  <a:tcPr anchor="ctr" anchorCtr="false" marL="101600" marR="101600" marT="101600" marB="101600">
                    <a:lnL cmpd="sng" algn="ctr" cap="flat" w="12700">
                      <a:solidFill>
                        <a:srgbClr val="080000"/>
                      </a:solidFill>
                      <a:prstDash val="solid"/>
                      <a:round/>
                      <a:headEnd type="none" w="med" len="med"/>
                      <a:tailEnd type="none" w="med" len="med"/>
                    </a:lnL>
                    <a:lnR cmpd="sng" algn="ctr" cap="flat" w="12700">
                      <a:solidFill>
                        <a:srgbClr val="080000"/>
                      </a:solidFill>
                      <a:prstDash val="solid"/>
                      <a:round/>
                      <a:headEnd type="none" w="med" len="med"/>
                      <a:tailEnd type="none" w="med" len="med"/>
                    </a:lnR>
                    <a:lnT cmpd="sng" algn="ctr" cap="flat" w="12700">
                      <a:solidFill>
                        <a:srgbClr val="080000"/>
                      </a:solidFill>
                      <a:prstDash val="solid"/>
                      <a:round/>
                      <a:headEnd type="none" w="med" len="med"/>
                      <a:tailEnd type="none" w="med" len="med"/>
                    </a:lnT>
                    <a:lnB cmpd="sng" algn="ctr" cap="flat" w="12700">
                      <a:solidFill>
                        <a:srgbClr val="080000"/>
                      </a:solidFill>
                      <a:prstDash val="solid"/>
                      <a:round/>
                      <a:headEnd type="none" w="med" len="med"/>
                      <a:tailEnd type="none" w="med" len="med"/>
                    </a:lnB>
                    <a:noFill/>
                  </a:tcPr>
                </a:tc>
                <a:tc>
                  <a:txBody>
                    <a:bodyPr anchor="t" rtlCol="false"/>
                    <a:lstStyle/>
                    <a:p>
                      <a:pPr algn="ctr" indent="0">
                        <a:lnSpc>
                          <a:spcPct val="100000"/>
                        </a:lnSpc>
                        <a:defRPr/>
                      </a:pPr>
                      <a:r>
                        <a:rPr lang="en-US" b="true" i="false" strike="noStrike" u="none" sz="1400">
                          <a:solidFill>
                            <a:srgbClr val="1F2329"/>
                          </a:solidFill>
                          <a:latin typeface="Songti SC"/>
                          <a:ea typeface="Songti SC"/>
                          <a:cs typeface="Songti SC"/>
                          <a:sym typeface="Songti SC"/>
                        </a:rPr>
                        <a:t>100%</a:t>
                      </a:r>
                      <a:endParaRPr lang="en-US" sz="1100"/>
                    </a:p>
                  </a:txBody>
                  <a:tcPr anchor="ctr" anchorCtr="false" marL="101600" marR="101600" marT="101600" marB="101600">
                    <a:lnL cmpd="sng" algn="ctr" cap="flat" w="12700">
                      <a:solidFill>
                        <a:srgbClr val="080000"/>
                      </a:solidFill>
                      <a:prstDash val="solid"/>
                      <a:round/>
                      <a:headEnd type="none" w="med" len="med"/>
                      <a:tailEnd type="none" w="med" len="med"/>
                    </a:lnL>
                    <a:lnR cmpd="sng" algn="ctr" cap="flat" w="12700">
                      <a:solidFill>
                        <a:srgbClr val="080000"/>
                      </a:solidFill>
                      <a:prstDash val="solid"/>
                      <a:round/>
                      <a:headEnd type="none" w="med" len="med"/>
                      <a:tailEnd type="none" w="med" len="med"/>
                    </a:lnR>
                    <a:lnT cmpd="sng" algn="ctr" cap="flat" w="12700">
                      <a:solidFill>
                        <a:srgbClr val="080000"/>
                      </a:solidFill>
                      <a:prstDash val="solid"/>
                      <a:round/>
                      <a:headEnd type="none" w="med" len="med"/>
                      <a:tailEnd type="none" w="med" len="med"/>
                    </a:lnT>
                    <a:lnB cmpd="sng" algn="ctr" cap="flat" w="12700">
                      <a:solidFill>
                        <a:srgbClr val="080000"/>
                      </a:solidFill>
                      <a:prstDash val="solid"/>
                      <a:round/>
                      <a:headEnd type="none" w="med" len="med"/>
                      <a:tailEnd type="none" w="med" len="med"/>
                    </a:lnB>
                    <a:noFill/>
                  </a:tcPr>
                </a:tc>
                <a:tc>
                  <a:txBody>
                    <a:bodyPr anchor="t" rtlCol="false"/>
                    <a:lstStyle/>
                    <a:p>
                      <a:pPr algn="ctr" indent="0">
                        <a:lnSpc>
                          <a:spcPct val="100000"/>
                        </a:lnSpc>
                        <a:defRPr/>
                      </a:pPr>
                      <a:r>
                        <a:rPr lang="en-US" b="true" i="false" strike="noStrike" u="none" sz="1400">
                          <a:solidFill>
                            <a:srgbClr val="1F2329"/>
                          </a:solidFill>
                          <a:latin typeface="Songti SC"/>
                          <a:ea typeface="Songti SC"/>
                          <a:cs typeface="Songti SC"/>
                          <a:sym typeface="Songti SC"/>
                        </a:rPr>
                        <a:t>20%</a:t>
                      </a:r>
                      <a:endParaRPr lang="en-US" sz="1100"/>
                    </a:p>
                  </a:txBody>
                  <a:tcPr anchor="ctr" anchorCtr="false" marL="101600" marR="101600" marT="101600" marB="101600">
                    <a:lnL>
                      <a:noFill/>
                    </a:lnL>
                    <a:lnR cmpd="sng" algn="ctr" cap="flat" w="12700">
                      <a:solidFill>
                        <a:srgbClr val="080000"/>
                      </a:solidFill>
                      <a:prstDash val="solid"/>
                      <a:round/>
                      <a:headEnd type="none" w="med" len="med"/>
                      <a:tailEnd type="none" w="med" len="med"/>
                    </a:lnR>
                    <a:lnT cmpd="sng" algn="ctr" cap="flat" w="12700">
                      <a:solidFill>
                        <a:srgbClr val="080000"/>
                      </a:solidFill>
                      <a:prstDash val="solid"/>
                      <a:round/>
                      <a:headEnd type="none" w="med" len="med"/>
                      <a:tailEnd type="none" w="med" len="med"/>
                    </a:lnT>
                    <a:lnB cmpd="sng" algn="ctr" cap="flat" w="12700">
                      <a:solidFill>
                        <a:srgbClr val="080000"/>
                      </a:solidFill>
                      <a:prstDash val="solid"/>
                      <a:round/>
                      <a:headEnd type="none" w="med" len="med"/>
                      <a:tailEnd type="none" w="med" len="med"/>
                    </a:lnB>
                    <a:noFill/>
                  </a:tcPr>
                </a:tc>
              </a:tr>
              <a:tr h="1016000">
                <a:tc>
                  <a:txBody>
                    <a:bodyPr anchor="t" rtlCol="false"/>
                    <a:lstStyle/>
                    <a:p>
                      <a:pPr algn="ctr" indent="0">
                        <a:lnSpc>
                          <a:spcPct val="100000"/>
                        </a:lnSpc>
                        <a:defRPr/>
                      </a:pPr>
                      <a:r>
                        <a:rPr lang="en-US" b="false" i="false" strike="noStrike" u="none" sz="1400">
                          <a:solidFill>
                            <a:srgbClr val="1F2329"/>
                          </a:solidFill>
                          <a:latin typeface="Songti SC"/>
                          <a:ea typeface="Songti SC"/>
                          <a:cs typeface="Songti SC"/>
                          <a:sym typeface="Songti SC"/>
                        </a:rPr>
                        <a:t>1</a:t>
                      </a:r>
                      <a:endParaRPr lang="en-US" sz="1100"/>
                    </a:p>
                  </a:txBody>
                  <a:tcPr anchor="ctr" anchorCtr="false" marL="101600" marR="101600" marT="101600" marB="101600">
                    <a:lnL cmpd="sng" algn="ctr" cap="flat" w="12700">
                      <a:solidFill>
                        <a:srgbClr val="080000"/>
                      </a:solidFill>
                      <a:prstDash val="solid"/>
                      <a:round/>
                      <a:headEnd type="none" w="med" len="med"/>
                      <a:tailEnd type="none" w="med" len="med"/>
                    </a:lnL>
                    <a:lnR cmpd="sng" algn="ctr" cap="flat" w="12700">
                      <a:solidFill>
                        <a:srgbClr val="080000"/>
                      </a:solidFill>
                      <a:prstDash val="solid"/>
                      <a:round/>
                      <a:headEnd type="none" w="med" len="med"/>
                      <a:tailEnd type="none" w="med" len="med"/>
                    </a:lnR>
                    <a:lnT cmpd="sng" algn="ctr" cap="flat" w="12700">
                      <a:solidFill>
                        <a:srgbClr val="080000"/>
                      </a:solidFill>
                      <a:prstDash val="solid"/>
                      <a:round/>
                      <a:headEnd type="none" w="med" len="med"/>
                      <a:tailEnd type="none" w="med" len="med"/>
                    </a:lnT>
                    <a:lnB cmpd="sng" algn="ctr" cap="flat" w="12700">
                      <a:solidFill>
                        <a:srgbClr val="080000"/>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400">
                          <a:solidFill>
                            <a:srgbClr val="1F2329"/>
                          </a:solidFill>
                          <a:latin typeface="Songti SC"/>
                          <a:ea typeface="Songti SC"/>
                          <a:cs typeface="Songti SC"/>
                          <a:sym typeface="Songti SC"/>
                        </a:rPr>
                        <a:t>成员</a:t>
                      </a:r>
                      <a:endParaRPr lang="en-US" sz="1100"/>
                    </a:p>
                  </a:txBody>
                  <a:tcPr anchor="ctr" anchorCtr="false" marL="101600" marR="101600" marT="101600" marB="101600">
                    <a:lnL cmpd="sng" algn="ctr" cap="flat" w="12700">
                      <a:solidFill>
                        <a:srgbClr val="080000"/>
                      </a:solidFill>
                      <a:prstDash val="solid"/>
                      <a:round/>
                      <a:headEnd type="none" w="med" len="med"/>
                      <a:tailEnd type="none" w="med" len="med"/>
                    </a:lnL>
                    <a:lnR cmpd="sng" algn="ctr" cap="flat" w="12700">
                      <a:solidFill>
                        <a:srgbClr val="080000"/>
                      </a:solidFill>
                      <a:prstDash val="solid"/>
                      <a:round/>
                      <a:headEnd type="none" w="med" len="med"/>
                      <a:tailEnd type="none" w="med" len="med"/>
                    </a:lnR>
                    <a:lnT cmpd="sng" algn="ctr" cap="flat" w="12700">
                      <a:solidFill>
                        <a:srgbClr val="080000"/>
                      </a:solidFill>
                      <a:prstDash val="solid"/>
                      <a:round/>
                      <a:headEnd type="none" w="med" len="med"/>
                      <a:tailEnd type="none" w="med" len="med"/>
                    </a:lnT>
                    <a:lnB cmpd="sng" algn="ctr" cap="flat" w="12700">
                      <a:solidFill>
                        <a:srgbClr val="080000"/>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400">
                          <a:solidFill>
                            <a:srgbClr val="1F2329"/>
                          </a:solidFill>
                          <a:latin typeface="Songti SC"/>
                          <a:ea typeface="Songti SC"/>
                          <a:cs typeface="Songti SC"/>
                          <a:sym typeface="Songti SC"/>
                        </a:rPr>
                        <a:t>梁家旺</a:t>
                      </a:r>
                      <a:endParaRPr lang="en-US" sz="1100"/>
                    </a:p>
                  </a:txBody>
                  <a:tcPr anchor="ctr" anchorCtr="false" marL="101600" marR="101600" marT="101600" marB="101600">
                    <a:lnL cmpd="sng" algn="ctr" cap="flat" w="12700">
                      <a:solidFill>
                        <a:srgbClr val="080000"/>
                      </a:solidFill>
                      <a:prstDash val="solid"/>
                      <a:round/>
                      <a:headEnd type="none" w="med" len="med"/>
                      <a:tailEnd type="none" w="med" len="med"/>
                    </a:lnL>
                    <a:lnR cmpd="sng" algn="ctr" cap="flat" w="12700">
                      <a:solidFill>
                        <a:srgbClr val="080000"/>
                      </a:solidFill>
                      <a:prstDash val="solid"/>
                      <a:round/>
                      <a:headEnd type="none" w="med" len="med"/>
                      <a:tailEnd type="none" w="med" len="med"/>
                    </a:lnR>
                    <a:lnT cmpd="sng" algn="ctr" cap="flat" w="12700">
                      <a:solidFill>
                        <a:srgbClr val="080000"/>
                      </a:solidFill>
                      <a:prstDash val="solid"/>
                      <a:round/>
                      <a:headEnd type="none" w="med" len="med"/>
                      <a:tailEnd type="none" w="med" len="med"/>
                    </a:lnT>
                    <a:lnB cmpd="sng" algn="ctr" cap="flat" w="12700">
                      <a:solidFill>
                        <a:srgbClr val="080000"/>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300">
                          <a:solidFill>
                            <a:srgbClr val="1F2329"/>
                          </a:solidFill>
                          <a:latin typeface="Songti SC"/>
                          <a:ea typeface="Songti SC"/>
                          <a:cs typeface="Songti SC"/>
                          <a:sym typeface="Songti SC"/>
                        </a:rPr>
                        <a:t>2321241434</a:t>
                      </a:r>
                      <a:endParaRPr lang="en-US" sz="1100"/>
                    </a:p>
                  </a:txBody>
                  <a:tcPr anchor="ctr" anchorCtr="false" marL="101600" marR="101600" marT="101600" marB="101600">
                    <a:lnL cmpd="sng" algn="ctr" cap="flat" w="12700">
                      <a:solidFill>
                        <a:srgbClr val="080000"/>
                      </a:solidFill>
                      <a:prstDash val="solid"/>
                      <a:round/>
                      <a:headEnd type="none" w="med" len="med"/>
                      <a:tailEnd type="none" w="med" len="med"/>
                    </a:lnL>
                    <a:lnR cmpd="sng" algn="ctr" cap="flat" w="12700">
                      <a:solidFill>
                        <a:srgbClr val="080000"/>
                      </a:solidFill>
                      <a:prstDash val="solid"/>
                      <a:round/>
                      <a:headEnd type="none" w="med" len="med"/>
                      <a:tailEnd type="none" w="med" len="med"/>
                    </a:lnR>
                    <a:lnT cmpd="sng" algn="ctr" cap="flat" w="12700">
                      <a:solidFill>
                        <a:srgbClr val="080000"/>
                      </a:solidFill>
                      <a:prstDash val="solid"/>
                      <a:round/>
                      <a:headEnd type="none" w="med" len="med"/>
                      <a:tailEnd type="none" w="med" len="med"/>
                    </a:lnT>
                    <a:lnB cmpd="sng" algn="ctr" cap="flat" w="12700">
                      <a:solidFill>
                        <a:srgbClr val="080000"/>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300">
                          <a:solidFill>
                            <a:srgbClr val="1F2329"/>
                          </a:solidFill>
                          <a:latin typeface="Songti SC"/>
                          <a:ea typeface="Songti SC"/>
                          <a:cs typeface="Songti SC"/>
                          <a:sym typeface="Songti SC"/>
                        </a:rPr>
                        <a:t>软件工程15班</a:t>
                      </a:r>
                      <a:endParaRPr lang="en-US" sz="1100"/>
                    </a:p>
                  </a:txBody>
                  <a:tcPr anchor="ctr" anchorCtr="false" marL="101600" marR="101600" marT="101600" marB="101600">
                    <a:lnL cmpd="sng" algn="ctr" cap="flat" w="12700">
                      <a:solidFill>
                        <a:srgbClr val="080000"/>
                      </a:solidFill>
                      <a:prstDash val="solid"/>
                      <a:round/>
                      <a:headEnd type="none" w="med" len="med"/>
                      <a:tailEnd type="none" w="med" len="med"/>
                    </a:lnL>
                    <a:lnR cmpd="sng" algn="ctr" cap="flat" w="12700">
                      <a:solidFill>
                        <a:srgbClr val="080000"/>
                      </a:solidFill>
                      <a:prstDash val="solid"/>
                      <a:round/>
                      <a:headEnd type="none" w="med" len="med"/>
                      <a:tailEnd type="none" w="med" len="med"/>
                    </a:lnR>
                    <a:lnT cmpd="sng" algn="ctr" cap="flat" w="12700">
                      <a:solidFill>
                        <a:srgbClr val="080000"/>
                      </a:solidFill>
                      <a:prstDash val="solid"/>
                      <a:round/>
                      <a:headEnd type="none" w="med" len="med"/>
                      <a:tailEnd type="none" w="med" len="med"/>
                    </a:lnT>
                    <a:lnB cmpd="sng" algn="ctr" cap="flat" w="12700">
                      <a:solidFill>
                        <a:srgbClr val="080000"/>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200">
                          <a:solidFill>
                            <a:srgbClr val="1F2329"/>
                          </a:solidFill>
                          <a:latin typeface="Noto Sans SC"/>
                          <a:ea typeface="Noto Sans SC"/>
                          <a:cs typeface="Noto Sans SC"/>
                          <a:sym typeface="Noto Sans SC"/>
                        </a:rPr>
                        <a:t>页面布局、样式设计、交互实现、移动端适配、界面优化</a:t>
                      </a:r>
                      <a:endParaRPr lang="en-US" sz="1100"/>
                    </a:p>
                  </a:txBody>
                  <a:tcPr anchor="ctr" anchorCtr="false" marL="101600" marR="101600" marT="101600" marB="101600">
                    <a:lnL cmpd="sng" algn="ctr" cap="flat" w="12700">
                      <a:solidFill>
                        <a:srgbClr val="080000"/>
                      </a:solidFill>
                      <a:prstDash val="solid"/>
                      <a:round/>
                      <a:headEnd type="none" w="med" len="med"/>
                      <a:tailEnd type="none" w="med" len="med"/>
                    </a:lnL>
                    <a:lnR cmpd="sng" algn="ctr" cap="flat" w="12700">
                      <a:solidFill>
                        <a:srgbClr val="080000"/>
                      </a:solidFill>
                      <a:prstDash val="solid"/>
                      <a:round/>
                      <a:headEnd type="none" w="med" len="med"/>
                      <a:tailEnd type="none" w="med" len="med"/>
                    </a:lnR>
                    <a:lnT cmpd="sng" algn="ctr" cap="flat" w="12700">
                      <a:solidFill>
                        <a:srgbClr val="080000"/>
                      </a:solidFill>
                      <a:prstDash val="solid"/>
                      <a:round/>
                      <a:headEnd type="none" w="med" len="med"/>
                      <a:tailEnd type="none" w="med" len="med"/>
                    </a:lnT>
                    <a:lnB cmpd="sng" algn="ctr" cap="flat" w="12700">
                      <a:solidFill>
                        <a:srgbClr val="080000"/>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200">
                          <a:solidFill>
                            <a:srgbClr val="1F2329"/>
                          </a:solidFill>
                          <a:latin typeface="Noto Sans SC"/>
                          <a:ea typeface="Noto Sans SC"/>
                          <a:cs typeface="Noto Sans SC"/>
                          <a:sym typeface="Noto Sans SC"/>
                        </a:rPr>
                        <a:t>完成所有页面开发，实现流畅交互</a:t>
                      </a:r>
                      <a:endParaRPr lang="en-US" sz="1100"/>
                    </a:p>
                  </a:txBody>
                  <a:tcPr anchor="ctr" anchorCtr="false" marL="101600" marR="101600" marT="101600" marB="101600">
                    <a:lnL cmpd="sng" algn="ctr" cap="flat" w="12700">
                      <a:solidFill>
                        <a:srgbClr val="080000"/>
                      </a:solidFill>
                      <a:prstDash val="solid"/>
                      <a:round/>
                      <a:headEnd type="none" w="med" len="med"/>
                      <a:tailEnd type="none" w="med" len="med"/>
                    </a:lnL>
                    <a:lnR cmpd="sng" algn="ctr" cap="flat" w="12700">
                      <a:solidFill>
                        <a:srgbClr val="080000"/>
                      </a:solidFill>
                      <a:prstDash val="solid"/>
                      <a:round/>
                      <a:headEnd type="none" w="med" len="med"/>
                      <a:tailEnd type="none" w="med" len="med"/>
                    </a:lnR>
                    <a:lnT cmpd="sng" algn="ctr" cap="flat" w="12700">
                      <a:solidFill>
                        <a:srgbClr val="080000"/>
                      </a:solidFill>
                      <a:prstDash val="solid"/>
                      <a:round/>
                      <a:headEnd type="none" w="med" len="med"/>
                      <a:tailEnd type="none" w="med" len="med"/>
                    </a:lnT>
                    <a:lnB cmpd="sng" algn="ctr" cap="flat" w="12700">
                      <a:solidFill>
                        <a:srgbClr val="080000"/>
                      </a:solidFill>
                      <a:prstDash val="solid"/>
                      <a:round/>
                      <a:headEnd type="none" w="med" len="med"/>
                      <a:tailEnd type="none" w="med" len="med"/>
                    </a:lnB>
                    <a:noFill/>
                  </a:tcPr>
                </a:tc>
                <a:tc>
                  <a:txBody>
                    <a:bodyPr anchor="t" rtlCol="false"/>
                    <a:lstStyle/>
                    <a:p>
                      <a:pPr algn="ctr" indent="0">
                        <a:lnSpc>
                          <a:spcPct val="100000"/>
                        </a:lnSpc>
                        <a:defRPr/>
                      </a:pPr>
                      <a:r>
                        <a:rPr lang="en-US" b="true" i="false" strike="noStrike" u="none" sz="1400">
                          <a:solidFill>
                            <a:srgbClr val="1F2329"/>
                          </a:solidFill>
                          <a:latin typeface="Songti SC"/>
                          <a:ea typeface="Songti SC"/>
                          <a:cs typeface="Songti SC"/>
                          <a:sym typeface="Songti SC"/>
                        </a:rPr>
                        <a:t>100%</a:t>
                      </a:r>
                      <a:endParaRPr lang="en-US" sz="1100"/>
                    </a:p>
                  </a:txBody>
                  <a:tcPr anchor="ctr" anchorCtr="false" marL="101600" marR="101600" marT="101600" marB="101600">
                    <a:lnL cmpd="sng" algn="ctr" cap="flat" w="12700">
                      <a:solidFill>
                        <a:srgbClr val="080000"/>
                      </a:solidFill>
                      <a:prstDash val="solid"/>
                      <a:round/>
                      <a:headEnd type="none" w="med" len="med"/>
                      <a:tailEnd type="none" w="med" len="med"/>
                    </a:lnL>
                    <a:lnR cmpd="sng" algn="ctr" cap="flat" w="12700">
                      <a:solidFill>
                        <a:srgbClr val="080000"/>
                      </a:solidFill>
                      <a:prstDash val="solid"/>
                      <a:round/>
                      <a:headEnd type="none" w="med" len="med"/>
                      <a:tailEnd type="none" w="med" len="med"/>
                    </a:lnR>
                    <a:lnT cmpd="sng" algn="ctr" cap="flat" w="12700">
                      <a:solidFill>
                        <a:srgbClr val="080000"/>
                      </a:solidFill>
                      <a:prstDash val="solid"/>
                      <a:round/>
                      <a:headEnd type="none" w="med" len="med"/>
                      <a:tailEnd type="none" w="med" len="med"/>
                    </a:lnT>
                    <a:lnB cmpd="sng" algn="ctr" cap="flat" w="12700">
                      <a:solidFill>
                        <a:srgbClr val="080000"/>
                      </a:solidFill>
                      <a:prstDash val="solid"/>
                      <a:round/>
                      <a:headEnd type="none" w="med" len="med"/>
                      <a:tailEnd type="none" w="med" len="med"/>
                    </a:lnB>
                    <a:noFill/>
                  </a:tcPr>
                </a:tc>
                <a:tc>
                  <a:txBody>
                    <a:bodyPr anchor="t" rtlCol="false"/>
                    <a:lstStyle/>
                    <a:p>
                      <a:pPr algn="ctr" indent="0">
                        <a:lnSpc>
                          <a:spcPct val="100000"/>
                        </a:lnSpc>
                        <a:defRPr/>
                      </a:pPr>
                      <a:r>
                        <a:rPr lang="en-US" b="true" i="false" strike="noStrike" u="none" sz="1400">
                          <a:solidFill>
                            <a:srgbClr val="1F2329"/>
                          </a:solidFill>
                          <a:latin typeface="Songti SC"/>
                          <a:ea typeface="Songti SC"/>
                          <a:cs typeface="Songti SC"/>
                          <a:sym typeface="Songti SC"/>
                        </a:rPr>
                        <a:t>20%</a:t>
                      </a:r>
                      <a:endParaRPr lang="en-US" sz="1100"/>
                    </a:p>
                  </a:txBody>
                  <a:tcPr anchor="ctr" anchorCtr="false" marL="101600" marR="101600" marT="101600" marB="101600">
                    <a:lnL>
                      <a:noFill/>
                    </a:lnL>
                    <a:lnR cmpd="sng" algn="ctr" cap="flat" w="12700">
                      <a:solidFill>
                        <a:srgbClr val="080000"/>
                      </a:solidFill>
                      <a:prstDash val="solid"/>
                      <a:round/>
                      <a:headEnd type="none" w="med" len="med"/>
                      <a:tailEnd type="none" w="med" len="med"/>
                    </a:lnR>
                    <a:lnT cmpd="sng" algn="ctr" cap="flat" w="12700">
                      <a:solidFill>
                        <a:srgbClr val="080000"/>
                      </a:solidFill>
                      <a:prstDash val="solid"/>
                      <a:round/>
                      <a:headEnd type="none" w="med" len="med"/>
                      <a:tailEnd type="none" w="med" len="med"/>
                    </a:lnT>
                    <a:lnB cmpd="sng" algn="ctr" cap="flat" w="12700">
                      <a:solidFill>
                        <a:srgbClr val="080000"/>
                      </a:solidFill>
                      <a:prstDash val="solid"/>
                      <a:round/>
                      <a:headEnd type="none" w="med" len="med"/>
                      <a:tailEnd type="none" w="med" len="med"/>
                    </a:lnB>
                    <a:noFill/>
                  </a:tcPr>
                </a:tc>
              </a:tr>
              <a:tr h="1016000">
                <a:tc>
                  <a:txBody>
                    <a:bodyPr anchor="t" rtlCol="false"/>
                    <a:lstStyle/>
                    <a:p>
                      <a:pPr algn="ctr" indent="0">
                        <a:lnSpc>
                          <a:spcPct val="100000"/>
                        </a:lnSpc>
                        <a:defRPr/>
                      </a:pPr>
                      <a:r>
                        <a:rPr lang="en-US" b="false" i="false" strike="noStrike" u="none" sz="1400">
                          <a:solidFill>
                            <a:srgbClr val="1F2329"/>
                          </a:solidFill>
                          <a:latin typeface="Songti SC"/>
                          <a:ea typeface="Songti SC"/>
                          <a:cs typeface="Songti SC"/>
                          <a:sym typeface="Songti SC"/>
                        </a:rPr>
                        <a:t>1</a:t>
                      </a:r>
                      <a:endParaRPr lang="en-US" sz="1100"/>
                    </a:p>
                  </a:txBody>
                  <a:tcPr anchor="ctr" anchorCtr="false" marL="101600" marR="101600" marT="101600" marB="101600">
                    <a:lnL cmpd="sng" algn="ctr" cap="flat" w="12700">
                      <a:solidFill>
                        <a:srgbClr val="080000"/>
                      </a:solidFill>
                      <a:prstDash val="solid"/>
                      <a:round/>
                      <a:headEnd type="none" w="med" len="med"/>
                      <a:tailEnd type="none" w="med" len="med"/>
                    </a:lnL>
                    <a:lnR cmpd="sng" algn="ctr" cap="flat" w="12700">
                      <a:solidFill>
                        <a:srgbClr val="080000"/>
                      </a:solidFill>
                      <a:prstDash val="solid"/>
                      <a:round/>
                      <a:headEnd type="none" w="med" len="med"/>
                      <a:tailEnd type="none" w="med" len="med"/>
                    </a:lnR>
                    <a:lnT cmpd="sng" algn="ctr" cap="flat" w="12700">
                      <a:solidFill>
                        <a:srgbClr val="080000"/>
                      </a:solidFill>
                      <a:prstDash val="solid"/>
                      <a:round/>
                      <a:headEnd type="none" w="med" len="med"/>
                      <a:tailEnd type="none" w="med" len="med"/>
                    </a:lnT>
                    <a:lnB cmpd="sng" algn="ctr" cap="flat" w="12700">
                      <a:solidFill>
                        <a:srgbClr val="080000"/>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400">
                          <a:solidFill>
                            <a:srgbClr val="1F2329"/>
                          </a:solidFill>
                          <a:latin typeface="Songti SC"/>
                          <a:ea typeface="Songti SC"/>
                          <a:cs typeface="Songti SC"/>
                          <a:sym typeface="Songti SC"/>
                        </a:rPr>
                        <a:t>成员</a:t>
                      </a:r>
                      <a:endParaRPr lang="en-US" sz="1100"/>
                    </a:p>
                  </a:txBody>
                  <a:tcPr anchor="ctr" anchorCtr="false" marL="101600" marR="101600" marT="101600" marB="101600">
                    <a:lnL cmpd="sng" algn="ctr" cap="flat" w="12700">
                      <a:solidFill>
                        <a:srgbClr val="080000"/>
                      </a:solidFill>
                      <a:prstDash val="solid"/>
                      <a:round/>
                      <a:headEnd type="none" w="med" len="med"/>
                      <a:tailEnd type="none" w="med" len="med"/>
                    </a:lnL>
                    <a:lnR cmpd="sng" algn="ctr" cap="flat" w="12700">
                      <a:solidFill>
                        <a:srgbClr val="080000"/>
                      </a:solidFill>
                      <a:prstDash val="solid"/>
                      <a:round/>
                      <a:headEnd type="none" w="med" len="med"/>
                      <a:tailEnd type="none" w="med" len="med"/>
                    </a:lnR>
                    <a:lnT cmpd="sng" algn="ctr" cap="flat" w="12700">
                      <a:solidFill>
                        <a:srgbClr val="080000"/>
                      </a:solidFill>
                      <a:prstDash val="solid"/>
                      <a:round/>
                      <a:headEnd type="none" w="med" len="med"/>
                      <a:tailEnd type="none" w="med" len="med"/>
                    </a:lnT>
                    <a:lnB cmpd="sng" algn="ctr" cap="flat" w="12700">
                      <a:solidFill>
                        <a:srgbClr val="080000"/>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400">
                          <a:solidFill>
                            <a:srgbClr val="1F2329"/>
                          </a:solidFill>
                          <a:latin typeface="Songti SC"/>
                          <a:ea typeface="Songti SC"/>
                          <a:cs typeface="Songti SC"/>
                          <a:sym typeface="Songti SC"/>
                        </a:rPr>
                        <a:t>张玉良</a:t>
                      </a:r>
                      <a:endParaRPr lang="en-US" sz="1100"/>
                    </a:p>
                  </a:txBody>
                  <a:tcPr anchor="ctr" anchorCtr="false" marL="101600" marR="101600" marT="101600" marB="101600">
                    <a:lnL cmpd="sng" algn="ctr" cap="flat" w="12700">
                      <a:solidFill>
                        <a:srgbClr val="080000"/>
                      </a:solidFill>
                      <a:prstDash val="solid"/>
                      <a:round/>
                      <a:headEnd type="none" w="med" len="med"/>
                      <a:tailEnd type="none" w="med" len="med"/>
                    </a:lnL>
                    <a:lnR cmpd="sng" algn="ctr" cap="flat" w="12700">
                      <a:solidFill>
                        <a:srgbClr val="080000"/>
                      </a:solidFill>
                      <a:prstDash val="solid"/>
                      <a:round/>
                      <a:headEnd type="none" w="med" len="med"/>
                      <a:tailEnd type="none" w="med" len="med"/>
                    </a:lnR>
                    <a:lnT cmpd="sng" algn="ctr" cap="flat" w="12700">
                      <a:solidFill>
                        <a:srgbClr val="080000"/>
                      </a:solidFill>
                      <a:prstDash val="solid"/>
                      <a:round/>
                      <a:headEnd type="none" w="med" len="med"/>
                      <a:tailEnd type="none" w="med" len="med"/>
                    </a:lnT>
                    <a:lnB cmpd="sng" algn="ctr" cap="flat" w="12700">
                      <a:solidFill>
                        <a:srgbClr val="080000"/>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300">
                          <a:solidFill>
                            <a:srgbClr val="1F2329"/>
                          </a:solidFill>
                          <a:latin typeface="Songti SC"/>
                          <a:ea typeface="Songti SC"/>
                          <a:cs typeface="Songti SC"/>
                          <a:sym typeface="Songti SC"/>
                        </a:rPr>
                        <a:t>2321241448</a:t>
                      </a:r>
                      <a:endParaRPr lang="en-US" sz="1100"/>
                    </a:p>
                  </a:txBody>
                  <a:tcPr anchor="ctr" anchorCtr="false" marL="101600" marR="101600" marT="101600" marB="101600">
                    <a:lnL cmpd="sng" algn="ctr" cap="flat" w="12700">
                      <a:solidFill>
                        <a:srgbClr val="080000"/>
                      </a:solidFill>
                      <a:prstDash val="solid"/>
                      <a:round/>
                      <a:headEnd type="none" w="med" len="med"/>
                      <a:tailEnd type="none" w="med" len="med"/>
                    </a:lnL>
                    <a:lnR cmpd="sng" algn="ctr" cap="flat" w="12700">
                      <a:solidFill>
                        <a:srgbClr val="080000"/>
                      </a:solidFill>
                      <a:prstDash val="solid"/>
                      <a:round/>
                      <a:headEnd type="none" w="med" len="med"/>
                      <a:tailEnd type="none" w="med" len="med"/>
                    </a:lnR>
                    <a:lnT cmpd="sng" algn="ctr" cap="flat" w="12700">
                      <a:solidFill>
                        <a:srgbClr val="080000"/>
                      </a:solidFill>
                      <a:prstDash val="solid"/>
                      <a:round/>
                      <a:headEnd type="none" w="med" len="med"/>
                      <a:tailEnd type="none" w="med" len="med"/>
                    </a:lnT>
                    <a:lnB cmpd="sng" algn="ctr" cap="flat" w="12700">
                      <a:solidFill>
                        <a:srgbClr val="080000"/>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300">
                          <a:solidFill>
                            <a:srgbClr val="1F2329"/>
                          </a:solidFill>
                          <a:latin typeface="Songti SC"/>
                          <a:ea typeface="Songti SC"/>
                          <a:cs typeface="Songti SC"/>
                          <a:sym typeface="Songti SC"/>
                        </a:rPr>
                        <a:t>软件工程15班</a:t>
                      </a:r>
                      <a:endParaRPr lang="en-US" sz="1100"/>
                    </a:p>
                  </a:txBody>
                  <a:tcPr anchor="ctr" anchorCtr="false" marL="101600" marR="101600" marT="101600" marB="101600">
                    <a:lnL cmpd="sng" algn="ctr" cap="flat" w="12700">
                      <a:solidFill>
                        <a:srgbClr val="080000"/>
                      </a:solidFill>
                      <a:prstDash val="solid"/>
                      <a:round/>
                      <a:headEnd type="none" w="med" len="med"/>
                      <a:tailEnd type="none" w="med" len="med"/>
                    </a:lnL>
                    <a:lnR cmpd="sng" algn="ctr" cap="flat" w="12700">
                      <a:solidFill>
                        <a:srgbClr val="080000"/>
                      </a:solidFill>
                      <a:prstDash val="solid"/>
                      <a:round/>
                      <a:headEnd type="none" w="med" len="med"/>
                      <a:tailEnd type="none" w="med" len="med"/>
                    </a:lnR>
                    <a:lnT cmpd="sng" algn="ctr" cap="flat" w="12700">
                      <a:solidFill>
                        <a:srgbClr val="080000"/>
                      </a:solidFill>
                      <a:prstDash val="solid"/>
                      <a:round/>
                      <a:headEnd type="none" w="med" len="med"/>
                      <a:tailEnd type="none" w="med" len="med"/>
                    </a:lnT>
                    <a:lnB cmpd="sng" algn="ctr" cap="flat" w="12700">
                      <a:solidFill>
                        <a:srgbClr val="080000"/>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200">
                          <a:solidFill>
                            <a:srgbClr val="1F2329"/>
                          </a:solidFill>
                          <a:latin typeface="Noto Sans SC"/>
                          <a:ea typeface="Noto Sans SC"/>
                          <a:cs typeface="Noto Sans SC"/>
                          <a:sym typeface="Noto Sans SC"/>
                        </a:rPr>
                        <a:t>质量计划、测试用例、功能测试、缺陷跟踪、文档整理</a:t>
                      </a:r>
                      <a:endParaRPr lang="en-US" sz="1100"/>
                    </a:p>
                  </a:txBody>
                  <a:tcPr anchor="ctr" anchorCtr="false" marL="101600" marR="101600" marT="101600" marB="101600">
                    <a:lnL cmpd="sng" algn="ctr" cap="flat" w="12700">
                      <a:solidFill>
                        <a:srgbClr val="080000"/>
                      </a:solidFill>
                      <a:prstDash val="solid"/>
                      <a:round/>
                      <a:headEnd type="none" w="med" len="med"/>
                      <a:tailEnd type="none" w="med" len="med"/>
                    </a:lnL>
                    <a:lnR cmpd="sng" algn="ctr" cap="flat" w="12700">
                      <a:solidFill>
                        <a:srgbClr val="080000"/>
                      </a:solidFill>
                      <a:prstDash val="solid"/>
                      <a:round/>
                      <a:headEnd type="none" w="med" len="med"/>
                      <a:tailEnd type="none" w="med" len="med"/>
                    </a:lnR>
                    <a:lnT cmpd="sng" algn="ctr" cap="flat" w="12700">
                      <a:solidFill>
                        <a:srgbClr val="080000"/>
                      </a:solidFill>
                      <a:prstDash val="solid"/>
                      <a:round/>
                      <a:headEnd type="none" w="med" len="med"/>
                      <a:tailEnd type="none" w="med" len="med"/>
                    </a:lnT>
                    <a:lnB cmpd="sng" algn="ctr" cap="flat" w="12700">
                      <a:solidFill>
                        <a:srgbClr val="080000"/>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200">
                          <a:solidFill>
                            <a:srgbClr val="1F2329"/>
                          </a:solidFill>
                          <a:latin typeface="Noto Sans SC"/>
                          <a:ea typeface="Noto Sans SC"/>
                          <a:cs typeface="Noto Sans SC"/>
                          <a:sym typeface="Noto Sans SC"/>
                        </a:rPr>
                        <a:t>输出测试报告，完成全套项目文档</a:t>
                      </a:r>
                      <a:endParaRPr lang="en-US" sz="1100"/>
                    </a:p>
                  </a:txBody>
                  <a:tcPr anchor="ctr" anchorCtr="false" marL="101600" marR="101600" marT="101600" marB="101600">
                    <a:lnL cmpd="sng" algn="ctr" cap="flat" w="12700">
                      <a:solidFill>
                        <a:srgbClr val="080000"/>
                      </a:solidFill>
                      <a:prstDash val="solid"/>
                      <a:round/>
                      <a:headEnd type="none" w="med" len="med"/>
                      <a:tailEnd type="none" w="med" len="med"/>
                    </a:lnL>
                    <a:lnR cmpd="sng" algn="ctr" cap="flat" w="12700">
                      <a:solidFill>
                        <a:srgbClr val="080000"/>
                      </a:solidFill>
                      <a:prstDash val="solid"/>
                      <a:round/>
                      <a:headEnd type="none" w="med" len="med"/>
                      <a:tailEnd type="none" w="med" len="med"/>
                    </a:lnR>
                    <a:lnT cmpd="sng" algn="ctr" cap="flat" w="12700">
                      <a:solidFill>
                        <a:srgbClr val="080000"/>
                      </a:solidFill>
                      <a:prstDash val="solid"/>
                      <a:round/>
                      <a:headEnd type="none" w="med" len="med"/>
                      <a:tailEnd type="none" w="med" len="med"/>
                    </a:lnT>
                    <a:lnB cmpd="sng" algn="ctr" cap="flat" w="12700">
                      <a:solidFill>
                        <a:srgbClr val="080000"/>
                      </a:solidFill>
                      <a:prstDash val="solid"/>
                      <a:round/>
                      <a:headEnd type="none" w="med" len="med"/>
                      <a:tailEnd type="none" w="med" len="med"/>
                    </a:lnB>
                    <a:noFill/>
                  </a:tcPr>
                </a:tc>
                <a:tc>
                  <a:txBody>
                    <a:bodyPr anchor="t" rtlCol="false"/>
                    <a:lstStyle/>
                    <a:p>
                      <a:pPr algn="ctr" indent="0">
                        <a:lnSpc>
                          <a:spcPct val="100000"/>
                        </a:lnSpc>
                        <a:defRPr/>
                      </a:pPr>
                      <a:r>
                        <a:rPr lang="en-US" b="true" i="false" strike="noStrike" u="none" sz="1400">
                          <a:solidFill>
                            <a:srgbClr val="1F2329"/>
                          </a:solidFill>
                          <a:latin typeface="Songti SC"/>
                          <a:ea typeface="Songti SC"/>
                          <a:cs typeface="Songti SC"/>
                          <a:sym typeface="Songti SC"/>
                        </a:rPr>
                        <a:t>100%</a:t>
                      </a:r>
                      <a:endParaRPr lang="en-US" sz="1100"/>
                    </a:p>
                  </a:txBody>
                  <a:tcPr anchor="ctr" anchorCtr="false" marL="101600" marR="101600" marT="101600" marB="101600">
                    <a:lnL cmpd="sng" algn="ctr" cap="flat" w="12700">
                      <a:solidFill>
                        <a:srgbClr val="080000"/>
                      </a:solidFill>
                      <a:prstDash val="solid"/>
                      <a:round/>
                      <a:headEnd type="none" w="med" len="med"/>
                      <a:tailEnd type="none" w="med" len="med"/>
                    </a:lnL>
                    <a:lnR cmpd="sng" algn="ctr" cap="flat" w="12700">
                      <a:solidFill>
                        <a:srgbClr val="080000"/>
                      </a:solidFill>
                      <a:prstDash val="solid"/>
                      <a:round/>
                      <a:headEnd type="none" w="med" len="med"/>
                      <a:tailEnd type="none" w="med" len="med"/>
                    </a:lnR>
                    <a:lnT cmpd="sng" algn="ctr" cap="flat" w="12700">
                      <a:solidFill>
                        <a:srgbClr val="080000"/>
                      </a:solidFill>
                      <a:prstDash val="solid"/>
                      <a:round/>
                      <a:headEnd type="none" w="med" len="med"/>
                      <a:tailEnd type="none" w="med" len="med"/>
                    </a:lnT>
                    <a:lnB cmpd="sng" algn="ctr" cap="flat" w="12700">
                      <a:solidFill>
                        <a:srgbClr val="080000"/>
                      </a:solidFill>
                      <a:prstDash val="solid"/>
                      <a:round/>
                      <a:headEnd type="none" w="med" len="med"/>
                      <a:tailEnd type="none" w="med" len="med"/>
                    </a:lnB>
                    <a:noFill/>
                  </a:tcPr>
                </a:tc>
                <a:tc>
                  <a:txBody>
                    <a:bodyPr anchor="t" rtlCol="false"/>
                    <a:lstStyle/>
                    <a:p>
                      <a:pPr algn="ctr" indent="0">
                        <a:lnSpc>
                          <a:spcPct val="100000"/>
                        </a:lnSpc>
                        <a:defRPr/>
                      </a:pPr>
                      <a:r>
                        <a:rPr lang="en-US" b="true" i="false" strike="noStrike" u="none" sz="1400">
                          <a:solidFill>
                            <a:srgbClr val="1F2329"/>
                          </a:solidFill>
                          <a:latin typeface="Songti SC"/>
                          <a:ea typeface="Songti SC"/>
                          <a:cs typeface="Songti SC"/>
                          <a:sym typeface="Songti SC"/>
                        </a:rPr>
                        <a:t>20%</a:t>
                      </a:r>
                      <a:endParaRPr lang="en-US" sz="1100"/>
                    </a:p>
                  </a:txBody>
                  <a:tcPr anchor="ctr" anchorCtr="false" marL="101600" marR="101600" marT="101600" marB="101600">
                    <a:lnL>
                      <a:noFill/>
                    </a:lnL>
                    <a:lnR cmpd="sng" algn="ctr" cap="flat" w="12700">
                      <a:solidFill>
                        <a:srgbClr val="080000"/>
                      </a:solidFill>
                      <a:prstDash val="solid"/>
                      <a:round/>
                      <a:headEnd type="none" w="med" len="med"/>
                      <a:tailEnd type="none" w="med" len="med"/>
                    </a:lnR>
                    <a:lnT cmpd="sng" algn="ctr" cap="flat" w="12700">
                      <a:solidFill>
                        <a:srgbClr val="080000"/>
                      </a:solidFill>
                      <a:prstDash val="solid"/>
                      <a:round/>
                      <a:headEnd type="none" w="med" len="med"/>
                      <a:tailEnd type="none" w="med" len="med"/>
                    </a:lnT>
                    <a:lnB cmpd="sng" algn="ctr" cap="flat" w="12700">
                      <a:solidFill>
                        <a:srgbClr val="080000"/>
                      </a:solidFill>
                      <a:prstDash val="solid"/>
                      <a:round/>
                      <a:headEnd type="none" w="med" len="med"/>
                      <a:tailEnd type="none" w="med" len="med"/>
                    </a:lnB>
                    <a:noFill/>
                  </a:tcPr>
                </a:tc>
              </a:tr>
            </a:tbl>
          </a:graphicData>
        </a:graphic>
      </p:graphicFrame>
    </p:spTree>
  </p:cSld>
  <p:clrMapOvr>
    <a:masterClrMapping/>
  </p:clrMapOvr>
</p:sld>
</file>

<file path=ppt/slides/slide14.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914400"/>
          </a:xfrm>
          <a:prstGeom prst="roundRect">
            <a:avLst>
              <a:gd name="adj" fmla="val 0"/>
            </a:avLst>
          </a:prstGeom>
          <a:solidFill>
            <a:srgbClr val="006699">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901700" y="165100"/>
            <a:ext cx="10160000" cy="6477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FFFFFF"/>
                </a:solidFill>
                <a:latin typeface="微软雅黑"/>
                <a:ea typeface="微软雅黑"/>
                <a:cs typeface="微软雅黑"/>
                <a:sym typeface="微软雅黑"/>
              </a:rPr>
              <a:t>四、团队分工与成果</a:t>
            </a:r>
            <a:endParaRPr lang="en-US" sz="1100"/>
          </a:p>
        </p:txBody>
      </p:sp>
      <p:sp>
        <p:nvSpPr>
          <p:cNvPr name="AutoShape 4" id="4"/>
          <p:cNvSpPr/>
          <p:nvPr/>
        </p:nvSpPr>
        <p:spPr>
          <a:xfrm rot="0" flipH="false" flipV="false">
            <a:off x="901700" y="1206500"/>
            <a:ext cx="10414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600">
                <a:solidFill>
                  <a:srgbClr val="002060"/>
                </a:solidFill>
                <a:latin typeface="微软雅黑"/>
                <a:ea typeface="微软雅黑"/>
                <a:cs typeface="微软雅黑"/>
                <a:sym typeface="微软雅黑"/>
              </a:rPr>
              <a:t>（一）项目整体完成情况</a:t>
            </a:r>
            <a:endParaRPr lang="en-US" sz="1100"/>
          </a:p>
        </p:txBody>
      </p:sp>
      <p:sp>
        <p:nvSpPr>
          <p:cNvPr name="AutoShape 5" id="5"/>
          <p:cNvSpPr/>
          <p:nvPr/>
        </p:nvSpPr>
        <p:spPr>
          <a:xfrm rot="0" flipH="false" flipV="false">
            <a:off x="901700" y="2159000"/>
            <a:ext cx="5207000" cy="1905000"/>
          </a:xfrm>
          <a:prstGeom prst="roundRect">
            <a:avLst>
              <a:gd name="adj" fmla="val 0"/>
            </a:avLst>
          </a:prstGeom>
          <a:solidFill>
            <a:srgbClr val="F1F5F9">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92200" y="2349500"/>
            <a:ext cx="4826000" cy="1524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900">
                <a:solidFill>
                  <a:srgbClr val="006699"/>
                </a:solidFill>
                <a:latin typeface="微软雅黑"/>
                <a:ea typeface="微软雅黑"/>
                <a:cs typeface="微软雅黑"/>
                <a:sym typeface="微软雅黑"/>
              </a:rPr>
              <a:t>🔹 功能模块落地</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800"/>
              </a:spcBef>
            </a:pPr>
            <a:r>
              <a:rPr lang="en-US" b="false" i="false" strike="noStrike" u="none" sz="1400">
                <a:solidFill>
                  <a:srgbClr val="334155"/>
                </a:solidFill>
                <a:latin typeface="Noto Sans SC"/>
                <a:ea typeface="Noto Sans SC"/>
                <a:cs typeface="Noto Sans SC"/>
                <a:sym typeface="Noto Sans SC"/>
              </a:rPr>
              <a:t>所有功能模块均按既定需求完成开发与测试，系统整体运行稳定，各项功能均可流畅演示，完全满足设计预期。</a:t>
            </a:r>
          </a:p>
        </p:txBody>
      </p:sp>
      <p:sp>
        <p:nvSpPr>
          <p:cNvPr name="AutoShape 7" id="7"/>
          <p:cNvSpPr/>
          <p:nvPr/>
        </p:nvSpPr>
        <p:spPr>
          <a:xfrm rot="0" flipH="false" flipV="false">
            <a:off x="6223000" y="2159000"/>
            <a:ext cx="5207000" cy="1905000"/>
          </a:xfrm>
          <a:prstGeom prst="roundRect">
            <a:avLst>
              <a:gd name="adj" fmla="val 0"/>
            </a:avLst>
          </a:prstGeom>
          <a:solidFill>
            <a:srgbClr val="F1F5F9">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6413500" y="2349500"/>
            <a:ext cx="4826000" cy="1524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900">
                <a:solidFill>
                  <a:srgbClr val="006699"/>
                </a:solidFill>
                <a:latin typeface="微软雅黑"/>
                <a:ea typeface="微软雅黑"/>
                <a:cs typeface="微软雅黑"/>
                <a:sym typeface="微软雅黑"/>
              </a:rPr>
              <a:t>📋 文档规范交付</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800"/>
              </a:spcBef>
            </a:pPr>
            <a:r>
              <a:rPr lang="en-US" b="false" i="false" strike="noStrike" u="none" sz="1400">
                <a:solidFill>
                  <a:srgbClr val="334155"/>
                </a:solidFill>
                <a:latin typeface="Noto Sans SC"/>
                <a:ea typeface="Noto Sans SC"/>
                <a:cs typeface="Noto Sans SC"/>
                <a:sym typeface="Noto Sans SC"/>
              </a:rPr>
              <a:t>严格遵循团队文档规范，完成了需求分析、设计方案、测试报告等全套项目文档的撰写，内容详实完整，格式统一规范。</a:t>
            </a:r>
          </a:p>
        </p:txBody>
      </p:sp>
      <p:sp>
        <p:nvSpPr>
          <p:cNvPr name="AutoShape 9" id="9"/>
          <p:cNvSpPr/>
          <p:nvPr/>
        </p:nvSpPr>
        <p:spPr>
          <a:xfrm rot="0" flipH="false" flipV="false">
            <a:off x="901700" y="4318000"/>
            <a:ext cx="5207000" cy="1905000"/>
          </a:xfrm>
          <a:prstGeom prst="roundRect">
            <a:avLst>
              <a:gd name="adj" fmla="val 0"/>
            </a:avLst>
          </a:prstGeom>
          <a:solidFill>
            <a:srgbClr val="F1F5F9">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1092200" y="4508500"/>
            <a:ext cx="4826000" cy="1524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900">
                <a:solidFill>
                  <a:srgbClr val="006699"/>
                </a:solidFill>
                <a:latin typeface="微软雅黑"/>
                <a:ea typeface="微软雅黑"/>
                <a:cs typeface="微软雅黑"/>
                <a:sym typeface="微软雅黑"/>
              </a:rPr>
              <a:t>⏱️ 进度风险可控</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800"/>
              </a:spcBef>
            </a:pPr>
            <a:r>
              <a:rPr lang="en-US" b="false" i="false" strike="noStrike" u="none" sz="1400">
                <a:solidFill>
                  <a:srgbClr val="334155"/>
                </a:solidFill>
                <a:latin typeface="Noto Sans SC"/>
                <a:ea typeface="Noto Sans SC"/>
                <a:cs typeface="Noto Sans SC"/>
                <a:sym typeface="Noto Sans SC"/>
              </a:rPr>
              <a:t>项目全周期实施过程中，关键节点把控精准，整体进度控制良好，实现零延期、零重大风险事件的交付目标。</a:t>
            </a:r>
          </a:p>
        </p:txBody>
      </p:sp>
      <p:sp>
        <p:nvSpPr>
          <p:cNvPr name="AutoShape 11" id="11"/>
          <p:cNvSpPr/>
          <p:nvPr/>
        </p:nvSpPr>
        <p:spPr>
          <a:xfrm rot="0" flipH="false" flipV="false">
            <a:off x="6223000" y="4318000"/>
            <a:ext cx="5207000" cy="1905000"/>
          </a:xfrm>
          <a:prstGeom prst="roundRect">
            <a:avLst>
              <a:gd name="adj" fmla="val 0"/>
            </a:avLst>
          </a:prstGeom>
          <a:solidFill>
            <a:srgbClr val="F1F5F9">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6413500" y="4508500"/>
            <a:ext cx="4826000" cy="1524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900">
                <a:solidFill>
                  <a:srgbClr val="006699"/>
                </a:solidFill>
                <a:latin typeface="微软雅黑"/>
                <a:ea typeface="微软雅黑"/>
                <a:cs typeface="微软雅黑"/>
                <a:sym typeface="微软雅黑"/>
              </a:rPr>
              <a:t>🤝 团队高效协作</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800"/>
              </a:spcBef>
            </a:pPr>
            <a:r>
              <a:rPr lang="en-US" b="false" i="false" strike="noStrike" u="none" sz="1400">
                <a:solidFill>
                  <a:srgbClr val="334155"/>
                </a:solidFill>
                <a:latin typeface="Noto Sans SC"/>
                <a:ea typeface="Noto Sans SC"/>
                <a:cs typeface="Noto Sans SC"/>
                <a:sym typeface="Noto Sans SC"/>
              </a:rPr>
              <a:t>团队内部职责分工明确，沟通渠道顺畅，遇到问题及时同步解决，全员高效配合，确保了所有开发与交付任务高质量完成。</a:t>
            </a:r>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914400"/>
          </a:xfrm>
          <a:prstGeom prst="roundRect">
            <a:avLst>
              <a:gd name="adj" fmla="val 0"/>
            </a:avLst>
          </a:prstGeom>
          <a:solidFill>
            <a:srgbClr val="006699">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Freeform 3" id="3"/>
          <p:cNvSpPr/>
          <p:nvPr/>
        </p:nvSpPr>
        <p:spPr>
          <a:xfrm rot="0" flipH="false" flipV="false">
            <a:off x="-12700" y="342900"/>
            <a:ext cx="8034867" cy="679450"/>
          </a:xfrm>
          <a:custGeom>
            <a:avLst/>
            <a:gdLst/>
            <a:ahLst/>
            <a:cxnLst/>
            <a:rect r="r" b="b" t="t" l="l"/>
            <a:pathLst>
              <a:path h="679450" w="8034867">
                <a:moveTo>
                  <a:pt x="0" y="0"/>
                </a:moveTo>
                <a:lnTo>
                  <a:pt x="8034867" y="0"/>
                </a:lnTo>
                <a:lnTo>
                  <a:pt x="7307500" y="679450"/>
                </a:lnTo>
              </a:path>
            </a:pathLst>
          </a:custGeom>
          <a:no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609600" y="152400"/>
            <a:ext cx="5207000" cy="647700"/>
          </a:xfrm>
          <a:prstGeom prst="rect">
            <a:avLst/>
          </a:prstGeom>
          <a:noFill/>
          <a:ln w="12700" cmpd="sng" cap="flat">
            <a:noFill/>
            <a:prstDash val="solid"/>
            <a:round/>
          </a:ln>
        </p:spPr>
        <p:txBody>
          <a:bodyPr anchor="t" rtlCol="false" anchorCtr="false" vert="horz" wrap="none" lIns="88900" rIns="88900" tIns="50800" bIns="50800"/>
          <a:lstStyle/>
          <a:p>
            <a:pPr algn="l" indent="0">
              <a:lnSpc>
                <a:spcPct val="100000"/>
              </a:lnSpc>
              <a:defRPr/>
            </a:pPr>
            <a:r>
              <a:rPr lang="en-US" b="true" i="false" strike="noStrike" u="none" sz="3600">
                <a:solidFill>
                  <a:srgbClr val="FFFFFF"/>
                </a:solidFill>
                <a:latin typeface="微软雅黑"/>
                <a:ea typeface="微软雅黑"/>
                <a:cs typeface="微软雅黑"/>
                <a:sym typeface="微软雅黑"/>
              </a:rPr>
              <a:t>五、总结与展望</a:t>
            </a:r>
            <a:endParaRPr lang="en-US" sz="1100"/>
          </a:p>
        </p:txBody>
      </p:sp>
      <p:sp>
        <p:nvSpPr>
          <p:cNvPr name="AutoShape 5" id="5"/>
          <p:cNvSpPr/>
          <p:nvPr/>
        </p:nvSpPr>
        <p:spPr>
          <a:xfrm rot="0" flipH="false" flipV="false">
            <a:off x="901700" y="1778000"/>
            <a:ext cx="10363200" cy="1905000"/>
          </a:xfrm>
          <a:prstGeom prst="rect">
            <a:avLst/>
          </a:prstGeom>
          <a:noFill/>
          <a:ln w="12700" cmpd="sng" cap="flat">
            <a:noFill/>
            <a:prstDash val="solid"/>
            <a:round/>
          </a:ln>
        </p:spPr>
        <p:txBody>
          <a:bodyPr anchor="t" rtlCol="false" anchorCtr="false" vert="horz" wrap="square" lIns="88900" rIns="88900" tIns="50800" bIns="50800"/>
          <a:lstStyle/>
          <a:p>
            <a:pPr algn="l" indent="0">
              <a:lnSpc>
                <a:spcPct val="133333"/>
              </a:lnSpc>
              <a:defRPr/>
            </a:pPr>
            <a:r>
              <a:rPr lang="en-US" b="false" i="false" strike="noStrike" u="none" sz="2000">
                <a:solidFill>
                  <a:srgbClr val="333333"/>
                </a:solidFill>
                <a:latin typeface="Songti SC"/>
                <a:ea typeface="Songti SC"/>
                <a:cs typeface="Songti SC"/>
                <a:sym typeface="Songti SC"/>
              </a:rPr>
              <a:t>回顾本次课程设计，我们不仅在专业知识的运用与实践能力的锻炼上收获颇丰，更在团队协作、问题解决的过程中积累了宝贵经验。我们也清晰地认识到当前设计方案中的不足与改进空间。</a:t>
            </a:r>
            <a:r>
              <a:rPr lang="en-US" b="false" i="false" strike="noStrike" u="none" sz="2000">
                <a:solidFill>
                  <a:srgbClr val="333333"/>
                </a:solidFill>
                <a:latin typeface="Songti SC"/>
                <a:ea typeface="Songti SC"/>
                <a:cs typeface="Songti SC"/>
                <a:sym typeface="Songti SC"/>
              </a:rPr>
              <a:t/>
            </a:r>
            <a:endParaRPr lang="en-US" sz="1100"/>
          </a:p>
          <a:p>
            <a:pPr algn="l" indent="0">
              <a:lnSpc>
                <a:spcPct val="133333"/>
              </a:lnSpc>
            </a:pPr>
            <a:r>
              <a:rPr lang="en-US" b="false" i="false" strike="noStrike" u="none" sz="2000">
                <a:solidFill>
                  <a:srgbClr val="333333"/>
                </a:solidFill>
                <a:latin typeface="Songti SC"/>
                <a:ea typeface="Songti SC"/>
                <a:cs typeface="Songti SC"/>
                <a:sym typeface="Songti SC"/>
              </a:rPr>
              <a:t>展望未来，我们将持续打磨技术细节，优化设计逻辑，将此次课程设计的经验转化为后续学习与职业发展的动力，不断探索创新，力求在专业领域走得更深、更远。</a:t>
            </a:r>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914400"/>
          </a:xfrm>
          <a:prstGeom prst="roundRect">
            <a:avLst>
              <a:gd name="adj" fmla="val 0"/>
            </a:avLst>
          </a:prstGeom>
          <a:solidFill>
            <a:srgbClr val="006699">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901700" y="127000"/>
            <a:ext cx="10160000" cy="660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FFFFFF"/>
                </a:solidFill>
                <a:latin typeface="微软雅黑"/>
                <a:ea typeface="微软雅黑"/>
                <a:cs typeface="微软雅黑"/>
                <a:sym typeface="微软雅黑"/>
              </a:rPr>
              <a:t>五、总结与展望</a:t>
            </a:r>
            <a:endParaRPr lang="en-US" sz="1100"/>
          </a:p>
        </p:txBody>
      </p:sp>
      <p:sp>
        <p:nvSpPr>
          <p:cNvPr name="AutoShape 4" id="4"/>
          <p:cNvSpPr/>
          <p:nvPr/>
        </p:nvSpPr>
        <p:spPr>
          <a:xfrm rot="0" flipH="false" flipV="false">
            <a:off x="901700" y="1397000"/>
            <a:ext cx="10414000" cy="4953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spcBef>
                <a:spcPts val="1000"/>
              </a:spcBef>
              <a:defRPr/>
            </a:pPr>
            <a:r>
              <a:rPr lang="en-US" b="true" i="false" strike="noStrike" u="none" sz="2400">
                <a:solidFill>
                  <a:srgbClr val="002060"/>
                </a:solidFill>
                <a:latin typeface="微软雅黑"/>
                <a:ea typeface="微软雅黑"/>
                <a:cs typeface="微软雅黑"/>
                <a:sym typeface="微软雅黑"/>
              </a:rPr>
              <a:t>（一）个人体会与收获</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2000"/>
              </a:spcBef>
            </a:pPr>
            <a:r>
              <a:rPr lang="en-US" b="true" i="false" strike="noStrike" u="none" sz="1600">
                <a:solidFill>
                  <a:srgbClr val="006699"/>
                </a:solidFill>
                <a:latin typeface="Noto Sans SC"/>
                <a:ea typeface="Noto Sans SC"/>
                <a:cs typeface="Noto Sans SC"/>
                <a:sym typeface="Noto Sans SC"/>
              </a:rPr>
              <a:t>● 张佳星 (组长)：</a:t>
            </a:r>
            <a:r>
              <a:rPr lang="en-US" b="false" i="false" strike="noStrike" u="none" sz="1500">
                <a:solidFill>
                  <a:srgbClr val="333333"/>
                </a:solidFill>
                <a:latin typeface="Noto Sans SC"/>
                <a:ea typeface="Noto Sans SC"/>
                <a:cs typeface="Noto Sans SC"/>
                <a:sym typeface="Noto Sans SC"/>
              </a:rPr>
              <a:t>系统掌握项目管理全流程，在项目推进中不断实践与复盘，显著提升了统筹规划与组织管理能力。</a:t>
            </a:r>
            <a:r>
              <a:rPr lang="en-US" b="false" i="false" strike="noStrike" u="none" sz="1600">
                <a:solidFill>
                  <a:srgbClr val="1F2329"/>
                </a:solidFill>
                <a:latin typeface="Noto Sans SC"/>
                <a:ea typeface="Noto Sans SC"/>
                <a:cs typeface="Noto Sans SC"/>
                <a:sym typeface="Noto Sans SC"/>
              </a:rPr>
              <a:t/>
            </a:r>
          </a:p>
          <a:p>
            <a:pPr algn="l" indent="0">
              <a:lnSpc>
                <a:spcPct val="116666"/>
              </a:lnSpc>
              <a:spcBef>
                <a:spcPts val="1500"/>
              </a:spcBef>
            </a:pPr>
            <a:r>
              <a:rPr lang="en-US" b="true" i="false" strike="noStrike" u="none" sz="1600">
                <a:solidFill>
                  <a:srgbClr val="006699"/>
                </a:solidFill>
                <a:latin typeface="Noto Sans SC"/>
                <a:ea typeface="Noto Sans SC"/>
                <a:cs typeface="Noto Sans SC"/>
                <a:sym typeface="Noto Sans SC"/>
              </a:rPr>
              <a:t>● 张春笋 (副组长)：</a:t>
            </a:r>
            <a:r>
              <a:rPr lang="en-US" b="false" i="false" strike="noStrike" u="none" sz="1500">
                <a:solidFill>
                  <a:srgbClr val="333333"/>
                </a:solidFill>
                <a:latin typeface="Noto Sans SC"/>
                <a:ea typeface="Noto Sans SC"/>
                <a:cs typeface="Noto Sans SC"/>
                <a:sym typeface="Noto Sans SC"/>
              </a:rPr>
              <a:t>在负责核心模块开发的过程中，提升了逻辑思维与代码实现能力，也在跨模块协作中增强了团队协作意识。</a:t>
            </a:r>
            <a:r>
              <a:rPr lang="en-US" b="false" i="false" strike="noStrike" u="none" sz="1600">
                <a:solidFill>
                  <a:srgbClr val="1F2329"/>
                </a:solidFill>
                <a:latin typeface="Noto Sans SC"/>
                <a:ea typeface="Noto Sans SC"/>
                <a:cs typeface="Noto Sans SC"/>
                <a:sym typeface="Noto Sans SC"/>
              </a:rPr>
              <a:t/>
            </a:r>
          </a:p>
          <a:p>
            <a:pPr algn="l" indent="0">
              <a:lnSpc>
                <a:spcPct val="116666"/>
              </a:lnSpc>
              <a:spcBef>
                <a:spcPts val="1500"/>
              </a:spcBef>
            </a:pPr>
            <a:r>
              <a:rPr lang="en-US" b="true" i="false" strike="noStrike" u="none" sz="1600">
                <a:solidFill>
                  <a:srgbClr val="006699"/>
                </a:solidFill>
                <a:latin typeface="Noto Sans SC"/>
                <a:ea typeface="Noto Sans SC"/>
                <a:cs typeface="Noto Sans SC"/>
                <a:sym typeface="Noto Sans SC"/>
              </a:rPr>
              <a:t>● 刘昕雨 (需求分析)：</a:t>
            </a:r>
            <a:r>
              <a:rPr lang="en-US" b="false" i="false" strike="noStrike" u="none" sz="1500">
                <a:solidFill>
                  <a:srgbClr val="333333"/>
                </a:solidFill>
                <a:latin typeface="Noto Sans SC"/>
                <a:ea typeface="Noto Sans SC"/>
                <a:cs typeface="Noto Sans SC"/>
                <a:sym typeface="Noto Sans SC"/>
              </a:rPr>
              <a:t>学会如何从用户视角出发，收集、整理、提炼有效需求，掌握了将模糊的业务诉求转化为清晰可落地的功能说明文档的方法。</a:t>
            </a:r>
            <a:r>
              <a:rPr lang="en-US" b="false" i="false" strike="noStrike" u="none" sz="1600">
                <a:solidFill>
                  <a:srgbClr val="1F2329"/>
                </a:solidFill>
                <a:latin typeface="Noto Sans SC"/>
                <a:ea typeface="Noto Sans SC"/>
                <a:cs typeface="Noto Sans SC"/>
                <a:sym typeface="Noto Sans SC"/>
              </a:rPr>
              <a:t/>
            </a:r>
          </a:p>
          <a:p>
            <a:pPr algn="l" indent="0">
              <a:lnSpc>
                <a:spcPct val="116666"/>
              </a:lnSpc>
              <a:spcBef>
                <a:spcPts val="1500"/>
              </a:spcBef>
            </a:pPr>
            <a:r>
              <a:rPr lang="en-US" b="true" i="false" strike="noStrike" u="none" sz="1600">
                <a:solidFill>
                  <a:srgbClr val="006699"/>
                </a:solidFill>
                <a:latin typeface="Noto Sans SC"/>
                <a:ea typeface="Noto Sans SC"/>
                <a:cs typeface="Noto Sans SC"/>
                <a:sym typeface="Noto Sans SC"/>
              </a:rPr>
              <a:t>● 梁家旺 (前端开发)：</a:t>
            </a:r>
            <a:r>
              <a:rPr lang="en-US" b="false" i="false" strike="noStrike" u="none" sz="1500">
                <a:solidFill>
                  <a:srgbClr val="333333"/>
                </a:solidFill>
                <a:latin typeface="Noto Sans SC"/>
                <a:ea typeface="Noto Sans SC"/>
                <a:cs typeface="Noto Sans SC"/>
                <a:sym typeface="Noto Sans SC"/>
              </a:rPr>
              <a:t>巩固并熟练应用了前端技术栈，在解决兼容性与交互问题的过程中，大幅提升了代码编写规范性和界面优化能力。</a:t>
            </a:r>
            <a:r>
              <a:rPr lang="en-US" b="false" i="false" strike="noStrike" u="none" sz="1600">
                <a:solidFill>
                  <a:srgbClr val="1F2329"/>
                </a:solidFill>
                <a:latin typeface="Noto Sans SC"/>
                <a:ea typeface="Noto Sans SC"/>
                <a:cs typeface="Noto Sans SC"/>
                <a:sym typeface="Noto Sans SC"/>
              </a:rPr>
              <a:t/>
            </a:r>
          </a:p>
          <a:p>
            <a:pPr algn="l" indent="0">
              <a:lnSpc>
                <a:spcPct val="116666"/>
              </a:lnSpc>
              <a:spcBef>
                <a:spcPts val="1500"/>
              </a:spcBef>
            </a:pPr>
            <a:r>
              <a:rPr lang="en-US" b="true" i="false" strike="noStrike" u="none" sz="1600">
                <a:solidFill>
                  <a:srgbClr val="006699"/>
                </a:solidFill>
                <a:latin typeface="Noto Sans SC"/>
                <a:ea typeface="Noto Sans SC"/>
                <a:cs typeface="Noto Sans SC"/>
                <a:sym typeface="Noto Sans SC"/>
              </a:rPr>
              <a:t>● 张玉良 (测试与文档)：</a:t>
            </a:r>
            <a:r>
              <a:rPr lang="en-US" b="false" i="false" strike="noStrike" u="none" sz="1500">
                <a:solidFill>
                  <a:srgbClr val="333333"/>
                </a:solidFill>
                <a:latin typeface="Noto Sans SC"/>
                <a:ea typeface="Noto Sans SC"/>
                <a:cs typeface="Noto Sans SC"/>
                <a:sym typeface="Noto Sans SC"/>
              </a:rPr>
              <a:t>系统掌握了软件测试的基本流程与用例设计方法，在反复的测试与文档修订工作中，养成了严谨、细致、负责的工作态度。</a:t>
            </a:r>
          </a:p>
        </p:txBody>
      </p:sp>
    </p:spTree>
  </p:cSld>
  <p:clrMapOvr>
    <a:masterClrMapping/>
  </p:clrMapOvr>
</p:sld>
</file>

<file path=ppt/slides/slide17.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914400"/>
          </a:xfrm>
          <a:prstGeom prst="roundRect">
            <a:avLst>
              <a:gd name="adj" fmla="val 0"/>
            </a:avLst>
          </a:prstGeom>
          <a:solidFill>
            <a:srgbClr val="006699">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901700" y="165100"/>
            <a:ext cx="10388600" cy="647700"/>
          </a:xfrm>
          <a:prstGeom prst="roundRect">
            <a:avLst>
              <a:gd name="adj" fmla="val 0"/>
            </a:avLst>
          </a:prstGeom>
          <a:noFill/>
          <a:ln w="25400" cmpd="sng" cap="flat">
            <a:noFill/>
            <a:prstDash val="solid"/>
            <a:round/>
          </a:ln>
        </p:spPr>
        <p:txBody>
          <a:bodyPr anchor="ctr" rtlCol="false" anchorCtr="false" vert="horz" wrap="square" lIns="88900" rIns="88900" tIns="0" bIns="0"/>
          <a:lstStyle/>
          <a:p>
            <a:pPr algn="ctr" indent="0">
              <a:lnSpc>
                <a:spcPct val="125000"/>
              </a:lnSpc>
              <a:defRPr/>
            </a:pPr>
            <a:r>
              <a:rPr lang="en-US" b="true" i="false" strike="noStrike" u="none" sz="3600">
                <a:solidFill>
                  <a:srgbClr val="FFFFFF"/>
                </a:solidFill>
                <a:latin typeface="微软雅黑"/>
                <a:ea typeface="微软雅黑"/>
                <a:cs typeface="微软雅黑"/>
                <a:sym typeface="微软雅黑"/>
              </a:rPr>
              <a:t>五、总结与展望</a:t>
            </a:r>
            <a:endParaRPr lang="en-US" sz="1100"/>
          </a:p>
        </p:txBody>
      </p:sp>
      <p:sp>
        <p:nvSpPr>
          <p:cNvPr name="AutoShape 4" id="4"/>
          <p:cNvSpPr/>
          <p:nvPr/>
        </p:nvSpPr>
        <p:spPr>
          <a:xfrm rot="0" flipH="false" flipV="false">
            <a:off x="901700" y="1524000"/>
            <a:ext cx="10388600" cy="4826000"/>
          </a:xfrm>
          <a:prstGeom prst="rect">
            <a:avLst/>
          </a:prstGeom>
          <a:noFill/>
          <a:ln w="12700" cmpd="sng" cap="flat">
            <a:noFill/>
            <a:prstDash val="solid"/>
            <a:round/>
          </a:ln>
        </p:spPr>
        <p:txBody>
          <a:bodyPr anchor="t" rtlCol="false" anchorCtr="false" vert="horz" wrap="square" lIns="127000" rIns="127000" tIns="190500" bIns="0"/>
          <a:lstStyle/>
          <a:p>
            <a:pPr algn="l" indent="0">
              <a:lnSpc>
                <a:spcPct val="116666"/>
              </a:lnSpc>
              <a:defRPr/>
            </a:pPr>
            <a:r>
              <a:rPr lang="en-US" b="true" i="false" strike="noStrike" u="none" sz="2400">
                <a:solidFill>
                  <a:srgbClr val="002060"/>
                </a:solidFill>
                <a:latin typeface="微软雅黑"/>
                <a:ea typeface="微软雅黑"/>
                <a:cs typeface="微软雅黑"/>
                <a:sym typeface="微软雅黑"/>
              </a:rPr>
              <a:t>（二）团队体会与收获</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0000"/>
              </a:lnSpc>
              <a:spcBef>
                <a:spcPts val="2500"/>
              </a:spcBef>
            </a:pPr>
            <a:r>
              <a:rPr lang="en-US" b="true" i="false" strike="noStrike" u="none" sz="1800">
                <a:solidFill>
                  <a:srgbClr val="006699"/>
                </a:solidFill>
                <a:latin typeface="Noto Sans SC"/>
                <a:ea typeface="Noto Sans SC"/>
                <a:cs typeface="Noto Sans SC"/>
                <a:sym typeface="Noto Sans SC"/>
              </a:rPr>
              <a:t>▌ 高效协作的关键</a:t>
            </a:r>
            <a:r>
              <a:rPr lang="en-US" b="false" i="false" strike="noStrike" u="none" sz="1600">
                <a:solidFill>
                  <a:srgbClr val="1F2329"/>
                </a:solidFill>
                <a:latin typeface="Noto Sans SC"/>
                <a:ea typeface="Noto Sans SC"/>
                <a:cs typeface="Noto Sans SC"/>
                <a:sym typeface="Noto Sans SC"/>
              </a:rPr>
              <a:t/>
            </a:r>
          </a:p>
          <a:p>
            <a:pPr algn="l" indent="0">
              <a:lnSpc>
                <a:spcPct val="116666"/>
              </a:lnSpc>
              <a:spcBef>
                <a:spcPts val="800"/>
              </a:spcBef>
            </a:pPr>
            <a:r>
              <a:rPr lang="en-US" b="false" i="false" strike="noStrike" u="none" sz="1400">
                <a:solidFill>
                  <a:srgbClr val="333333"/>
                </a:solidFill>
                <a:latin typeface="Noto Sans SC"/>
                <a:ea typeface="Noto Sans SC"/>
                <a:cs typeface="Noto Sans SC"/>
                <a:sym typeface="Noto Sans SC"/>
              </a:rPr>
              <a:t>每日站会及时同步进度、暴露问题；明确的任务分工让每个人责任清晰；遇到技术难题时能够快速突破，确保了项目整体推进的效率。</a:t>
            </a:r>
            <a:r>
              <a:rPr lang="en-US" b="false" i="false" strike="noStrike" u="none" sz="1600">
                <a:solidFill>
                  <a:srgbClr val="1F2329"/>
                </a:solidFill>
                <a:latin typeface="Noto Sans SC"/>
                <a:ea typeface="Noto Sans SC"/>
                <a:cs typeface="Noto Sans SC"/>
                <a:sym typeface="Noto Sans SC"/>
              </a:rPr>
              <a:t/>
            </a:r>
          </a:p>
          <a:p>
            <a:pPr algn="l" indent="0">
              <a:lnSpc>
                <a:spcPct val="100000"/>
              </a:lnSpc>
              <a:spcBef>
                <a:spcPts val="2500"/>
              </a:spcBef>
            </a:pPr>
            <a:r>
              <a:rPr lang="en-US" b="true" i="false" strike="noStrike" u="none" sz="1800">
                <a:solidFill>
                  <a:srgbClr val="006699"/>
                </a:solidFill>
                <a:latin typeface="Noto Sans SC"/>
                <a:ea typeface="Noto Sans SC"/>
                <a:cs typeface="Noto Sans SC"/>
                <a:sym typeface="Noto Sans SC"/>
              </a:rPr>
              <a:t>▌ 团队合作的力量</a:t>
            </a:r>
            <a:r>
              <a:rPr lang="en-US" b="false" i="false" strike="noStrike" u="none" sz="1600">
                <a:solidFill>
                  <a:srgbClr val="1F2329"/>
                </a:solidFill>
                <a:latin typeface="Noto Sans SC"/>
                <a:ea typeface="Noto Sans SC"/>
                <a:cs typeface="Noto Sans SC"/>
                <a:sym typeface="Noto Sans SC"/>
              </a:rPr>
              <a:t/>
            </a:r>
          </a:p>
          <a:p>
            <a:pPr algn="l" indent="0">
              <a:lnSpc>
                <a:spcPct val="116666"/>
              </a:lnSpc>
              <a:spcBef>
                <a:spcPts val="800"/>
              </a:spcBef>
            </a:pPr>
            <a:r>
              <a:rPr lang="en-US" b="false" i="false" strike="noStrike" u="none" sz="1400">
                <a:solidFill>
                  <a:srgbClr val="333333"/>
                </a:solidFill>
                <a:latin typeface="Noto Sans SC"/>
                <a:ea typeface="Noto Sans SC"/>
                <a:cs typeface="Noto Sans SC"/>
                <a:sym typeface="Noto Sans SC"/>
              </a:rPr>
              <a:t>每个人都发挥自己的长处，主动弥补他人短板；在面对困难与挑战时，大家拧成一股绳，不仅增强了团队的凝聚力与责任感，更让我们真正体会到了“1+1&gt;2”的团队力量。</a:t>
            </a:r>
            <a:r>
              <a:rPr lang="en-US" b="false" i="false" strike="noStrike" u="none" sz="1600">
                <a:solidFill>
                  <a:srgbClr val="1F2329"/>
                </a:solidFill>
                <a:latin typeface="Noto Sans SC"/>
                <a:ea typeface="Noto Sans SC"/>
                <a:cs typeface="Noto Sans SC"/>
                <a:sym typeface="Noto Sans SC"/>
              </a:rPr>
              <a:t/>
            </a:r>
          </a:p>
          <a:p>
            <a:pPr algn="l" indent="0">
              <a:lnSpc>
                <a:spcPct val="100000"/>
              </a:lnSpc>
              <a:spcBef>
                <a:spcPts val="2500"/>
              </a:spcBef>
            </a:pPr>
            <a:r>
              <a:rPr lang="en-US" b="true" i="false" strike="noStrike" u="none" sz="1800">
                <a:solidFill>
                  <a:srgbClr val="006699"/>
                </a:solidFill>
                <a:latin typeface="Noto Sans SC"/>
                <a:ea typeface="Noto Sans SC"/>
                <a:cs typeface="Noto Sans SC"/>
                <a:sym typeface="Noto Sans SC"/>
              </a:rPr>
              <a:t>▌ 综合成长与收获</a:t>
            </a:r>
            <a:r>
              <a:rPr lang="en-US" b="false" i="false" strike="noStrike" u="none" sz="1600">
                <a:solidFill>
                  <a:srgbClr val="1F2329"/>
                </a:solidFill>
                <a:latin typeface="Noto Sans SC"/>
                <a:ea typeface="Noto Sans SC"/>
                <a:cs typeface="Noto Sans SC"/>
                <a:sym typeface="Noto Sans SC"/>
              </a:rPr>
              <a:t/>
            </a:r>
          </a:p>
          <a:p>
            <a:pPr algn="l" indent="0">
              <a:lnSpc>
                <a:spcPct val="116666"/>
              </a:lnSpc>
              <a:spcBef>
                <a:spcPts val="800"/>
              </a:spcBef>
            </a:pPr>
            <a:r>
              <a:rPr lang="en-US" b="false" i="false" strike="noStrike" u="none" sz="1400">
                <a:solidFill>
                  <a:srgbClr val="333333"/>
                </a:solidFill>
                <a:latin typeface="Noto Sans SC"/>
                <a:ea typeface="Noto Sans SC"/>
                <a:cs typeface="Noto Sans SC"/>
                <a:sym typeface="Noto Sans SC"/>
              </a:rPr>
              <a:t>本次实践不仅让我们在具体的开发中切实提升了专业技术水平，更重要的是在协作中培养了大局意识、严谨的工程素养和良好的职业习惯，是一次非常完整且宝贵的成长经历。</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914400"/>
          </a:xfrm>
          <a:prstGeom prst="roundRect">
            <a:avLst>
              <a:gd name="adj" fmla="val 0"/>
            </a:avLst>
          </a:prstGeom>
          <a:solidFill>
            <a:srgbClr val="006699">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0" y="152400"/>
            <a:ext cx="12192000" cy="6096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3200">
                <a:solidFill>
                  <a:srgbClr val="FFFFFF"/>
                </a:solidFill>
                <a:latin typeface="微软雅黑"/>
                <a:ea typeface="微软雅黑"/>
                <a:cs typeface="微软雅黑"/>
                <a:sym typeface="微软雅黑"/>
              </a:rPr>
              <a:t>致 谢</a:t>
            </a:r>
            <a:endParaRPr lang="en-US" sz="1100"/>
          </a:p>
        </p:txBody>
      </p:sp>
      <p:sp>
        <p:nvSpPr>
          <p:cNvPr name="AutoShape 4" id="4"/>
          <p:cNvSpPr/>
          <p:nvPr/>
        </p:nvSpPr>
        <p:spPr>
          <a:xfrm rot="0" flipH="false" flipV="false">
            <a:off x="0" y="2286000"/>
            <a:ext cx="12192000" cy="1397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7200">
                <a:solidFill>
                  <a:srgbClr val="006699"/>
                </a:solidFill>
                <a:latin typeface="Noto Sans SC"/>
                <a:ea typeface="Noto Sans SC"/>
                <a:cs typeface="Noto Sans SC"/>
                <a:sym typeface="Noto Sans SC"/>
              </a:rPr>
              <a:t>感谢聆听！</a:t>
            </a:r>
            <a:endParaRPr lang="en-US" sz="1100"/>
          </a:p>
        </p:txBody>
      </p:sp>
      <p:sp>
        <p:nvSpPr>
          <p:cNvPr name="AutoShape 5" id="5"/>
          <p:cNvSpPr/>
          <p:nvPr/>
        </p:nvSpPr>
        <p:spPr>
          <a:xfrm rot="0" flipH="false" flipV="false">
            <a:off x="5588000" y="4064000"/>
            <a:ext cx="1016000" cy="50800"/>
          </a:xfrm>
          <a:prstGeom prst="roundRect">
            <a:avLst>
              <a:gd name="adj" fmla="val 0"/>
            </a:avLst>
          </a:prstGeom>
          <a:solidFill>
            <a:srgbClr val="006699">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0" y="4826000"/>
            <a:ext cx="12192000" cy="889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3200">
                <a:solidFill>
                  <a:srgbClr val="595959"/>
                </a:solidFill>
                <a:latin typeface="Noto Sans SC"/>
                <a:ea typeface="Noto Sans SC"/>
                <a:cs typeface="Noto Sans SC"/>
                <a:sym typeface="Noto Sans SC"/>
              </a:rPr>
              <a:t>欢迎各位老师批评指正！</a:t>
            </a:r>
            <a:endParaRPr lang="en-US" sz="1100"/>
          </a:p>
        </p:txBody>
      </p:sp>
      <p:pic>
        <p:nvPicPr>
          <p:cNvPr name="Picture 7" id="7"/>
          <p:cNvPicPr>
            <a:picLocks noChangeAspect="true"/>
          </p:cNvPicPr>
          <p:nvPr/>
        </p:nvPicPr>
        <p:blipFill>
          <a:blip r:embed="rId3"/>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